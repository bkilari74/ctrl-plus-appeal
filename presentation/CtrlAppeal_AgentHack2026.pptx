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400804-7C21-4E98-9E75-F178907BDEA2}" v="9" dt="2026-06-30T00:39:39.031"/>
    <p1510:client id="{9AC484E4-A447-056C-4E9B-A560E4111AC1}" v="16" dt="2026-06-30T02:17:25.3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208" y="5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th Kilari" userId="S::bkilari@huronconsultinggroup.com::b4d721be-c402-45fc-bea6-9ee8739c45dc" providerId="AD" clId="Web-{9AC484E4-A447-056C-4E9B-A560E4111AC1}"/>
    <pc:docChg chg="modSld">
      <pc:chgData name="Bharath Kilari" userId="S::bkilari@huronconsultinggroup.com::b4d721be-c402-45fc-bea6-9ee8739c45dc" providerId="AD" clId="Web-{9AC484E4-A447-056C-4E9B-A560E4111AC1}" dt="2026-06-30T02:16:54.761" v="13" actId="20577"/>
      <pc:docMkLst>
        <pc:docMk/>
      </pc:docMkLst>
      <pc:sldChg chg="modSp">
        <pc:chgData name="Bharath Kilari" userId="S::bkilari@huronconsultinggroup.com::b4d721be-c402-45fc-bea6-9ee8739c45dc" providerId="AD" clId="Web-{9AC484E4-A447-056C-4E9B-A560E4111AC1}" dt="2026-06-30T02:16:41.214" v="8" actId="20577"/>
        <pc:sldMkLst>
          <pc:docMk/>
          <pc:sldMk cId="0" sldId="256"/>
        </pc:sldMkLst>
        <pc:spChg chg="mod">
          <ac:chgData name="Bharath Kilari" userId="S::bkilari@huronconsultinggroup.com::b4d721be-c402-45fc-bea6-9ee8739c45dc" providerId="AD" clId="Web-{9AC484E4-A447-056C-4E9B-A560E4111AC1}" dt="2026-06-30T02:16:41.214" v="8" actId="20577"/>
          <ac:spMkLst>
            <pc:docMk/>
            <pc:sldMk cId="0" sldId="256"/>
            <ac:spMk id="6" creationId="{00000000-0000-0000-0000-000000000000}"/>
          </ac:spMkLst>
        </pc:spChg>
      </pc:sldChg>
      <pc:sldChg chg="modSp">
        <pc:chgData name="Bharath Kilari" userId="S::bkilari@huronconsultinggroup.com::b4d721be-c402-45fc-bea6-9ee8739c45dc" providerId="AD" clId="Web-{9AC484E4-A447-056C-4E9B-A560E4111AC1}" dt="2026-06-30T02:16:54.761" v="13" actId="20577"/>
        <pc:sldMkLst>
          <pc:docMk/>
          <pc:sldMk cId="0" sldId="257"/>
        </pc:sldMkLst>
        <pc:spChg chg="mod">
          <ac:chgData name="Bharath Kilari" userId="S::bkilari@huronconsultinggroup.com::b4d721be-c402-45fc-bea6-9ee8739c45dc" providerId="AD" clId="Web-{9AC484E4-A447-056C-4E9B-A560E4111AC1}" dt="2026-06-30T02:16:54.761" v="13" actId="20577"/>
          <ac:spMkLst>
            <pc:docMk/>
            <pc:sldMk cId="0" sldId="257"/>
            <ac:spMk id="4" creationId="{00000000-0000-0000-0000-000000000000}"/>
          </ac:spMkLst>
        </pc:spChg>
      </pc:sldChg>
    </pc:docChg>
  </pc:docChgLst>
  <pc:docChgLst>
    <pc:chgData name="Shweta Chandra" userId="7827dd95-2a41-487e-a08a-8a458384faf5" providerId="ADAL" clId="{573BEB7E-C38A-4314-8911-2A3131FA0734}"/>
    <pc:docChg chg="undo custSel addSld delSld modSld">
      <pc:chgData name="Shweta Chandra" userId="7827dd95-2a41-487e-a08a-8a458384faf5" providerId="ADAL" clId="{573BEB7E-C38A-4314-8911-2A3131FA0734}" dt="2026-06-30T00:45:05.328" v="147" actId="47"/>
      <pc:docMkLst>
        <pc:docMk/>
      </pc:docMkLst>
      <pc:sldChg chg="addSp delSp modSp mod">
        <pc:chgData name="Shweta Chandra" userId="7827dd95-2a41-487e-a08a-8a458384faf5" providerId="ADAL" clId="{573BEB7E-C38A-4314-8911-2A3131FA0734}" dt="2026-06-30T00:40:45.634" v="144" actId="1076"/>
        <pc:sldMkLst>
          <pc:docMk/>
          <pc:sldMk cId="0" sldId="260"/>
        </pc:sldMkLst>
        <pc:spChg chg="mod">
          <ac:chgData name="Shweta Chandra" userId="7827dd95-2a41-487e-a08a-8a458384faf5" providerId="ADAL" clId="{573BEB7E-C38A-4314-8911-2A3131FA0734}" dt="2026-06-30T00:38:15.500" v="122" actId="1036"/>
          <ac:spMkLst>
            <pc:docMk/>
            <pc:sldMk cId="0" sldId="260"/>
            <ac:spMk id="4" creationId="{00000000-0000-0000-0000-000000000000}"/>
          </ac:spMkLst>
        </pc:spChg>
        <pc:spChg chg="mod">
          <ac:chgData name="Shweta Chandra" userId="7827dd95-2a41-487e-a08a-8a458384faf5" providerId="ADAL" clId="{573BEB7E-C38A-4314-8911-2A3131FA0734}" dt="2026-06-30T00:40:45.634" v="144" actId="1076"/>
          <ac:spMkLst>
            <pc:docMk/>
            <pc:sldMk cId="0" sldId="260"/>
            <ac:spMk id="6"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7" creationId="{00000000-0000-0000-0000-000000000000}"/>
          </ac:spMkLst>
        </pc:spChg>
        <pc:spChg chg="mod">
          <ac:chgData name="Shweta Chandra" userId="7827dd95-2a41-487e-a08a-8a458384faf5" providerId="ADAL" clId="{573BEB7E-C38A-4314-8911-2A3131FA0734}" dt="2026-06-30T00:38:15.500" v="122" actId="1036"/>
          <ac:spMkLst>
            <pc:docMk/>
            <pc:sldMk cId="0" sldId="260"/>
            <ac:spMk id="8" creationId="{00000000-0000-0000-0000-000000000000}"/>
          </ac:spMkLst>
        </pc:spChg>
        <pc:spChg chg="del mod">
          <ac:chgData name="Shweta Chandra" userId="7827dd95-2a41-487e-a08a-8a458384faf5" providerId="ADAL" clId="{573BEB7E-C38A-4314-8911-2A3131FA0734}" dt="2026-06-30T00:39:31.480" v="134" actId="21"/>
          <ac:spMkLst>
            <pc:docMk/>
            <pc:sldMk cId="0" sldId="260"/>
            <ac:spMk id="9" creationId="{00000000-0000-0000-0000-000000000000}"/>
          </ac:spMkLst>
        </pc:spChg>
        <pc:spChg chg="del mod">
          <ac:chgData name="Shweta Chandra" userId="7827dd95-2a41-487e-a08a-8a458384faf5" providerId="ADAL" clId="{573BEB7E-C38A-4314-8911-2A3131FA0734}" dt="2026-06-30T00:39:31.480" v="134" actId="21"/>
          <ac:spMkLst>
            <pc:docMk/>
            <pc:sldMk cId="0" sldId="260"/>
            <ac:spMk id="10"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13"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14" creationId="{00000000-0000-0000-0000-000000000000}"/>
          </ac:spMkLst>
        </pc:spChg>
        <pc:spChg chg="mod">
          <ac:chgData name="Shweta Chandra" userId="7827dd95-2a41-487e-a08a-8a458384faf5" providerId="ADAL" clId="{573BEB7E-C38A-4314-8911-2A3131FA0734}" dt="2026-06-30T00:38:15.500" v="122" actId="1036"/>
          <ac:spMkLst>
            <pc:docMk/>
            <pc:sldMk cId="0" sldId="260"/>
            <ac:spMk id="15"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18"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19" creationId="{00000000-0000-0000-0000-000000000000}"/>
          </ac:spMkLst>
        </pc:spChg>
        <pc:spChg chg="mod">
          <ac:chgData name="Shweta Chandra" userId="7827dd95-2a41-487e-a08a-8a458384faf5" providerId="ADAL" clId="{573BEB7E-C38A-4314-8911-2A3131FA0734}" dt="2026-06-30T00:38:15.500" v="122" actId="1036"/>
          <ac:spMkLst>
            <pc:docMk/>
            <pc:sldMk cId="0" sldId="260"/>
            <ac:spMk id="20" creationId="{00000000-0000-0000-0000-000000000000}"/>
          </ac:spMkLst>
        </pc:spChg>
        <pc:spChg chg="mod">
          <ac:chgData name="Shweta Chandra" userId="7827dd95-2a41-487e-a08a-8a458384faf5" providerId="ADAL" clId="{573BEB7E-C38A-4314-8911-2A3131FA0734}" dt="2026-06-30T00:38:15.500" v="122" actId="1036"/>
          <ac:spMkLst>
            <pc:docMk/>
            <pc:sldMk cId="0" sldId="260"/>
            <ac:spMk id="21" creationId="{00000000-0000-0000-0000-000000000000}"/>
          </ac:spMkLst>
        </pc:spChg>
        <pc:spChg chg="mod">
          <ac:chgData name="Shweta Chandra" userId="7827dd95-2a41-487e-a08a-8a458384faf5" providerId="ADAL" clId="{573BEB7E-C38A-4314-8911-2A3131FA0734}" dt="2026-06-30T00:37:52.759" v="86" actId="1036"/>
          <ac:spMkLst>
            <pc:docMk/>
            <pc:sldMk cId="0" sldId="260"/>
            <ac:spMk id="22"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23"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24" creationId="{00000000-0000-0000-0000-000000000000}"/>
          </ac:spMkLst>
        </pc:spChg>
        <pc:spChg chg="mod">
          <ac:chgData name="Shweta Chandra" userId="7827dd95-2a41-487e-a08a-8a458384faf5" providerId="ADAL" clId="{573BEB7E-C38A-4314-8911-2A3131FA0734}" dt="2026-06-30T00:37:52.759" v="86" actId="1036"/>
          <ac:spMkLst>
            <pc:docMk/>
            <pc:sldMk cId="0" sldId="260"/>
            <ac:spMk id="25" creationId="{00000000-0000-0000-0000-000000000000}"/>
          </ac:spMkLst>
        </pc:spChg>
        <pc:spChg chg="del">
          <ac:chgData name="Shweta Chandra" userId="7827dd95-2a41-487e-a08a-8a458384faf5" providerId="ADAL" clId="{573BEB7E-C38A-4314-8911-2A3131FA0734}" dt="2026-06-30T00:32:33.774" v="0" actId="478"/>
          <ac:spMkLst>
            <pc:docMk/>
            <pc:sldMk cId="0" sldId="260"/>
            <ac:spMk id="26" creationId="{00000000-0000-0000-0000-000000000000}"/>
          </ac:spMkLst>
        </pc:spChg>
        <pc:spChg chg="del mod">
          <ac:chgData name="Shweta Chandra" userId="7827dd95-2a41-487e-a08a-8a458384faf5" providerId="ADAL" clId="{573BEB7E-C38A-4314-8911-2A3131FA0734}" dt="2026-06-30T00:32:36.498" v="2" actId="478"/>
          <ac:spMkLst>
            <pc:docMk/>
            <pc:sldMk cId="0" sldId="260"/>
            <ac:spMk id="27" creationId="{00000000-0000-0000-0000-000000000000}"/>
          </ac:spMkLst>
        </pc:spChg>
        <pc:spChg chg="mod">
          <ac:chgData name="Shweta Chandra" userId="7827dd95-2a41-487e-a08a-8a458384faf5" providerId="ADAL" clId="{573BEB7E-C38A-4314-8911-2A3131FA0734}" dt="2026-06-30T00:38:15.500" v="122" actId="1036"/>
          <ac:spMkLst>
            <pc:docMk/>
            <pc:sldMk cId="0" sldId="260"/>
            <ac:spMk id="28" creationId="{00000000-0000-0000-0000-000000000000}"/>
          </ac:spMkLst>
        </pc:spChg>
        <pc:spChg chg="mod">
          <ac:chgData name="Shweta Chandra" userId="7827dd95-2a41-487e-a08a-8a458384faf5" providerId="ADAL" clId="{573BEB7E-C38A-4314-8911-2A3131FA0734}" dt="2026-06-30T00:38:01.575" v="108" actId="1035"/>
          <ac:spMkLst>
            <pc:docMk/>
            <pc:sldMk cId="0" sldId="260"/>
            <ac:spMk id="29"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30" creationId="{00000000-0000-0000-0000-000000000000}"/>
          </ac:spMkLst>
        </pc:spChg>
        <pc:spChg chg="mod">
          <ac:chgData name="Shweta Chandra" userId="7827dd95-2a41-487e-a08a-8a458384faf5" providerId="ADAL" clId="{573BEB7E-C38A-4314-8911-2A3131FA0734}" dt="2026-06-30T00:40:36.219" v="143" actId="1036"/>
          <ac:spMkLst>
            <pc:docMk/>
            <pc:sldMk cId="0" sldId="260"/>
            <ac:spMk id="31" creationId="{00000000-0000-0000-0000-000000000000}"/>
          </ac:spMkLst>
        </pc:spChg>
        <pc:spChg chg="mod">
          <ac:chgData name="Shweta Chandra" userId="7827dd95-2a41-487e-a08a-8a458384faf5" providerId="ADAL" clId="{573BEB7E-C38A-4314-8911-2A3131FA0734}" dt="2026-06-30T00:38:01.575" v="108" actId="1035"/>
          <ac:spMkLst>
            <pc:docMk/>
            <pc:sldMk cId="0" sldId="260"/>
            <ac:spMk id="32" creationId="{00000000-0000-0000-0000-000000000000}"/>
          </ac:spMkLst>
        </pc:spChg>
        <pc:spChg chg="del">
          <ac:chgData name="Shweta Chandra" userId="7827dd95-2a41-487e-a08a-8a458384faf5" providerId="ADAL" clId="{573BEB7E-C38A-4314-8911-2A3131FA0734}" dt="2026-06-30T00:32:40.314" v="3" actId="478"/>
          <ac:spMkLst>
            <pc:docMk/>
            <pc:sldMk cId="0" sldId="260"/>
            <ac:spMk id="33" creationId="{00000000-0000-0000-0000-000000000000}"/>
          </ac:spMkLst>
        </pc:spChg>
        <pc:spChg chg="del">
          <ac:chgData name="Shweta Chandra" userId="7827dd95-2a41-487e-a08a-8a458384faf5" providerId="ADAL" clId="{573BEB7E-C38A-4314-8911-2A3131FA0734}" dt="2026-06-30T00:32:45.385" v="4" actId="478"/>
          <ac:spMkLst>
            <pc:docMk/>
            <pc:sldMk cId="0" sldId="260"/>
            <ac:spMk id="34" creationId="{00000000-0000-0000-0000-000000000000}"/>
          </ac:spMkLst>
        </pc:spChg>
        <pc:spChg chg="add">
          <ac:chgData name="Shweta Chandra" userId="7827dd95-2a41-487e-a08a-8a458384faf5" providerId="ADAL" clId="{573BEB7E-C38A-4314-8911-2A3131FA0734}" dt="2026-06-30T00:36:36.076" v="13"/>
          <ac:spMkLst>
            <pc:docMk/>
            <pc:sldMk cId="0" sldId="260"/>
            <ac:spMk id="35" creationId="{44F84CE8-FB37-EEDA-DA65-690B5F8BD644}"/>
          </ac:spMkLst>
        </pc:spChg>
        <pc:spChg chg="add mod">
          <ac:chgData name="Shweta Chandra" userId="7827dd95-2a41-487e-a08a-8a458384faf5" providerId="ADAL" clId="{573BEB7E-C38A-4314-8911-2A3131FA0734}" dt="2026-06-30T00:39:24.662" v="133" actId="404"/>
          <ac:spMkLst>
            <pc:docMk/>
            <pc:sldMk cId="0" sldId="260"/>
            <ac:spMk id="36" creationId="{C14824B5-5F37-F0C7-248D-EED585BF1825}"/>
          </ac:spMkLst>
        </pc:spChg>
        <pc:spChg chg="add">
          <ac:chgData name="Shweta Chandra" userId="7827dd95-2a41-487e-a08a-8a458384faf5" providerId="ADAL" clId="{573BEB7E-C38A-4314-8911-2A3131FA0734}" dt="2026-06-30T00:38:42.587" v="125"/>
          <ac:spMkLst>
            <pc:docMk/>
            <pc:sldMk cId="0" sldId="260"/>
            <ac:spMk id="37" creationId="{A1D1428F-D5A7-F4C2-0EF6-2CB9C1EA3110}"/>
          </ac:spMkLst>
        </pc:spChg>
        <pc:spChg chg="add mod">
          <ac:chgData name="Shweta Chandra" userId="7827dd95-2a41-487e-a08a-8a458384faf5" providerId="ADAL" clId="{573BEB7E-C38A-4314-8911-2A3131FA0734}" dt="2026-06-30T00:39:34.663" v="135"/>
          <ac:spMkLst>
            <pc:docMk/>
            <pc:sldMk cId="0" sldId="260"/>
            <ac:spMk id="38" creationId="{00000000-0000-0000-0000-000000000000}"/>
          </ac:spMkLst>
        </pc:spChg>
        <pc:spChg chg="add mod">
          <ac:chgData name="Shweta Chandra" userId="7827dd95-2a41-487e-a08a-8a458384faf5" providerId="ADAL" clId="{573BEB7E-C38A-4314-8911-2A3131FA0734}" dt="2026-06-30T00:39:34.663" v="135"/>
          <ac:spMkLst>
            <pc:docMk/>
            <pc:sldMk cId="0" sldId="260"/>
            <ac:spMk id="39" creationId="{00000000-0000-0000-0000-000000000000}"/>
          </ac:spMkLst>
        </pc:spChg>
        <pc:spChg chg="add mod">
          <ac:chgData name="Shweta Chandra" userId="7827dd95-2a41-487e-a08a-8a458384faf5" providerId="ADAL" clId="{573BEB7E-C38A-4314-8911-2A3131FA0734}" dt="2026-06-30T00:39:47.553" v="137" actId="1076"/>
          <ac:spMkLst>
            <pc:docMk/>
            <pc:sldMk cId="0" sldId="260"/>
            <ac:spMk id="40" creationId="{4144F791-A7BB-1495-8157-DF39BC8BF924}"/>
          </ac:spMkLst>
        </pc:spChg>
        <pc:spChg chg="add mod">
          <ac:chgData name="Shweta Chandra" userId="7827dd95-2a41-487e-a08a-8a458384faf5" providerId="ADAL" clId="{573BEB7E-C38A-4314-8911-2A3131FA0734}" dt="2026-06-30T00:39:47.553" v="137" actId="1076"/>
          <ac:spMkLst>
            <pc:docMk/>
            <pc:sldMk cId="0" sldId="260"/>
            <ac:spMk id="41" creationId="{EE919C55-337F-A483-1866-A50356E9CF67}"/>
          </ac:spMkLst>
        </pc:spChg>
      </pc:sldChg>
      <pc:sldChg chg="modSp mod">
        <pc:chgData name="Shweta Chandra" userId="7827dd95-2a41-487e-a08a-8a458384faf5" providerId="ADAL" clId="{573BEB7E-C38A-4314-8911-2A3131FA0734}" dt="2026-06-30T00:34:16.228" v="10" actId="20577"/>
        <pc:sldMkLst>
          <pc:docMk/>
          <pc:sldMk cId="0" sldId="264"/>
        </pc:sldMkLst>
        <pc:spChg chg="mod">
          <ac:chgData name="Shweta Chandra" userId="7827dd95-2a41-487e-a08a-8a458384faf5" providerId="ADAL" clId="{573BEB7E-C38A-4314-8911-2A3131FA0734}" dt="2026-06-30T00:34:16.228" v="10" actId="20577"/>
          <ac:spMkLst>
            <pc:docMk/>
            <pc:sldMk cId="0" sldId="264"/>
            <ac:spMk id="29" creationId="{00000000-0000-0000-0000-000000000000}"/>
          </ac:spMkLst>
        </pc:spChg>
      </pc:sldChg>
      <pc:sldChg chg="modSp mod">
        <pc:chgData name="Shweta Chandra" userId="7827dd95-2a41-487e-a08a-8a458384faf5" providerId="ADAL" clId="{573BEB7E-C38A-4314-8911-2A3131FA0734}" dt="2026-06-30T00:34:41.155" v="12" actId="14100"/>
        <pc:sldMkLst>
          <pc:docMk/>
          <pc:sldMk cId="0" sldId="265"/>
        </pc:sldMkLst>
        <pc:spChg chg="mod">
          <ac:chgData name="Shweta Chandra" userId="7827dd95-2a41-487e-a08a-8a458384faf5" providerId="ADAL" clId="{573BEB7E-C38A-4314-8911-2A3131FA0734}" dt="2026-06-30T00:34:41.155" v="12" actId="14100"/>
          <ac:spMkLst>
            <pc:docMk/>
            <pc:sldMk cId="0" sldId="265"/>
            <ac:spMk id="4" creationId="{00000000-0000-0000-0000-000000000000}"/>
          </ac:spMkLst>
        </pc:spChg>
        <pc:spChg chg="mod">
          <ac:chgData name="Shweta Chandra" userId="7827dd95-2a41-487e-a08a-8a458384faf5" providerId="ADAL" clId="{573BEB7E-C38A-4314-8911-2A3131FA0734}" dt="2026-06-30T00:34:37.138" v="11" actId="14100"/>
          <ac:spMkLst>
            <pc:docMk/>
            <pc:sldMk cId="0" sldId="265"/>
            <ac:spMk id="18" creationId="{00000000-0000-0000-0000-000000000000}"/>
          </ac:spMkLst>
        </pc:spChg>
      </pc:sldChg>
      <pc:sldChg chg="add del">
        <pc:chgData name="Shweta Chandra" userId="7827dd95-2a41-487e-a08a-8a458384faf5" providerId="ADAL" clId="{573BEB7E-C38A-4314-8911-2A3131FA0734}" dt="2026-06-30T00:45:05.328" v="147" actId="47"/>
        <pc:sldMkLst>
          <pc:docMk/>
          <pc:sldMk cId="0"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237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Lead with the scale of the problem — $260-300B in annual denials, 65% never worked. Set up the constraint: it's not viability, it's bandwidth. Pause on the 3:1 ROI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 four automation professionals all with RPA and UiPath backgrounds. Each person owns a piece of the build.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constraint is bandwidth, not viability. 45-60 minutes per appeal, 500-1000 per month, only 20-30% get touched before timely-filing deadlines pass. The money is there — the system just can't reach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solution overview. Four capabilities, one platform. The differentiator vs. funded competitors (Cohere Health etc.) is that they're on the payer side automating denials — we're on the provider side, appealing them, with the physician always in the loop.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routes in scope. Medical Necessity is always physician-reviewed — SB 1120 gate. Timely Filing and Duplicate are this developer's branches: fully deterministic (deadline math + ICN-first composite key matching). Coding Error and Eligibility round out the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phase. Phases 1-2 are fully automated. Phase 3 is the technical centerpiece — RAG over the payer's own medical policy, surfacing criteria their reviewer missed. Phase 4 is the SB 1120 gate — a licensed clinician always signs off on medical necessity. Phases 5-7 close the loop.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demo's centerpiece. Sepsis patient denied on medical necessity — the system RAGs the payer's own policy document, finds criteria their reviewer missed, drafts the appeal letter, and the physician clicks approve in Action Center. The SB 1120 moment is the regulatory moat: AI assists, human decides.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UiPath Cloud. No desktop Studio, no Orchestrator on-prem. The classification agent is LangGraph-based, adapted from UiPath's starter template, running Claude Haiku via UiPath's Bedrock wrapper. Claude Code was used for coded logic — which qualifies for the judging bonus.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agent is done and working. LangGraph pattern: prepare → react_agent → postprocess. Reads from IngestionData via Data Fabric. Returns three arguments. Critically: write is decoupled from the agent — the downstream Maestro step handles persistence for reliability. Confidence floor and always-human for medical necessity baked 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data is the evaluation artifact. Gold-label classification on 88 denials means we can measure routing accuracy before the deadline. The hero case — David Okafor, sepsis, CO-50 — is fully wired from 835 file all the way through physician attestation and appeal letter.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moat is regulatory. SB 1120 passed January 1 2025 — licensed clinician required for every medical-necessity determination. Competitors on the payer side can't comply because they're replacing the human. We can't be replaced because the physician is by design always in the loop.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mission statement. The constraint isn't appeal viability — it's bandwidth. This system eliminates the bandwidth constraint while keeping the physician always in control. That's the pitch.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0BFA5">
              <a:alpha val="12000"/>
            </a:srgbClr>
          </a:solidFill>
          <a:ln w="12700">
            <a:solidFill>
              <a:srgbClr val="00BFA5">
                <a:alpha val="30000"/>
              </a:srgbClr>
            </a:solidFill>
            <a:prstDash val="solid"/>
          </a:ln>
        </p:spPr>
        <p:txBody>
          <a:bodyPr/>
          <a:lstStyle/>
          <a:p>
            <a:endParaRPr lang="en-US"/>
          </a:p>
        </p:txBody>
      </p:sp>
      <p:sp>
        <p:nvSpPr>
          <p:cNvPr id="3" name="Shape 1"/>
          <p:cNvSpPr/>
          <p:nvPr/>
        </p:nvSpPr>
        <p:spPr>
          <a:xfrm>
            <a:off x="-731520" y="3657600"/>
            <a:ext cx="2286000" cy="2286000"/>
          </a:xfrm>
          <a:prstGeom prst="ellipse">
            <a:avLst/>
          </a:prstGeom>
          <a:solidFill>
            <a:srgbClr val="00BFA5">
              <a:alpha val="10000"/>
            </a:srgbClr>
          </a:solidFill>
          <a:ln w="12700">
            <a:solidFill>
              <a:srgbClr val="00BFA5">
                <a:alpha val="20000"/>
              </a:srgbClr>
            </a:solidFill>
            <a:prstDash val="solid"/>
          </a:ln>
        </p:spPr>
        <p:txBody>
          <a:bodyPr/>
          <a:lstStyle/>
          <a:p>
            <a:endParaRPr lang="en-US"/>
          </a:p>
        </p:txBody>
      </p:sp>
      <p:sp>
        <p:nvSpPr>
          <p:cNvPr id="4" name="Shape 2"/>
          <p:cNvSpPr/>
          <p:nvPr/>
        </p:nvSpPr>
        <p:spPr>
          <a:xfrm>
            <a:off x="502920" y="347472"/>
            <a:ext cx="2560320" cy="292608"/>
          </a:xfrm>
          <a:prstGeom prst="roundRect">
            <a:avLst>
              <a:gd name="adj" fmla="val 15625"/>
            </a:avLst>
          </a:prstGeom>
          <a:solidFill>
            <a:srgbClr val="00BFA5"/>
          </a:solidFill>
          <a:ln/>
        </p:spPr>
        <p:txBody>
          <a:bodyPr/>
          <a:lstStyle/>
          <a:p>
            <a:endParaRPr lang="en-US"/>
          </a:p>
        </p:txBody>
      </p:sp>
      <p:sp>
        <p:nvSpPr>
          <p:cNvPr id="5" name="Text 3"/>
          <p:cNvSpPr/>
          <p:nvPr/>
        </p:nvSpPr>
        <p:spPr>
          <a:xfrm>
            <a:off x="502920" y="347472"/>
            <a:ext cx="2560320" cy="292608"/>
          </a:xfrm>
          <a:prstGeom prst="rect">
            <a:avLst/>
          </a:prstGeom>
          <a:noFill/>
          <a:ln/>
        </p:spPr>
        <p:txBody>
          <a:bodyPr wrap="square" lIns="0" tIns="0" rIns="0" bIns="0" rtlCol="0" anchor="ctr"/>
          <a:lstStyle/>
          <a:p>
            <a:pPr marL="0" indent="0" algn="ctr">
              <a:buNone/>
            </a:pPr>
            <a:r>
              <a:rPr lang="en-US" sz="850" b="1" dirty="0">
                <a:solidFill>
                  <a:srgbClr val="0B1A2E"/>
                </a:solidFill>
              </a:rPr>
              <a:t>UiPath AgentHack 2026  •  Track 2: Maestro BPMN</a:t>
            </a:r>
            <a:endParaRPr lang="en-US" sz="850" dirty="0"/>
          </a:p>
        </p:txBody>
      </p:sp>
      <p:sp>
        <p:nvSpPr>
          <p:cNvPr id="6" name="Text 4"/>
          <p:cNvSpPr/>
          <p:nvPr/>
        </p:nvSpPr>
        <p:spPr>
          <a:xfrm>
            <a:off x="502920" y="777240"/>
            <a:ext cx="8520112" cy="2560320"/>
          </a:xfrm>
          <a:prstGeom prst="rect">
            <a:avLst/>
          </a:prstGeom>
          <a:noFill/>
          <a:ln/>
        </p:spPr>
        <p:txBody>
          <a:bodyPr wrap="square" lIns="91440" tIns="45720" rIns="91440" bIns="45720" rtlCol="0" anchor="ctr"/>
          <a:lstStyle/>
          <a:p>
            <a:pPr>
              <a:lnSpc>
                <a:spcPct val="110000"/>
              </a:lnSpc>
            </a:pPr>
            <a:r>
              <a:rPr lang="en-US" sz="4000" b="1" dirty="0" err="1">
                <a:solidFill>
                  <a:srgbClr val="FFFFFF"/>
                </a:solidFill>
                <a:latin typeface="Calibri"/>
                <a:ea typeface="Calibri"/>
                <a:cs typeface="Calibri"/>
              </a:rPr>
              <a:t>Ctrl+Appeal</a:t>
            </a:r>
            <a:endParaRPr lang="en-US" sz="4000" dirty="0" err="1">
              <a:solidFill>
                <a:srgbClr val="000000"/>
              </a:solidFill>
              <a:latin typeface="Calibri" panose="020F0502020204030204"/>
              <a:ea typeface="Calibri" panose="020F0502020204030204"/>
              <a:cs typeface="Calibri" panose="020F0502020204030204"/>
            </a:endParaRPr>
          </a:p>
          <a:p>
            <a:pPr>
              <a:lnSpc>
                <a:spcPct val="110000"/>
              </a:lnSpc>
            </a:pPr>
            <a:r>
              <a:rPr lang="en-US" sz="3200">
                <a:solidFill>
                  <a:srgbClr val="FFFFFF"/>
                </a:solidFill>
                <a:latin typeface="Calibri"/>
                <a:ea typeface="Calibri"/>
                <a:cs typeface="Calibri"/>
              </a:rPr>
              <a:t>Intelligent Denial Management &amp;</a:t>
            </a:r>
            <a:endParaRPr lang="en-US" sz="3200">
              <a:latin typeface="Calibri"/>
              <a:ea typeface="Calibri"/>
              <a:cs typeface="Calibri"/>
            </a:endParaRPr>
          </a:p>
          <a:p>
            <a:pPr marL="0" indent="0">
              <a:lnSpc>
                <a:spcPct val="110000"/>
              </a:lnSpc>
              <a:buNone/>
            </a:pPr>
            <a:r>
              <a:rPr lang="en-US" sz="3200" dirty="0">
                <a:solidFill>
                  <a:srgbClr val="FFFFFF"/>
                </a:solidFill>
                <a:latin typeface="Calibri"/>
                <a:ea typeface="Calibri"/>
                <a:cs typeface="Calibri"/>
              </a:rPr>
              <a:t>Appeals Automation</a:t>
            </a:r>
            <a:endParaRPr lang="en-US" sz="3200" dirty="0">
              <a:latin typeface="Calibri"/>
              <a:ea typeface="Calibri"/>
              <a:cs typeface="Calibri"/>
            </a:endParaRPr>
          </a:p>
        </p:txBody>
      </p:sp>
      <p:sp>
        <p:nvSpPr>
          <p:cNvPr id="7" name="Text 5"/>
          <p:cNvSpPr/>
          <p:nvPr/>
        </p:nvSpPr>
        <p:spPr>
          <a:xfrm>
            <a:off x="502920" y="3401568"/>
            <a:ext cx="5943600" cy="384048"/>
          </a:xfrm>
          <a:prstGeom prst="rect">
            <a:avLst/>
          </a:prstGeom>
          <a:noFill/>
          <a:ln/>
        </p:spPr>
        <p:txBody>
          <a:bodyPr wrap="square" rtlCol="0" anchor="ctr"/>
          <a:lstStyle/>
          <a:p>
            <a:pPr marL="0" indent="0">
              <a:buNone/>
            </a:pPr>
            <a:r>
              <a:rPr lang="en-US" sz="1250" i="1" dirty="0">
                <a:solidFill>
                  <a:srgbClr val="00BFA5"/>
                </a:solidFill>
                <a:latin typeface="Calibri" pitchFamily="34" charset="0"/>
                <a:ea typeface="Calibri" pitchFamily="34" charset="-122"/>
                <a:cs typeface="Calibri" pitchFamily="34" charset="-120"/>
              </a:rPr>
              <a:t>From 45–60 min per appeal to seconds — with physician-in-the-loop compliance</a:t>
            </a:r>
            <a:endParaRPr lang="en-US" sz="1250" dirty="0"/>
          </a:p>
        </p:txBody>
      </p:sp>
      <p:sp>
        <p:nvSpPr>
          <p:cNvPr id="8" name="Shape 6"/>
          <p:cNvSpPr/>
          <p:nvPr/>
        </p:nvSpPr>
        <p:spPr>
          <a:xfrm>
            <a:off x="502920" y="4041648"/>
            <a:ext cx="1691640" cy="822960"/>
          </a:xfrm>
          <a:prstGeom prst="roundRect">
            <a:avLst>
              <a:gd name="adj" fmla="val 8889"/>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9" name="Text 7"/>
          <p:cNvSpPr/>
          <p:nvPr/>
        </p:nvSpPr>
        <p:spPr>
          <a:xfrm>
            <a:off x="502920" y="4069080"/>
            <a:ext cx="1691640" cy="384048"/>
          </a:xfrm>
          <a:prstGeom prst="rect">
            <a:avLst/>
          </a:prstGeom>
          <a:noFill/>
          <a:ln/>
        </p:spPr>
        <p:txBody>
          <a:bodyPr wrap="square" lIns="0" tIns="0" rIns="0" bIns="0" rtlCol="0" anchor="ctr"/>
          <a:lstStyle/>
          <a:p>
            <a:pPr marL="0" indent="0" algn="ctr">
              <a:buNone/>
            </a:pPr>
            <a:r>
              <a:rPr lang="en-US" sz="1800" b="1" dirty="0">
                <a:solidFill>
                  <a:srgbClr val="F4C842"/>
                </a:solidFill>
              </a:rPr>
              <a:t>$260–300B</a:t>
            </a:r>
            <a:endParaRPr lang="en-US" sz="1800" dirty="0"/>
          </a:p>
        </p:txBody>
      </p:sp>
      <p:sp>
        <p:nvSpPr>
          <p:cNvPr id="10" name="Text 8"/>
          <p:cNvSpPr/>
          <p:nvPr/>
        </p:nvSpPr>
        <p:spPr>
          <a:xfrm>
            <a:off x="502920" y="4443984"/>
            <a:ext cx="1691640" cy="274320"/>
          </a:xfrm>
          <a:prstGeom prst="rect">
            <a:avLst/>
          </a:prstGeom>
          <a:noFill/>
          <a:ln/>
        </p:spPr>
        <p:txBody>
          <a:bodyPr wrap="square" lIns="0" tIns="0" rIns="0" bIns="0" rtlCol="0" anchor="ctr"/>
          <a:lstStyle/>
          <a:p>
            <a:pPr marL="0" indent="0" algn="ctr">
              <a:buNone/>
            </a:pPr>
            <a:r>
              <a:rPr lang="en-US" sz="900" dirty="0">
                <a:solidFill>
                  <a:srgbClr val="7BA3C0"/>
                </a:solidFill>
              </a:rPr>
              <a:t>Annual Denials</a:t>
            </a:r>
            <a:endParaRPr lang="en-US" sz="900" dirty="0"/>
          </a:p>
        </p:txBody>
      </p:sp>
      <p:sp>
        <p:nvSpPr>
          <p:cNvPr id="11" name="Shape 9"/>
          <p:cNvSpPr/>
          <p:nvPr/>
        </p:nvSpPr>
        <p:spPr>
          <a:xfrm>
            <a:off x="2377440" y="4041648"/>
            <a:ext cx="1691640" cy="822960"/>
          </a:xfrm>
          <a:prstGeom prst="roundRect">
            <a:avLst>
              <a:gd name="adj" fmla="val 8889"/>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2" name="Text 10"/>
          <p:cNvSpPr/>
          <p:nvPr/>
        </p:nvSpPr>
        <p:spPr>
          <a:xfrm>
            <a:off x="2377440" y="4069080"/>
            <a:ext cx="1691640" cy="384048"/>
          </a:xfrm>
          <a:prstGeom prst="rect">
            <a:avLst/>
          </a:prstGeom>
          <a:noFill/>
          <a:ln/>
        </p:spPr>
        <p:txBody>
          <a:bodyPr wrap="square" lIns="0" tIns="0" rIns="0" bIns="0" rtlCol="0" anchor="ctr"/>
          <a:lstStyle/>
          <a:p>
            <a:pPr marL="0" indent="0" algn="ctr">
              <a:buNone/>
            </a:pPr>
            <a:r>
              <a:rPr lang="en-US" sz="1800" b="1" dirty="0">
                <a:solidFill>
                  <a:srgbClr val="F4C842"/>
                </a:solidFill>
              </a:rPr>
              <a:t>65%</a:t>
            </a:r>
            <a:endParaRPr lang="en-US" sz="1800" dirty="0"/>
          </a:p>
        </p:txBody>
      </p:sp>
      <p:sp>
        <p:nvSpPr>
          <p:cNvPr id="13" name="Text 11"/>
          <p:cNvSpPr/>
          <p:nvPr/>
        </p:nvSpPr>
        <p:spPr>
          <a:xfrm>
            <a:off x="2377440" y="4443984"/>
            <a:ext cx="1691640" cy="274320"/>
          </a:xfrm>
          <a:prstGeom prst="rect">
            <a:avLst/>
          </a:prstGeom>
          <a:noFill/>
          <a:ln/>
        </p:spPr>
        <p:txBody>
          <a:bodyPr wrap="square" lIns="0" tIns="0" rIns="0" bIns="0" rtlCol="0" anchor="ctr"/>
          <a:lstStyle/>
          <a:p>
            <a:pPr marL="0" indent="0" algn="ctr">
              <a:buNone/>
            </a:pPr>
            <a:r>
              <a:rPr lang="en-US" sz="900" dirty="0">
                <a:solidFill>
                  <a:srgbClr val="7BA3C0"/>
                </a:solidFill>
              </a:rPr>
              <a:t>Never Appealed</a:t>
            </a:r>
            <a:endParaRPr lang="en-US" sz="900" dirty="0"/>
          </a:p>
        </p:txBody>
      </p:sp>
      <p:sp>
        <p:nvSpPr>
          <p:cNvPr id="14" name="Shape 12"/>
          <p:cNvSpPr/>
          <p:nvPr/>
        </p:nvSpPr>
        <p:spPr>
          <a:xfrm>
            <a:off x="4251960" y="4041648"/>
            <a:ext cx="1691640" cy="822960"/>
          </a:xfrm>
          <a:prstGeom prst="roundRect">
            <a:avLst>
              <a:gd name="adj" fmla="val 8889"/>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5" name="Text 13"/>
          <p:cNvSpPr/>
          <p:nvPr/>
        </p:nvSpPr>
        <p:spPr>
          <a:xfrm>
            <a:off x="4251960" y="4069080"/>
            <a:ext cx="1691640" cy="384048"/>
          </a:xfrm>
          <a:prstGeom prst="rect">
            <a:avLst/>
          </a:prstGeom>
          <a:noFill/>
          <a:ln/>
        </p:spPr>
        <p:txBody>
          <a:bodyPr wrap="square" lIns="0" tIns="0" rIns="0" bIns="0" rtlCol="0" anchor="ctr"/>
          <a:lstStyle/>
          <a:p>
            <a:pPr marL="0" indent="0" algn="ctr">
              <a:buNone/>
            </a:pPr>
            <a:r>
              <a:rPr lang="en-US" sz="1800" b="1" dirty="0">
                <a:solidFill>
                  <a:srgbClr val="F4C842"/>
                </a:solidFill>
              </a:rPr>
              <a:t>3:1</a:t>
            </a:r>
            <a:endParaRPr lang="en-US" sz="1800" dirty="0"/>
          </a:p>
        </p:txBody>
      </p:sp>
      <p:sp>
        <p:nvSpPr>
          <p:cNvPr id="16" name="Text 14"/>
          <p:cNvSpPr/>
          <p:nvPr/>
        </p:nvSpPr>
        <p:spPr>
          <a:xfrm>
            <a:off x="4251960" y="4443984"/>
            <a:ext cx="1691640" cy="274320"/>
          </a:xfrm>
          <a:prstGeom prst="rect">
            <a:avLst/>
          </a:prstGeom>
          <a:noFill/>
          <a:ln/>
        </p:spPr>
        <p:txBody>
          <a:bodyPr wrap="square" lIns="0" tIns="0" rIns="0" bIns="0" rtlCol="0" anchor="ctr"/>
          <a:lstStyle/>
          <a:p>
            <a:pPr marL="0" indent="0" algn="ctr">
              <a:buNone/>
            </a:pPr>
            <a:r>
              <a:rPr lang="en-US" sz="900" dirty="0">
                <a:solidFill>
                  <a:srgbClr val="7BA3C0"/>
                </a:solidFill>
              </a:rPr>
              <a:t>Appeal ROI</a:t>
            </a:r>
            <a:endParaRPr lang="en-US" sz="900" dirty="0"/>
          </a:p>
        </p:txBody>
      </p:sp>
      <p:sp>
        <p:nvSpPr>
          <p:cNvPr id="17" name="Text 15"/>
          <p:cNvSpPr/>
          <p:nvPr/>
        </p:nvSpPr>
        <p:spPr>
          <a:xfrm>
            <a:off x="502920" y="4828032"/>
            <a:ext cx="8229600" cy="228600"/>
          </a:xfrm>
          <a:prstGeom prst="rect">
            <a:avLst/>
          </a:prstGeom>
          <a:noFill/>
          <a:ln/>
        </p:spPr>
        <p:txBody>
          <a:bodyPr wrap="square" rtlCol="0" anchor="ctr"/>
          <a:lstStyle/>
          <a:p>
            <a:pPr marL="0" indent="0">
              <a:buNone/>
            </a:pPr>
            <a:r>
              <a:rPr lang="en-US" sz="1000" dirty="0">
                <a:solidFill>
                  <a:srgbClr val="7BA3C0"/>
                </a:solidFill>
                <a:latin typeface="Calibri" pitchFamily="34" charset="0"/>
                <a:ea typeface="Calibri" pitchFamily="34" charset="-122"/>
                <a:cs typeface="Calibri" pitchFamily="34" charset="-120"/>
              </a:rPr>
              <a:t>Healthcare · Revenue Cycle · UiPath Cloud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2E"/>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0BFA5">
              <a:alpha val="10000"/>
            </a:srgbClr>
          </a:solidFill>
          <a:ln w="12700">
            <a:solidFill>
              <a:srgbClr val="00BFA5">
                <a:alpha val="25000"/>
              </a:srgbClr>
            </a:solidFill>
            <a:prstDash val="solid"/>
          </a:ln>
        </p:spPr>
        <p:txBody>
          <a:bodyPr/>
          <a:lstStyle/>
          <a:p>
            <a:endParaRPr lang="en-US"/>
          </a:p>
        </p:txBody>
      </p:sp>
      <p:sp>
        <p:nvSpPr>
          <p:cNvPr id="3" name="Shape 1"/>
          <p:cNvSpPr/>
          <p:nvPr/>
        </p:nvSpPr>
        <p:spPr>
          <a:xfrm>
            <a:off x="-731520" y="3840480"/>
            <a:ext cx="2286000" cy="2286000"/>
          </a:xfrm>
          <a:prstGeom prst="ellipse">
            <a:avLst/>
          </a:prstGeom>
          <a:solidFill>
            <a:srgbClr val="00BFA5">
              <a:alpha val="8000"/>
            </a:srgbClr>
          </a:solidFill>
          <a:ln w="12700">
            <a:solidFill>
              <a:srgbClr val="00BFA5">
                <a:alpha val="20000"/>
              </a:srgbClr>
            </a:solidFill>
            <a:prstDash val="solid"/>
          </a:ln>
        </p:spPr>
        <p:txBody>
          <a:bodyPr/>
          <a:lstStyle/>
          <a:p>
            <a:endParaRPr lang="en-US"/>
          </a:p>
        </p:txBody>
      </p:sp>
      <p:sp>
        <p:nvSpPr>
          <p:cNvPr id="4" name="Text 2"/>
          <p:cNvSpPr/>
          <p:nvPr/>
        </p:nvSpPr>
        <p:spPr>
          <a:xfrm>
            <a:off x="457200" y="256032"/>
            <a:ext cx="8229600" cy="475488"/>
          </a:xfrm>
          <a:prstGeom prst="rect">
            <a:avLst/>
          </a:prstGeom>
          <a:noFill/>
          <a:ln/>
        </p:spPr>
        <p:txBody>
          <a:bodyPr wrap="square" lIns="91440" tIns="45720" rIns="91440" bIns="45720" rtlCol="0" anchor="ctr"/>
          <a:lstStyle/>
          <a:p>
            <a:r>
              <a:rPr lang="en-US" sz="3200" b="1" dirty="0">
                <a:solidFill>
                  <a:srgbClr val="FFFFFF"/>
                </a:solidFill>
                <a:latin typeface="Calibri"/>
                <a:ea typeface="Calibri"/>
                <a:cs typeface="Calibri"/>
              </a:rPr>
              <a:t>Meet the </a:t>
            </a:r>
            <a:r>
              <a:rPr lang="en-US" sz="3200" b="1" dirty="0" err="1">
                <a:solidFill>
                  <a:srgbClr val="FFFFFF"/>
                </a:solidFill>
                <a:latin typeface="Calibri"/>
                <a:ea typeface="Calibri"/>
                <a:cs typeface="Calibri"/>
              </a:rPr>
              <a:t>Ctrl+Appeal</a:t>
            </a:r>
            <a:r>
              <a:rPr lang="en-US" sz="3200" b="1" dirty="0">
                <a:solidFill>
                  <a:srgbClr val="FFFFFF"/>
                </a:solidFill>
                <a:latin typeface="Calibri"/>
                <a:ea typeface="Calibri"/>
                <a:cs typeface="Calibri"/>
              </a:rPr>
              <a:t> Team</a:t>
            </a:r>
            <a:endParaRPr lang="en-US" sz="3200" dirty="0"/>
          </a:p>
        </p:txBody>
      </p:sp>
      <p:sp>
        <p:nvSpPr>
          <p:cNvPr id="5" name="Text 3"/>
          <p:cNvSpPr/>
          <p:nvPr/>
        </p:nvSpPr>
        <p:spPr>
          <a:xfrm>
            <a:off x="457200" y="749808"/>
            <a:ext cx="7772400" cy="292608"/>
          </a:xfrm>
          <a:prstGeom prst="rect">
            <a:avLst/>
          </a:prstGeom>
          <a:noFill/>
          <a:ln/>
        </p:spPr>
        <p:txBody>
          <a:bodyPr wrap="square" rtlCol="0" anchor="ctr"/>
          <a:lstStyle/>
          <a:p>
            <a:pPr marL="0" indent="0">
              <a:buNone/>
            </a:pPr>
            <a:r>
              <a:rPr lang="en-US" sz="1300" i="1" dirty="0">
                <a:solidFill>
                  <a:srgbClr val="00BFA5"/>
                </a:solidFill>
              </a:rPr>
              <a:t>Four automation professionals — one shared mission: fix provider-side denial management</a:t>
            </a:r>
            <a:endParaRPr lang="en-US" sz="1300" dirty="0"/>
          </a:p>
        </p:txBody>
      </p:sp>
      <p:sp>
        <p:nvSpPr>
          <p:cNvPr id="6" name="Shape 4"/>
          <p:cNvSpPr/>
          <p:nvPr/>
        </p:nvSpPr>
        <p:spPr>
          <a:xfrm>
            <a:off x="457200" y="1078992"/>
            <a:ext cx="8229600" cy="36576"/>
          </a:xfrm>
          <a:prstGeom prst="rect">
            <a:avLst/>
          </a:prstGeom>
          <a:solidFill>
            <a:srgbClr val="00BFA5">
              <a:alpha val="40000"/>
            </a:srgbClr>
          </a:solidFill>
          <a:ln/>
        </p:spPr>
        <p:txBody>
          <a:bodyPr/>
          <a:lstStyle/>
          <a:p>
            <a:endParaRPr lang="en-US"/>
          </a:p>
        </p:txBody>
      </p:sp>
      <p:sp>
        <p:nvSpPr>
          <p:cNvPr id="7" name="Shape 5"/>
          <p:cNvSpPr/>
          <p:nvPr/>
        </p:nvSpPr>
        <p:spPr>
          <a:xfrm>
            <a:off x="457200" y="1417320"/>
            <a:ext cx="1993392" cy="2743200"/>
          </a:xfrm>
          <a:prstGeom prst="roundRect">
            <a:avLst>
              <a:gd name="adj" fmla="val 5505"/>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8" name="Shape 6"/>
          <p:cNvSpPr/>
          <p:nvPr/>
        </p:nvSpPr>
        <p:spPr>
          <a:xfrm>
            <a:off x="950976" y="1673352"/>
            <a:ext cx="1005840" cy="1005840"/>
          </a:xfrm>
          <a:prstGeom prst="ellipse">
            <a:avLst/>
          </a:prstGeom>
          <a:solidFill>
            <a:srgbClr val="00BFA5"/>
          </a:solidFill>
          <a:ln w="12700">
            <a:solidFill>
              <a:srgbClr val="00BFA5"/>
            </a:solidFill>
            <a:prstDash val="solid"/>
          </a:ln>
        </p:spPr>
        <p:txBody>
          <a:bodyPr/>
          <a:lstStyle/>
          <a:p>
            <a:endParaRPr lang="en-US"/>
          </a:p>
        </p:txBody>
      </p:sp>
      <p:sp>
        <p:nvSpPr>
          <p:cNvPr id="9" name="Text 7"/>
          <p:cNvSpPr/>
          <p:nvPr/>
        </p:nvSpPr>
        <p:spPr>
          <a:xfrm>
            <a:off x="950976" y="1673352"/>
            <a:ext cx="1005840" cy="1005840"/>
          </a:xfrm>
          <a:prstGeom prst="rect">
            <a:avLst/>
          </a:prstGeom>
          <a:noFill/>
          <a:ln/>
        </p:spPr>
        <p:txBody>
          <a:bodyPr wrap="square" lIns="0" tIns="0" rIns="0" bIns="0" rtlCol="0" anchor="ctr"/>
          <a:lstStyle/>
          <a:p>
            <a:pPr marL="0" indent="0" algn="ctr">
              <a:buNone/>
            </a:pPr>
            <a:r>
              <a:rPr lang="en-US" sz="2200" b="1" dirty="0">
                <a:solidFill>
                  <a:srgbClr val="0B1A2E"/>
                </a:solidFill>
              </a:rPr>
              <a:t>SC</a:t>
            </a:r>
            <a:endParaRPr lang="en-US" sz="2200" dirty="0"/>
          </a:p>
        </p:txBody>
      </p:sp>
      <p:sp>
        <p:nvSpPr>
          <p:cNvPr id="10" name="Text 8"/>
          <p:cNvSpPr/>
          <p:nvPr/>
        </p:nvSpPr>
        <p:spPr>
          <a:xfrm>
            <a:off x="457200" y="2834640"/>
            <a:ext cx="1993392" cy="384048"/>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Shweta Chandra</a:t>
            </a:r>
            <a:endParaRPr lang="en-US" sz="1300" dirty="0"/>
          </a:p>
        </p:txBody>
      </p:sp>
      <p:sp>
        <p:nvSpPr>
          <p:cNvPr id="11" name="Shape 9"/>
          <p:cNvSpPr/>
          <p:nvPr/>
        </p:nvSpPr>
        <p:spPr>
          <a:xfrm>
            <a:off x="658368" y="3319272"/>
            <a:ext cx="1591056" cy="274320"/>
          </a:xfrm>
          <a:prstGeom prst="roundRect">
            <a:avLst>
              <a:gd name="adj" fmla="val 20000"/>
            </a:avLst>
          </a:prstGeom>
          <a:solidFill>
            <a:srgbClr val="00BFA5">
              <a:alpha val="25000"/>
            </a:srgbClr>
          </a:solidFill>
          <a:ln/>
        </p:spPr>
        <p:txBody>
          <a:bodyPr/>
          <a:lstStyle/>
          <a:p>
            <a:endParaRPr lang="en-US"/>
          </a:p>
        </p:txBody>
      </p:sp>
      <p:sp>
        <p:nvSpPr>
          <p:cNvPr id="12" name="Text 10"/>
          <p:cNvSpPr/>
          <p:nvPr/>
        </p:nvSpPr>
        <p:spPr>
          <a:xfrm>
            <a:off x="658368" y="3319272"/>
            <a:ext cx="1591056" cy="274320"/>
          </a:xfrm>
          <a:prstGeom prst="rect">
            <a:avLst/>
          </a:prstGeom>
          <a:noFill/>
          <a:ln/>
        </p:spPr>
        <p:txBody>
          <a:bodyPr wrap="square" lIns="0" tIns="0" rIns="0" bIns="0" rtlCol="0" anchor="ctr"/>
          <a:lstStyle/>
          <a:p>
            <a:pPr marL="0" indent="0" algn="ctr">
              <a:buNone/>
            </a:pPr>
            <a:r>
              <a:rPr lang="en-US" sz="900" b="1" dirty="0">
                <a:solidFill>
                  <a:srgbClr val="00BFA5"/>
                </a:solidFill>
              </a:rPr>
              <a:t>Automation Architect</a:t>
            </a:r>
            <a:endParaRPr lang="en-US" sz="900" dirty="0"/>
          </a:p>
        </p:txBody>
      </p:sp>
      <p:sp>
        <p:nvSpPr>
          <p:cNvPr id="13" name="Text 11"/>
          <p:cNvSpPr/>
          <p:nvPr/>
        </p:nvSpPr>
        <p:spPr>
          <a:xfrm>
            <a:off x="457200" y="3813048"/>
            <a:ext cx="1993392" cy="274320"/>
          </a:xfrm>
          <a:prstGeom prst="rect">
            <a:avLst/>
          </a:prstGeom>
          <a:noFill/>
          <a:ln/>
        </p:spPr>
        <p:txBody>
          <a:bodyPr wrap="square" lIns="0" tIns="0" rIns="0" bIns="0" rtlCol="0" anchor="ctr"/>
          <a:lstStyle/>
          <a:p>
            <a:pPr marL="0" indent="0" algn="ctr">
              <a:buNone/>
            </a:pPr>
            <a:r>
              <a:rPr lang="en-US" sz="850" dirty="0">
                <a:solidFill>
                  <a:srgbClr val="00BFA5"/>
                </a:solidFill>
              </a:rPr>
              <a:t>UiPath · Automation</a:t>
            </a:r>
            <a:endParaRPr lang="en-US" sz="850" dirty="0"/>
          </a:p>
        </p:txBody>
      </p:sp>
      <p:sp>
        <p:nvSpPr>
          <p:cNvPr id="14" name="Shape 12"/>
          <p:cNvSpPr/>
          <p:nvPr/>
        </p:nvSpPr>
        <p:spPr>
          <a:xfrm>
            <a:off x="2633472" y="1417320"/>
            <a:ext cx="1993392" cy="2743200"/>
          </a:xfrm>
          <a:prstGeom prst="roundRect">
            <a:avLst>
              <a:gd name="adj" fmla="val 5505"/>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5" name="Shape 13"/>
          <p:cNvSpPr/>
          <p:nvPr/>
        </p:nvSpPr>
        <p:spPr>
          <a:xfrm>
            <a:off x="3127248" y="1673352"/>
            <a:ext cx="1005840" cy="1005840"/>
          </a:xfrm>
          <a:prstGeom prst="ellipse">
            <a:avLst/>
          </a:prstGeom>
          <a:solidFill>
            <a:srgbClr val="38BDF8"/>
          </a:solidFill>
          <a:ln w="12700">
            <a:solidFill>
              <a:srgbClr val="38BDF8"/>
            </a:solidFill>
            <a:prstDash val="solid"/>
          </a:ln>
        </p:spPr>
        <p:txBody>
          <a:bodyPr/>
          <a:lstStyle/>
          <a:p>
            <a:endParaRPr lang="en-US"/>
          </a:p>
        </p:txBody>
      </p:sp>
      <p:sp>
        <p:nvSpPr>
          <p:cNvPr id="16" name="Text 14"/>
          <p:cNvSpPr/>
          <p:nvPr/>
        </p:nvSpPr>
        <p:spPr>
          <a:xfrm>
            <a:off x="3127248" y="1673352"/>
            <a:ext cx="1005840" cy="1005840"/>
          </a:xfrm>
          <a:prstGeom prst="rect">
            <a:avLst/>
          </a:prstGeom>
          <a:noFill/>
          <a:ln/>
        </p:spPr>
        <p:txBody>
          <a:bodyPr wrap="square" lIns="0" tIns="0" rIns="0" bIns="0" rtlCol="0" anchor="ctr"/>
          <a:lstStyle/>
          <a:p>
            <a:pPr marL="0" indent="0" algn="ctr">
              <a:buNone/>
            </a:pPr>
            <a:r>
              <a:rPr lang="en-US" sz="2200" b="1" dirty="0">
                <a:solidFill>
                  <a:srgbClr val="0B1A2E"/>
                </a:solidFill>
              </a:rPr>
              <a:t>SP</a:t>
            </a:r>
            <a:endParaRPr lang="en-US" sz="2200" dirty="0"/>
          </a:p>
        </p:txBody>
      </p:sp>
      <p:sp>
        <p:nvSpPr>
          <p:cNvPr id="17" name="Text 15"/>
          <p:cNvSpPr/>
          <p:nvPr/>
        </p:nvSpPr>
        <p:spPr>
          <a:xfrm>
            <a:off x="2633472" y="2834640"/>
            <a:ext cx="1993392" cy="384048"/>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Sumit Paithankar</a:t>
            </a:r>
            <a:endParaRPr lang="en-US" sz="1300" dirty="0"/>
          </a:p>
        </p:txBody>
      </p:sp>
      <p:sp>
        <p:nvSpPr>
          <p:cNvPr id="18" name="Shape 16"/>
          <p:cNvSpPr/>
          <p:nvPr/>
        </p:nvSpPr>
        <p:spPr>
          <a:xfrm>
            <a:off x="2834640" y="3319272"/>
            <a:ext cx="1591056" cy="274320"/>
          </a:xfrm>
          <a:prstGeom prst="roundRect">
            <a:avLst>
              <a:gd name="adj" fmla="val 20000"/>
            </a:avLst>
          </a:prstGeom>
          <a:solidFill>
            <a:srgbClr val="38BDF8">
              <a:alpha val="25000"/>
            </a:srgbClr>
          </a:solidFill>
          <a:ln/>
        </p:spPr>
        <p:txBody>
          <a:bodyPr/>
          <a:lstStyle/>
          <a:p>
            <a:endParaRPr lang="en-US"/>
          </a:p>
        </p:txBody>
      </p:sp>
      <p:sp>
        <p:nvSpPr>
          <p:cNvPr id="19" name="Text 17"/>
          <p:cNvSpPr/>
          <p:nvPr/>
        </p:nvSpPr>
        <p:spPr>
          <a:xfrm>
            <a:off x="2834640" y="3319272"/>
            <a:ext cx="1591056" cy="274320"/>
          </a:xfrm>
          <a:prstGeom prst="rect">
            <a:avLst/>
          </a:prstGeom>
          <a:noFill/>
          <a:ln/>
        </p:spPr>
        <p:txBody>
          <a:bodyPr wrap="square" lIns="0" tIns="0" rIns="0" bIns="0" rtlCol="0" anchor="ctr"/>
          <a:lstStyle/>
          <a:p>
            <a:pPr marL="0" indent="0" algn="ctr">
              <a:buNone/>
            </a:pPr>
            <a:r>
              <a:rPr lang="en-US" sz="900" b="1" dirty="0">
                <a:solidFill>
                  <a:srgbClr val="38BDF8"/>
                </a:solidFill>
              </a:rPr>
              <a:t>Automation Developer</a:t>
            </a:r>
            <a:endParaRPr lang="en-US" sz="900" dirty="0"/>
          </a:p>
        </p:txBody>
      </p:sp>
      <p:sp>
        <p:nvSpPr>
          <p:cNvPr id="20" name="Text 18"/>
          <p:cNvSpPr/>
          <p:nvPr/>
        </p:nvSpPr>
        <p:spPr>
          <a:xfrm>
            <a:off x="2633472" y="3813048"/>
            <a:ext cx="1993392" cy="274320"/>
          </a:xfrm>
          <a:prstGeom prst="rect">
            <a:avLst/>
          </a:prstGeom>
          <a:noFill/>
          <a:ln/>
        </p:spPr>
        <p:txBody>
          <a:bodyPr wrap="square" lIns="0" tIns="0" rIns="0" bIns="0" rtlCol="0" anchor="ctr"/>
          <a:lstStyle/>
          <a:p>
            <a:pPr marL="0" indent="0" algn="ctr">
              <a:buNone/>
            </a:pPr>
            <a:r>
              <a:rPr lang="en-US" sz="850" dirty="0">
                <a:solidFill>
                  <a:srgbClr val="00BFA5"/>
                </a:solidFill>
              </a:rPr>
              <a:t>UiPath · Automation</a:t>
            </a:r>
            <a:endParaRPr lang="en-US" sz="850" dirty="0"/>
          </a:p>
        </p:txBody>
      </p:sp>
      <p:sp>
        <p:nvSpPr>
          <p:cNvPr id="21" name="Shape 19"/>
          <p:cNvSpPr/>
          <p:nvPr/>
        </p:nvSpPr>
        <p:spPr>
          <a:xfrm>
            <a:off x="4809744" y="1417320"/>
            <a:ext cx="1993392" cy="2743200"/>
          </a:xfrm>
          <a:prstGeom prst="roundRect">
            <a:avLst>
              <a:gd name="adj" fmla="val 5505"/>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22" name="Shape 20"/>
          <p:cNvSpPr/>
          <p:nvPr/>
        </p:nvSpPr>
        <p:spPr>
          <a:xfrm>
            <a:off x="5303520" y="1673352"/>
            <a:ext cx="1005840" cy="1005840"/>
          </a:xfrm>
          <a:prstGeom prst="ellipse">
            <a:avLst/>
          </a:prstGeom>
          <a:solidFill>
            <a:srgbClr val="F4C842"/>
          </a:solidFill>
          <a:ln w="12700">
            <a:solidFill>
              <a:srgbClr val="F4C842"/>
            </a:solidFill>
            <a:prstDash val="solid"/>
          </a:ln>
        </p:spPr>
        <p:txBody>
          <a:bodyPr/>
          <a:lstStyle/>
          <a:p>
            <a:endParaRPr lang="en-US"/>
          </a:p>
        </p:txBody>
      </p:sp>
      <p:sp>
        <p:nvSpPr>
          <p:cNvPr id="23" name="Text 21"/>
          <p:cNvSpPr/>
          <p:nvPr/>
        </p:nvSpPr>
        <p:spPr>
          <a:xfrm>
            <a:off x="5303520" y="1673352"/>
            <a:ext cx="1005840" cy="1005840"/>
          </a:xfrm>
          <a:prstGeom prst="rect">
            <a:avLst/>
          </a:prstGeom>
          <a:noFill/>
          <a:ln/>
        </p:spPr>
        <p:txBody>
          <a:bodyPr wrap="square" lIns="0" tIns="0" rIns="0" bIns="0" rtlCol="0" anchor="ctr"/>
          <a:lstStyle/>
          <a:p>
            <a:pPr marL="0" indent="0" algn="ctr">
              <a:buNone/>
            </a:pPr>
            <a:r>
              <a:rPr lang="en-US" sz="2200" b="1" dirty="0">
                <a:solidFill>
                  <a:srgbClr val="0B1A2E"/>
                </a:solidFill>
              </a:rPr>
              <a:t>BK</a:t>
            </a:r>
            <a:endParaRPr lang="en-US" sz="2200" dirty="0"/>
          </a:p>
        </p:txBody>
      </p:sp>
      <p:sp>
        <p:nvSpPr>
          <p:cNvPr id="24" name="Text 22"/>
          <p:cNvSpPr/>
          <p:nvPr/>
        </p:nvSpPr>
        <p:spPr>
          <a:xfrm>
            <a:off x="4809744" y="2834640"/>
            <a:ext cx="1993392" cy="384048"/>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Bharath Kilari</a:t>
            </a:r>
            <a:endParaRPr lang="en-US" sz="1300" dirty="0"/>
          </a:p>
        </p:txBody>
      </p:sp>
      <p:sp>
        <p:nvSpPr>
          <p:cNvPr id="25" name="Shape 23"/>
          <p:cNvSpPr/>
          <p:nvPr/>
        </p:nvSpPr>
        <p:spPr>
          <a:xfrm>
            <a:off x="5010912" y="3319272"/>
            <a:ext cx="1591056" cy="274320"/>
          </a:xfrm>
          <a:prstGeom prst="roundRect">
            <a:avLst>
              <a:gd name="adj" fmla="val 20000"/>
            </a:avLst>
          </a:prstGeom>
          <a:solidFill>
            <a:srgbClr val="F4C842">
              <a:alpha val="25000"/>
            </a:srgbClr>
          </a:solidFill>
          <a:ln/>
        </p:spPr>
        <p:txBody>
          <a:bodyPr/>
          <a:lstStyle/>
          <a:p>
            <a:endParaRPr lang="en-US"/>
          </a:p>
        </p:txBody>
      </p:sp>
      <p:sp>
        <p:nvSpPr>
          <p:cNvPr id="26" name="Text 24"/>
          <p:cNvSpPr/>
          <p:nvPr/>
        </p:nvSpPr>
        <p:spPr>
          <a:xfrm>
            <a:off x="5010912" y="3319272"/>
            <a:ext cx="1591056" cy="274320"/>
          </a:xfrm>
          <a:prstGeom prst="rect">
            <a:avLst/>
          </a:prstGeom>
          <a:noFill/>
          <a:ln/>
        </p:spPr>
        <p:txBody>
          <a:bodyPr wrap="square" lIns="0" tIns="0" rIns="0" bIns="0" rtlCol="0" anchor="ctr"/>
          <a:lstStyle/>
          <a:p>
            <a:pPr marL="0" indent="0" algn="ctr">
              <a:buNone/>
            </a:pPr>
            <a:r>
              <a:rPr lang="en-US" sz="900" b="1" dirty="0">
                <a:solidFill>
                  <a:srgbClr val="F4C842"/>
                </a:solidFill>
              </a:rPr>
              <a:t>Automation Developer</a:t>
            </a:r>
            <a:endParaRPr lang="en-US" sz="900" dirty="0"/>
          </a:p>
        </p:txBody>
      </p:sp>
      <p:sp>
        <p:nvSpPr>
          <p:cNvPr id="27" name="Text 25"/>
          <p:cNvSpPr/>
          <p:nvPr/>
        </p:nvSpPr>
        <p:spPr>
          <a:xfrm>
            <a:off x="4809744" y="3813048"/>
            <a:ext cx="1993392" cy="274320"/>
          </a:xfrm>
          <a:prstGeom prst="rect">
            <a:avLst/>
          </a:prstGeom>
          <a:noFill/>
          <a:ln/>
        </p:spPr>
        <p:txBody>
          <a:bodyPr wrap="square" lIns="0" tIns="0" rIns="0" bIns="0" rtlCol="0" anchor="ctr"/>
          <a:lstStyle/>
          <a:p>
            <a:pPr marL="0" indent="0" algn="ctr">
              <a:buNone/>
            </a:pPr>
            <a:r>
              <a:rPr lang="en-US" sz="850" dirty="0">
                <a:solidFill>
                  <a:srgbClr val="00BFA5"/>
                </a:solidFill>
              </a:rPr>
              <a:t>UiPath · Automation</a:t>
            </a:r>
            <a:endParaRPr lang="en-US" sz="850" dirty="0"/>
          </a:p>
        </p:txBody>
      </p:sp>
      <p:sp>
        <p:nvSpPr>
          <p:cNvPr id="28" name="Shape 26"/>
          <p:cNvSpPr/>
          <p:nvPr/>
        </p:nvSpPr>
        <p:spPr>
          <a:xfrm>
            <a:off x="6986016" y="1417320"/>
            <a:ext cx="1993392" cy="2743200"/>
          </a:xfrm>
          <a:prstGeom prst="roundRect">
            <a:avLst>
              <a:gd name="adj" fmla="val 5505"/>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29" name="Shape 27"/>
          <p:cNvSpPr/>
          <p:nvPr/>
        </p:nvSpPr>
        <p:spPr>
          <a:xfrm>
            <a:off x="7479792" y="1673352"/>
            <a:ext cx="1005840" cy="1005840"/>
          </a:xfrm>
          <a:prstGeom prst="ellipse">
            <a:avLst/>
          </a:prstGeom>
          <a:solidFill>
            <a:srgbClr val="34D399"/>
          </a:solidFill>
          <a:ln w="12700">
            <a:solidFill>
              <a:srgbClr val="34D399"/>
            </a:solidFill>
            <a:prstDash val="solid"/>
          </a:ln>
        </p:spPr>
        <p:txBody>
          <a:bodyPr/>
          <a:lstStyle/>
          <a:p>
            <a:endParaRPr lang="en-US"/>
          </a:p>
        </p:txBody>
      </p:sp>
      <p:sp>
        <p:nvSpPr>
          <p:cNvPr id="30" name="Text 28"/>
          <p:cNvSpPr/>
          <p:nvPr/>
        </p:nvSpPr>
        <p:spPr>
          <a:xfrm>
            <a:off x="7479792" y="1673352"/>
            <a:ext cx="1005840" cy="1005840"/>
          </a:xfrm>
          <a:prstGeom prst="rect">
            <a:avLst/>
          </a:prstGeom>
          <a:noFill/>
          <a:ln/>
        </p:spPr>
        <p:txBody>
          <a:bodyPr wrap="square" lIns="0" tIns="0" rIns="0" bIns="0" rtlCol="0" anchor="ctr"/>
          <a:lstStyle/>
          <a:p>
            <a:pPr marL="0" indent="0" algn="ctr">
              <a:buNone/>
            </a:pPr>
            <a:r>
              <a:rPr lang="en-US" sz="2200" b="1" dirty="0">
                <a:solidFill>
                  <a:srgbClr val="0B1A2E"/>
                </a:solidFill>
              </a:rPr>
              <a:t>LR</a:t>
            </a:r>
            <a:endParaRPr lang="en-US" sz="2200" dirty="0"/>
          </a:p>
        </p:txBody>
      </p:sp>
      <p:sp>
        <p:nvSpPr>
          <p:cNvPr id="31" name="Text 29"/>
          <p:cNvSpPr/>
          <p:nvPr/>
        </p:nvSpPr>
        <p:spPr>
          <a:xfrm>
            <a:off x="6986016" y="2834640"/>
            <a:ext cx="1993392" cy="384048"/>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Lokesh Raj</a:t>
            </a:r>
            <a:endParaRPr lang="en-US" sz="1300" dirty="0"/>
          </a:p>
        </p:txBody>
      </p:sp>
      <p:sp>
        <p:nvSpPr>
          <p:cNvPr id="32" name="Shape 30"/>
          <p:cNvSpPr/>
          <p:nvPr/>
        </p:nvSpPr>
        <p:spPr>
          <a:xfrm>
            <a:off x="7187184" y="3319272"/>
            <a:ext cx="1591056" cy="274320"/>
          </a:xfrm>
          <a:prstGeom prst="roundRect">
            <a:avLst>
              <a:gd name="adj" fmla="val 20000"/>
            </a:avLst>
          </a:prstGeom>
          <a:solidFill>
            <a:srgbClr val="34D399">
              <a:alpha val="25000"/>
            </a:srgbClr>
          </a:solidFill>
          <a:ln/>
        </p:spPr>
        <p:txBody>
          <a:bodyPr/>
          <a:lstStyle/>
          <a:p>
            <a:endParaRPr lang="en-US"/>
          </a:p>
        </p:txBody>
      </p:sp>
      <p:sp>
        <p:nvSpPr>
          <p:cNvPr id="33" name="Text 31"/>
          <p:cNvSpPr/>
          <p:nvPr/>
        </p:nvSpPr>
        <p:spPr>
          <a:xfrm>
            <a:off x="7187184" y="3319272"/>
            <a:ext cx="1591056" cy="274320"/>
          </a:xfrm>
          <a:prstGeom prst="rect">
            <a:avLst/>
          </a:prstGeom>
          <a:noFill/>
          <a:ln/>
        </p:spPr>
        <p:txBody>
          <a:bodyPr wrap="square" lIns="0" tIns="0" rIns="0" bIns="0" rtlCol="0" anchor="ctr"/>
          <a:lstStyle/>
          <a:p>
            <a:pPr marL="0" indent="0" algn="ctr">
              <a:buNone/>
            </a:pPr>
            <a:r>
              <a:rPr lang="en-US" sz="900" b="1" dirty="0">
                <a:solidFill>
                  <a:srgbClr val="34D399"/>
                </a:solidFill>
              </a:rPr>
              <a:t>Automation Developer</a:t>
            </a:r>
            <a:endParaRPr lang="en-US" sz="900" dirty="0"/>
          </a:p>
        </p:txBody>
      </p:sp>
      <p:sp>
        <p:nvSpPr>
          <p:cNvPr id="34" name="Text 32"/>
          <p:cNvSpPr/>
          <p:nvPr/>
        </p:nvSpPr>
        <p:spPr>
          <a:xfrm>
            <a:off x="6986016" y="3813048"/>
            <a:ext cx="1993392" cy="274320"/>
          </a:xfrm>
          <a:prstGeom prst="rect">
            <a:avLst/>
          </a:prstGeom>
          <a:noFill/>
          <a:ln/>
        </p:spPr>
        <p:txBody>
          <a:bodyPr wrap="square" lIns="0" tIns="0" rIns="0" bIns="0" rtlCol="0" anchor="ctr"/>
          <a:lstStyle/>
          <a:p>
            <a:pPr marL="0" indent="0" algn="ctr">
              <a:buNone/>
            </a:pPr>
            <a:r>
              <a:rPr lang="en-US" sz="850" dirty="0">
                <a:solidFill>
                  <a:srgbClr val="00BFA5"/>
                </a:solidFill>
              </a:rPr>
              <a:t>UiPath · Automation</a:t>
            </a:r>
            <a:endParaRPr lang="en-US" sz="850" dirty="0"/>
          </a:p>
        </p:txBody>
      </p:sp>
      <p:sp>
        <p:nvSpPr>
          <p:cNvPr id="35" name="Shape 33"/>
          <p:cNvSpPr/>
          <p:nvPr/>
        </p:nvSpPr>
        <p:spPr>
          <a:xfrm>
            <a:off x="457200" y="4754880"/>
            <a:ext cx="8229600" cy="274320"/>
          </a:xfrm>
          <a:prstGeom prst="roundRect">
            <a:avLst>
              <a:gd name="adj" fmla="val 20000"/>
            </a:avLst>
          </a:prstGeom>
          <a:solidFill>
            <a:srgbClr val="162D4A"/>
          </a:solidFill>
          <a:ln/>
        </p:spPr>
        <p:txBody>
          <a:bodyPr/>
          <a:lstStyle/>
          <a:p>
            <a:endParaRPr lang="en-US"/>
          </a:p>
        </p:txBody>
      </p:sp>
      <p:sp>
        <p:nvSpPr>
          <p:cNvPr id="36" name="Text 34"/>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900" dirty="0">
                <a:solidFill>
                  <a:srgbClr val="7BA3C0"/>
                </a:solidFill>
              </a:rPr>
              <a:t>UiPath AgentHack 2026  ·  Track 2: Maestro BPMN  ·  Healthcare Domain  ·  Provider-Side Denial Management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marL="0" indent="0">
              <a:buNone/>
            </a:pPr>
            <a:r>
              <a:rPr lang="en-US" sz="3200" b="1" dirty="0">
                <a:solidFill>
                  <a:srgbClr val="0B1A2E"/>
                </a:solidFill>
                <a:latin typeface="Calibri" pitchFamily="34" charset="0"/>
                <a:ea typeface="Calibri" pitchFamily="34" charset="-122"/>
                <a:cs typeface="Calibri" pitchFamily="34" charset="-120"/>
              </a:rPr>
              <a:t>The Problem</a:t>
            </a:r>
            <a:endParaRPr lang="en-US" sz="32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i="1" dirty="0">
                <a:solidFill>
                  <a:srgbClr val="3B5A78"/>
                </a:solidFill>
              </a:rPr>
              <a:t>US hospitals lose billions not because appeals fail — but because the manual process is too slow</a:t>
            </a:r>
            <a:endParaRPr lang="en-US" sz="1300" dirty="0"/>
          </a:p>
        </p:txBody>
      </p:sp>
      <p:sp>
        <p:nvSpPr>
          <p:cNvPr id="4" name="Shape 2"/>
          <p:cNvSpPr/>
          <p:nvPr/>
        </p:nvSpPr>
        <p:spPr>
          <a:xfrm>
            <a:off x="457200" y="1234440"/>
            <a:ext cx="2651760" cy="2194560"/>
          </a:xfrm>
          <a:prstGeom prst="roundRect">
            <a:avLst>
              <a:gd name="adj" fmla="val 5000"/>
            </a:avLst>
          </a:prstGeom>
          <a:solidFill>
            <a:srgbClr val="0B1A2E"/>
          </a:solidFill>
          <a:ln/>
          <a:effectLst>
            <a:outerShdw blurRad="127000" dist="38100" dir="2700000" algn="bl" rotWithShape="0">
              <a:srgbClr val="000000">
                <a:alpha val="18000"/>
              </a:srgbClr>
            </a:outerShdw>
          </a:effectLst>
        </p:spPr>
        <p:txBody>
          <a:bodyPr/>
          <a:lstStyle/>
          <a:p>
            <a:endParaRPr lang="en-US"/>
          </a:p>
        </p:txBody>
      </p:sp>
      <p:sp>
        <p:nvSpPr>
          <p:cNvPr id="5" name="Text 3"/>
          <p:cNvSpPr/>
          <p:nvPr/>
        </p:nvSpPr>
        <p:spPr>
          <a:xfrm>
            <a:off x="457200" y="1417320"/>
            <a:ext cx="2651760" cy="685800"/>
          </a:xfrm>
          <a:prstGeom prst="rect">
            <a:avLst/>
          </a:prstGeom>
          <a:noFill/>
          <a:ln/>
        </p:spPr>
        <p:txBody>
          <a:bodyPr wrap="square" lIns="0" tIns="0" rIns="0" bIns="0" rtlCol="0" anchor="ctr"/>
          <a:lstStyle/>
          <a:p>
            <a:pPr marL="0" indent="0" algn="ctr">
              <a:buNone/>
            </a:pPr>
            <a:r>
              <a:rPr lang="en-US" sz="2600" b="1" dirty="0">
                <a:solidFill>
                  <a:srgbClr val="F4C842"/>
                </a:solidFill>
              </a:rPr>
              <a:t>$260–300B</a:t>
            </a:r>
            <a:endParaRPr lang="en-US" sz="2600" dirty="0"/>
          </a:p>
        </p:txBody>
      </p:sp>
      <p:sp>
        <p:nvSpPr>
          <p:cNvPr id="6" name="Text 4"/>
          <p:cNvSpPr/>
          <p:nvPr/>
        </p:nvSpPr>
        <p:spPr>
          <a:xfrm>
            <a:off x="457200" y="2103120"/>
            <a:ext cx="2651760" cy="868680"/>
          </a:xfrm>
          <a:prstGeom prst="rect">
            <a:avLst/>
          </a:prstGeom>
          <a:noFill/>
          <a:ln/>
        </p:spPr>
        <p:txBody>
          <a:bodyPr wrap="square" lIns="0" tIns="0" rIns="0" bIns="0" rtlCol="0" anchor="ctr"/>
          <a:lstStyle/>
          <a:p>
            <a:pPr marL="0" indent="0" algn="ctr">
              <a:buNone/>
            </a:pPr>
            <a:r>
              <a:rPr lang="en-US" sz="1200" dirty="0">
                <a:solidFill>
                  <a:srgbClr val="E8F4F8"/>
                </a:solidFill>
              </a:rPr>
              <a:t>in claim denials</a:t>
            </a:r>
            <a:endParaRPr lang="en-US" sz="1200" dirty="0"/>
          </a:p>
          <a:p>
            <a:pPr marL="0" indent="0" algn="ctr">
              <a:buNone/>
            </a:pPr>
            <a:r>
              <a:rPr lang="en-US" sz="1200" dirty="0">
                <a:solidFill>
                  <a:srgbClr val="E8F4F8"/>
                </a:solidFill>
              </a:rPr>
              <a:t>received annually</a:t>
            </a:r>
            <a:endParaRPr lang="en-US" sz="1200" dirty="0"/>
          </a:p>
          <a:p>
            <a:pPr marL="0" indent="0" algn="ctr">
              <a:buNone/>
            </a:pPr>
            <a:r>
              <a:rPr lang="en-US" sz="1200" dirty="0">
                <a:solidFill>
                  <a:srgbClr val="E8F4F8"/>
                </a:solidFill>
              </a:rPr>
              <a:t>by US hospitals</a:t>
            </a:r>
            <a:endParaRPr lang="en-US" sz="1200" dirty="0"/>
          </a:p>
        </p:txBody>
      </p:sp>
      <p:sp>
        <p:nvSpPr>
          <p:cNvPr id="7" name="Shape 5"/>
          <p:cNvSpPr/>
          <p:nvPr/>
        </p:nvSpPr>
        <p:spPr>
          <a:xfrm>
            <a:off x="3291840" y="1234440"/>
            <a:ext cx="2651760" cy="2194560"/>
          </a:xfrm>
          <a:prstGeom prst="roundRect">
            <a:avLst>
              <a:gd name="adj" fmla="val 5000"/>
            </a:avLst>
          </a:prstGeom>
          <a:solidFill>
            <a:srgbClr val="0B1A2E"/>
          </a:solidFill>
          <a:ln/>
          <a:effectLst>
            <a:outerShdw blurRad="127000" dist="38100" dir="2700000" algn="bl" rotWithShape="0">
              <a:srgbClr val="000000">
                <a:alpha val="18000"/>
              </a:srgbClr>
            </a:outerShdw>
          </a:effectLst>
        </p:spPr>
        <p:txBody>
          <a:bodyPr/>
          <a:lstStyle/>
          <a:p>
            <a:endParaRPr lang="en-US"/>
          </a:p>
        </p:txBody>
      </p:sp>
      <p:sp>
        <p:nvSpPr>
          <p:cNvPr id="8" name="Text 6"/>
          <p:cNvSpPr/>
          <p:nvPr/>
        </p:nvSpPr>
        <p:spPr>
          <a:xfrm>
            <a:off x="3291840" y="1417320"/>
            <a:ext cx="2651760" cy="685800"/>
          </a:xfrm>
          <a:prstGeom prst="rect">
            <a:avLst/>
          </a:prstGeom>
          <a:noFill/>
          <a:ln/>
        </p:spPr>
        <p:txBody>
          <a:bodyPr wrap="square" lIns="0" tIns="0" rIns="0" bIns="0" rtlCol="0" anchor="ctr"/>
          <a:lstStyle/>
          <a:p>
            <a:pPr marL="0" indent="0" algn="ctr">
              <a:buNone/>
            </a:pPr>
            <a:r>
              <a:rPr lang="en-US" sz="3600" b="1" dirty="0">
                <a:solidFill>
                  <a:srgbClr val="EF5350"/>
                </a:solidFill>
              </a:rPr>
              <a:t>65%</a:t>
            </a:r>
            <a:endParaRPr lang="en-US" sz="3600" dirty="0"/>
          </a:p>
        </p:txBody>
      </p:sp>
      <p:sp>
        <p:nvSpPr>
          <p:cNvPr id="9" name="Text 7"/>
          <p:cNvSpPr/>
          <p:nvPr/>
        </p:nvSpPr>
        <p:spPr>
          <a:xfrm>
            <a:off x="3291840" y="2103120"/>
            <a:ext cx="2651760" cy="868680"/>
          </a:xfrm>
          <a:prstGeom prst="rect">
            <a:avLst/>
          </a:prstGeom>
          <a:noFill/>
          <a:ln/>
        </p:spPr>
        <p:txBody>
          <a:bodyPr wrap="square" lIns="0" tIns="0" rIns="0" bIns="0" rtlCol="0" anchor="ctr"/>
          <a:lstStyle/>
          <a:p>
            <a:pPr marL="0" indent="0" algn="ctr">
              <a:buNone/>
            </a:pPr>
            <a:r>
              <a:rPr lang="en-US" sz="1200" dirty="0">
                <a:solidFill>
                  <a:srgbClr val="E8F4F8"/>
                </a:solidFill>
              </a:rPr>
              <a:t>never appealed</a:t>
            </a:r>
            <a:endParaRPr lang="en-US" sz="1200" dirty="0"/>
          </a:p>
          <a:p>
            <a:pPr marL="0" indent="0" algn="ctr">
              <a:buNone/>
            </a:pPr>
            <a:r>
              <a:rPr lang="en-US" sz="1200" dirty="0">
                <a:solidFill>
                  <a:srgbClr val="E8F4F8"/>
                </a:solidFill>
              </a:rPr>
              <a:t>— not because they</a:t>
            </a:r>
            <a:endParaRPr lang="en-US" sz="1200" dirty="0"/>
          </a:p>
          <a:p>
            <a:pPr marL="0" indent="0" algn="ctr">
              <a:buNone/>
            </a:pPr>
            <a:r>
              <a:rPr lang="en-US" sz="1200" dirty="0">
                <a:solidFill>
                  <a:srgbClr val="E8F4F8"/>
                </a:solidFill>
              </a:rPr>
              <a:t>fail, but bandwidth</a:t>
            </a:r>
            <a:endParaRPr lang="en-US" sz="1200" dirty="0"/>
          </a:p>
        </p:txBody>
      </p:sp>
      <p:sp>
        <p:nvSpPr>
          <p:cNvPr id="10" name="Shape 8"/>
          <p:cNvSpPr/>
          <p:nvPr/>
        </p:nvSpPr>
        <p:spPr>
          <a:xfrm>
            <a:off x="6126480" y="1234440"/>
            <a:ext cx="2560320" cy="2194560"/>
          </a:xfrm>
          <a:prstGeom prst="roundRect">
            <a:avLst>
              <a:gd name="adj" fmla="val 5000"/>
            </a:avLst>
          </a:prstGeom>
          <a:solidFill>
            <a:srgbClr val="0B1A2E"/>
          </a:solidFill>
          <a:ln/>
          <a:effectLst>
            <a:outerShdw blurRad="127000" dist="38100" dir="2700000" algn="bl" rotWithShape="0">
              <a:srgbClr val="000000">
                <a:alpha val="18000"/>
              </a:srgbClr>
            </a:outerShdw>
          </a:effectLst>
        </p:spPr>
        <p:txBody>
          <a:bodyPr/>
          <a:lstStyle/>
          <a:p>
            <a:endParaRPr lang="en-US"/>
          </a:p>
        </p:txBody>
      </p:sp>
      <p:sp>
        <p:nvSpPr>
          <p:cNvPr id="11" name="Text 9"/>
          <p:cNvSpPr/>
          <p:nvPr/>
        </p:nvSpPr>
        <p:spPr>
          <a:xfrm>
            <a:off x="6126480" y="1417320"/>
            <a:ext cx="2560320" cy="685800"/>
          </a:xfrm>
          <a:prstGeom prst="rect">
            <a:avLst/>
          </a:prstGeom>
          <a:noFill/>
          <a:ln/>
        </p:spPr>
        <p:txBody>
          <a:bodyPr wrap="square" lIns="0" tIns="0" rIns="0" bIns="0" rtlCol="0" anchor="ctr"/>
          <a:lstStyle/>
          <a:p>
            <a:pPr marL="0" indent="0" algn="ctr">
              <a:buNone/>
            </a:pPr>
            <a:r>
              <a:rPr lang="en-US" sz="3600" b="1" dirty="0">
                <a:solidFill>
                  <a:srgbClr val="00BFA5"/>
                </a:solidFill>
              </a:rPr>
              <a:t>3:1</a:t>
            </a:r>
            <a:endParaRPr lang="en-US" sz="3600" dirty="0"/>
          </a:p>
        </p:txBody>
      </p:sp>
      <p:sp>
        <p:nvSpPr>
          <p:cNvPr id="12" name="Text 10"/>
          <p:cNvSpPr/>
          <p:nvPr/>
        </p:nvSpPr>
        <p:spPr>
          <a:xfrm>
            <a:off x="6126480" y="2103120"/>
            <a:ext cx="2560320" cy="868680"/>
          </a:xfrm>
          <a:prstGeom prst="rect">
            <a:avLst/>
          </a:prstGeom>
          <a:noFill/>
          <a:ln/>
        </p:spPr>
        <p:txBody>
          <a:bodyPr wrap="square" lIns="0" tIns="0" rIns="0" bIns="0" rtlCol="0" anchor="ctr"/>
          <a:lstStyle/>
          <a:p>
            <a:pPr marL="0" indent="0" algn="ctr">
              <a:buNone/>
            </a:pPr>
            <a:r>
              <a:rPr lang="en-US" sz="1200" dirty="0">
                <a:solidFill>
                  <a:srgbClr val="E8F4F8"/>
                </a:solidFill>
              </a:rPr>
              <a:t>appeal ROI —</a:t>
            </a:r>
            <a:endParaRPr lang="en-US" sz="1200" dirty="0"/>
          </a:p>
          <a:p>
            <a:pPr marL="0" indent="0" algn="ctr">
              <a:buNone/>
            </a:pPr>
            <a:r>
              <a:rPr lang="en-US" sz="1200" dirty="0">
                <a:solidFill>
                  <a:srgbClr val="E8F4F8"/>
                </a:solidFill>
              </a:rPr>
              <a:t>the opportunity</a:t>
            </a:r>
            <a:endParaRPr lang="en-US" sz="1200" dirty="0"/>
          </a:p>
          <a:p>
            <a:pPr marL="0" indent="0" algn="ctr">
              <a:buNone/>
            </a:pPr>
            <a:r>
              <a:rPr lang="en-US" sz="1200" dirty="0">
                <a:solidFill>
                  <a:srgbClr val="E8F4F8"/>
                </a:solidFill>
              </a:rPr>
              <a:t>is sitting there</a:t>
            </a:r>
            <a:endParaRPr lang="en-US" sz="1200" dirty="0"/>
          </a:p>
        </p:txBody>
      </p:sp>
      <p:sp>
        <p:nvSpPr>
          <p:cNvPr id="13" name="Text 11"/>
          <p:cNvSpPr/>
          <p:nvPr/>
        </p:nvSpPr>
        <p:spPr>
          <a:xfrm>
            <a:off x="457200" y="3566160"/>
            <a:ext cx="8229600" cy="274320"/>
          </a:xfrm>
          <a:prstGeom prst="rect">
            <a:avLst/>
          </a:prstGeom>
          <a:noFill/>
          <a:ln/>
        </p:spPr>
        <p:txBody>
          <a:bodyPr wrap="square" rtlCol="0" anchor="ctr"/>
          <a:lstStyle/>
          <a:p>
            <a:pPr marL="0" indent="0">
              <a:buNone/>
            </a:pPr>
            <a:r>
              <a:rPr lang="en-US" sz="1300" b="1" dirty="0">
                <a:solidFill>
                  <a:srgbClr val="0B1A2E"/>
                </a:solidFill>
              </a:rPr>
              <a:t>Why appeals don't happen:</a:t>
            </a:r>
            <a:endParaRPr lang="en-US" sz="1300" dirty="0"/>
          </a:p>
        </p:txBody>
      </p:sp>
      <p:sp>
        <p:nvSpPr>
          <p:cNvPr id="14" name="Shape 12"/>
          <p:cNvSpPr/>
          <p:nvPr/>
        </p:nvSpPr>
        <p:spPr>
          <a:xfrm>
            <a:off x="457200" y="3913632"/>
            <a:ext cx="1572768" cy="685800"/>
          </a:xfrm>
          <a:prstGeom prst="roundRect">
            <a:avLst>
              <a:gd name="adj" fmla="val 10667"/>
            </a:avLst>
          </a:prstGeom>
          <a:solidFill>
            <a:srgbClr val="162D4A"/>
          </a:solidFill>
          <a:ln/>
          <a:effectLst>
            <a:outerShdw blurRad="76200" dist="25400" dir="2700000" algn="bl" rotWithShape="0">
              <a:srgbClr val="000000">
                <a:alpha val="10000"/>
              </a:srgbClr>
            </a:outerShdw>
          </a:effectLst>
        </p:spPr>
        <p:txBody>
          <a:bodyPr/>
          <a:lstStyle/>
          <a:p>
            <a:endParaRPr lang="en-US"/>
          </a:p>
        </p:txBody>
      </p:sp>
      <p:sp>
        <p:nvSpPr>
          <p:cNvPr id="15" name="Text 13"/>
          <p:cNvSpPr/>
          <p:nvPr/>
        </p:nvSpPr>
        <p:spPr>
          <a:xfrm>
            <a:off x="457200" y="3913632"/>
            <a:ext cx="1572768" cy="685800"/>
          </a:xfrm>
          <a:prstGeom prst="rect">
            <a:avLst/>
          </a:prstGeom>
          <a:noFill/>
          <a:ln/>
        </p:spPr>
        <p:txBody>
          <a:bodyPr wrap="square" lIns="50800" tIns="50800" rIns="50800" bIns="50800" rtlCol="0" anchor="ctr"/>
          <a:lstStyle/>
          <a:p>
            <a:pPr marL="0" indent="0" algn="ctr">
              <a:buNone/>
            </a:pPr>
            <a:r>
              <a:rPr lang="en-US" sz="900" dirty="0">
                <a:solidFill>
                  <a:srgbClr val="E8F4F8"/>
                </a:solidFill>
              </a:rPr>
              <a:t>Download denial from payer portal</a:t>
            </a:r>
            <a:endParaRPr lang="en-US" sz="900" dirty="0"/>
          </a:p>
        </p:txBody>
      </p:sp>
      <p:sp>
        <p:nvSpPr>
          <p:cNvPr id="16" name="Shape 14"/>
          <p:cNvSpPr/>
          <p:nvPr/>
        </p:nvSpPr>
        <p:spPr>
          <a:xfrm>
            <a:off x="2157984" y="3913632"/>
            <a:ext cx="1572768" cy="685800"/>
          </a:xfrm>
          <a:prstGeom prst="roundRect">
            <a:avLst>
              <a:gd name="adj" fmla="val 10667"/>
            </a:avLst>
          </a:prstGeom>
          <a:solidFill>
            <a:srgbClr val="162D4A"/>
          </a:solidFill>
          <a:ln/>
          <a:effectLst>
            <a:outerShdw blurRad="76200" dist="25400" dir="2700000" algn="bl" rotWithShape="0">
              <a:srgbClr val="000000">
                <a:alpha val="10000"/>
              </a:srgbClr>
            </a:outerShdw>
          </a:effectLst>
        </p:spPr>
        <p:txBody>
          <a:bodyPr/>
          <a:lstStyle/>
          <a:p>
            <a:endParaRPr lang="en-US"/>
          </a:p>
        </p:txBody>
      </p:sp>
      <p:sp>
        <p:nvSpPr>
          <p:cNvPr id="17" name="Text 15"/>
          <p:cNvSpPr/>
          <p:nvPr/>
        </p:nvSpPr>
        <p:spPr>
          <a:xfrm>
            <a:off x="2157984" y="3913632"/>
            <a:ext cx="1572768" cy="685800"/>
          </a:xfrm>
          <a:prstGeom prst="rect">
            <a:avLst/>
          </a:prstGeom>
          <a:noFill/>
          <a:ln/>
        </p:spPr>
        <p:txBody>
          <a:bodyPr wrap="square" lIns="50800" tIns="50800" rIns="50800" bIns="50800" rtlCol="0" anchor="ctr"/>
          <a:lstStyle/>
          <a:p>
            <a:pPr marL="0" indent="0" algn="ctr">
              <a:buNone/>
            </a:pPr>
            <a:r>
              <a:rPr lang="en-US" sz="900" dirty="0">
                <a:solidFill>
                  <a:srgbClr val="E8F4F8"/>
                </a:solidFill>
              </a:rPr>
              <a:t>Look up CARC/RARC reason codes</a:t>
            </a:r>
            <a:endParaRPr lang="en-US" sz="900" dirty="0"/>
          </a:p>
        </p:txBody>
      </p:sp>
      <p:sp>
        <p:nvSpPr>
          <p:cNvPr id="18" name="Shape 16"/>
          <p:cNvSpPr/>
          <p:nvPr/>
        </p:nvSpPr>
        <p:spPr>
          <a:xfrm>
            <a:off x="3858768" y="3913632"/>
            <a:ext cx="1572768" cy="685800"/>
          </a:xfrm>
          <a:prstGeom prst="roundRect">
            <a:avLst>
              <a:gd name="adj" fmla="val 10667"/>
            </a:avLst>
          </a:prstGeom>
          <a:solidFill>
            <a:srgbClr val="162D4A"/>
          </a:solidFill>
          <a:ln/>
          <a:effectLst>
            <a:outerShdw blurRad="76200" dist="25400" dir="2700000" algn="bl" rotWithShape="0">
              <a:srgbClr val="000000">
                <a:alpha val="10000"/>
              </a:srgbClr>
            </a:outerShdw>
          </a:effectLst>
        </p:spPr>
        <p:txBody>
          <a:bodyPr/>
          <a:lstStyle/>
          <a:p>
            <a:endParaRPr lang="en-US"/>
          </a:p>
        </p:txBody>
      </p:sp>
      <p:sp>
        <p:nvSpPr>
          <p:cNvPr id="19" name="Text 17"/>
          <p:cNvSpPr/>
          <p:nvPr/>
        </p:nvSpPr>
        <p:spPr>
          <a:xfrm>
            <a:off x="3858768" y="3913632"/>
            <a:ext cx="1572768" cy="685800"/>
          </a:xfrm>
          <a:prstGeom prst="rect">
            <a:avLst/>
          </a:prstGeom>
          <a:noFill/>
          <a:ln/>
        </p:spPr>
        <p:txBody>
          <a:bodyPr wrap="square" lIns="50800" tIns="50800" rIns="50800" bIns="50800" rtlCol="0" anchor="ctr"/>
          <a:lstStyle/>
          <a:p>
            <a:pPr marL="0" indent="0" algn="ctr">
              <a:buNone/>
            </a:pPr>
            <a:r>
              <a:rPr lang="en-US" sz="900" dirty="0">
                <a:solidFill>
                  <a:srgbClr val="E8F4F8"/>
                </a:solidFill>
              </a:rPr>
              <a:t>Pull the patient chart from EMR</a:t>
            </a:r>
            <a:endParaRPr lang="en-US" sz="900" dirty="0"/>
          </a:p>
        </p:txBody>
      </p:sp>
      <p:sp>
        <p:nvSpPr>
          <p:cNvPr id="20" name="Shape 18"/>
          <p:cNvSpPr/>
          <p:nvPr/>
        </p:nvSpPr>
        <p:spPr>
          <a:xfrm>
            <a:off x="5559552" y="3913632"/>
            <a:ext cx="1572768" cy="685800"/>
          </a:xfrm>
          <a:prstGeom prst="roundRect">
            <a:avLst>
              <a:gd name="adj" fmla="val 10667"/>
            </a:avLst>
          </a:prstGeom>
          <a:solidFill>
            <a:srgbClr val="162D4A"/>
          </a:solidFill>
          <a:ln/>
          <a:effectLst>
            <a:outerShdw blurRad="76200" dist="25400" dir="2700000" algn="bl" rotWithShape="0">
              <a:srgbClr val="000000">
                <a:alpha val="10000"/>
              </a:srgbClr>
            </a:outerShdw>
          </a:effectLst>
        </p:spPr>
        <p:txBody>
          <a:bodyPr/>
          <a:lstStyle/>
          <a:p>
            <a:endParaRPr lang="en-US"/>
          </a:p>
        </p:txBody>
      </p:sp>
      <p:sp>
        <p:nvSpPr>
          <p:cNvPr id="21" name="Text 19"/>
          <p:cNvSpPr/>
          <p:nvPr/>
        </p:nvSpPr>
        <p:spPr>
          <a:xfrm>
            <a:off x="5559552" y="3913632"/>
            <a:ext cx="1572768" cy="685800"/>
          </a:xfrm>
          <a:prstGeom prst="rect">
            <a:avLst/>
          </a:prstGeom>
          <a:noFill/>
          <a:ln/>
        </p:spPr>
        <p:txBody>
          <a:bodyPr wrap="square" lIns="50800" tIns="50800" rIns="50800" bIns="50800" rtlCol="0" anchor="ctr"/>
          <a:lstStyle/>
          <a:p>
            <a:pPr marL="0" indent="0" algn="ctr">
              <a:buNone/>
            </a:pPr>
            <a:r>
              <a:rPr lang="en-US" sz="900" dirty="0">
                <a:solidFill>
                  <a:srgbClr val="E8F4F8"/>
                </a:solidFill>
              </a:rPr>
              <a:t>Write a payer-specific appeal letter</a:t>
            </a:r>
            <a:endParaRPr lang="en-US" sz="900" dirty="0"/>
          </a:p>
        </p:txBody>
      </p:sp>
      <p:sp>
        <p:nvSpPr>
          <p:cNvPr id="22" name="Shape 20"/>
          <p:cNvSpPr/>
          <p:nvPr/>
        </p:nvSpPr>
        <p:spPr>
          <a:xfrm>
            <a:off x="7260336" y="3913632"/>
            <a:ext cx="1572768" cy="685800"/>
          </a:xfrm>
          <a:prstGeom prst="roundRect">
            <a:avLst>
              <a:gd name="adj" fmla="val 10667"/>
            </a:avLst>
          </a:prstGeom>
          <a:solidFill>
            <a:srgbClr val="162D4A"/>
          </a:solidFill>
          <a:ln/>
          <a:effectLst>
            <a:outerShdw blurRad="76200" dist="25400" dir="2700000" algn="bl" rotWithShape="0">
              <a:srgbClr val="000000">
                <a:alpha val="10000"/>
              </a:srgbClr>
            </a:outerShdw>
          </a:effectLst>
        </p:spPr>
        <p:txBody>
          <a:bodyPr/>
          <a:lstStyle/>
          <a:p>
            <a:endParaRPr lang="en-US"/>
          </a:p>
        </p:txBody>
      </p:sp>
      <p:sp>
        <p:nvSpPr>
          <p:cNvPr id="23" name="Text 21"/>
          <p:cNvSpPr/>
          <p:nvPr/>
        </p:nvSpPr>
        <p:spPr>
          <a:xfrm>
            <a:off x="7260336" y="3913632"/>
            <a:ext cx="1572768" cy="685800"/>
          </a:xfrm>
          <a:prstGeom prst="rect">
            <a:avLst/>
          </a:prstGeom>
          <a:noFill/>
          <a:ln/>
        </p:spPr>
        <p:txBody>
          <a:bodyPr wrap="square" lIns="50800" tIns="50800" rIns="50800" bIns="50800" rtlCol="0" anchor="ctr"/>
          <a:lstStyle/>
          <a:p>
            <a:pPr marL="0" indent="0" algn="ctr">
              <a:buNone/>
            </a:pPr>
            <a:r>
              <a:rPr lang="en-US" sz="900" dirty="0">
                <a:solidFill>
                  <a:srgbClr val="E8F4F8"/>
                </a:solidFill>
              </a:rPr>
              <a:t>Submit + track in a spreadsheet</a:t>
            </a:r>
            <a:endParaRPr lang="en-US" sz="900" dirty="0"/>
          </a:p>
        </p:txBody>
      </p:sp>
      <p:sp>
        <p:nvSpPr>
          <p:cNvPr id="24" name="Text 22"/>
          <p:cNvSpPr/>
          <p:nvPr/>
        </p:nvSpPr>
        <p:spPr>
          <a:xfrm>
            <a:off x="457200" y="4736592"/>
            <a:ext cx="8229600" cy="256032"/>
          </a:xfrm>
          <a:prstGeom prst="rect">
            <a:avLst/>
          </a:prstGeom>
          <a:noFill/>
          <a:ln/>
        </p:spPr>
        <p:txBody>
          <a:bodyPr wrap="square" rtlCol="0" anchor="ctr"/>
          <a:lstStyle/>
          <a:p>
            <a:pPr marL="0" indent="0" algn="ctr">
              <a:buNone/>
            </a:pPr>
            <a:r>
              <a:rPr lang="en-US" sz="1000" b="1" dirty="0">
                <a:solidFill>
                  <a:srgbClr val="EF5350"/>
                </a:solidFill>
              </a:rPr>
              <a:t>= 45–60 min per appeal · 500–1,000 denials/month · only 20–30% worked before deadlines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2E"/>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The Solution</a:t>
            </a:r>
            <a:endParaRPr lang="en-US" sz="32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i="1" dirty="0">
                <a:solidFill>
                  <a:srgbClr val="00BFA5"/>
                </a:solidFill>
              </a:rPr>
              <a:t>Agentic case orchestration on UiPath Maestro — ingest, classify, handle, track, learn</a:t>
            </a:r>
            <a:endParaRPr lang="en-US" sz="1300" dirty="0"/>
          </a:p>
        </p:txBody>
      </p:sp>
      <p:sp>
        <p:nvSpPr>
          <p:cNvPr id="4" name="Shape 2"/>
          <p:cNvSpPr/>
          <p:nvPr/>
        </p:nvSpPr>
        <p:spPr>
          <a:xfrm>
            <a:off x="457200" y="1261872"/>
            <a:ext cx="1965960" cy="3200400"/>
          </a:xfrm>
          <a:prstGeom prst="roundRect">
            <a:avLst>
              <a:gd name="adj" fmla="val 5581"/>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1207008" y="1417320"/>
            <a:ext cx="457200" cy="457200"/>
          </a:xfrm>
          <a:prstGeom prst="rect">
            <a:avLst/>
          </a:prstGeom>
        </p:spPr>
      </p:pic>
      <p:sp>
        <p:nvSpPr>
          <p:cNvPr id="6" name="Text 3"/>
          <p:cNvSpPr/>
          <p:nvPr/>
        </p:nvSpPr>
        <p:spPr>
          <a:xfrm>
            <a:off x="457200" y="2011680"/>
            <a:ext cx="1965960" cy="438912"/>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Ingest Any Source</a:t>
            </a:r>
            <a:endParaRPr lang="en-US" sz="1300" dirty="0"/>
          </a:p>
        </p:txBody>
      </p:sp>
      <p:sp>
        <p:nvSpPr>
          <p:cNvPr id="7" name="Text 4"/>
          <p:cNvSpPr/>
          <p:nvPr/>
        </p:nvSpPr>
        <p:spPr>
          <a:xfrm>
            <a:off x="457200" y="2468880"/>
            <a:ext cx="1965960" cy="1645920"/>
          </a:xfrm>
          <a:prstGeom prst="rect">
            <a:avLst/>
          </a:prstGeom>
          <a:noFill/>
          <a:ln/>
        </p:spPr>
        <p:txBody>
          <a:bodyPr wrap="square" lIns="101600" tIns="101600" rIns="101600" bIns="101600" rtlCol="0" anchor="t"/>
          <a:lstStyle/>
          <a:p>
            <a:pPr marL="0" indent="0" algn="ctr">
              <a:buNone/>
            </a:pPr>
            <a:r>
              <a:rPr lang="en-US" sz="1050" dirty="0">
                <a:solidFill>
                  <a:srgbClr val="7BA3C0"/>
                </a:solidFill>
              </a:rPr>
              <a:t>835 ERA files · Payer portal RPA · Faxed denial letters via Document Understanding</a:t>
            </a:r>
            <a:endParaRPr lang="en-US" sz="1050" dirty="0"/>
          </a:p>
        </p:txBody>
      </p:sp>
      <p:sp>
        <p:nvSpPr>
          <p:cNvPr id="8" name="Shape 5"/>
          <p:cNvSpPr/>
          <p:nvPr/>
        </p:nvSpPr>
        <p:spPr>
          <a:xfrm>
            <a:off x="2606040" y="1261872"/>
            <a:ext cx="1965960" cy="3200400"/>
          </a:xfrm>
          <a:prstGeom prst="roundRect">
            <a:avLst>
              <a:gd name="adj" fmla="val 5581"/>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3355848" y="1417320"/>
            <a:ext cx="457200" cy="457200"/>
          </a:xfrm>
          <a:prstGeom prst="rect">
            <a:avLst/>
          </a:prstGeom>
        </p:spPr>
      </p:pic>
      <p:sp>
        <p:nvSpPr>
          <p:cNvPr id="10" name="Text 6"/>
          <p:cNvSpPr/>
          <p:nvPr/>
        </p:nvSpPr>
        <p:spPr>
          <a:xfrm>
            <a:off x="2606040" y="2011680"/>
            <a:ext cx="1965960" cy="438912"/>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Classify &amp; Route</a:t>
            </a:r>
            <a:endParaRPr lang="en-US" sz="1300" dirty="0"/>
          </a:p>
        </p:txBody>
      </p:sp>
      <p:sp>
        <p:nvSpPr>
          <p:cNvPr id="11" name="Text 7"/>
          <p:cNvSpPr/>
          <p:nvPr/>
        </p:nvSpPr>
        <p:spPr>
          <a:xfrm>
            <a:off x="2606040" y="2468880"/>
            <a:ext cx="1965960" cy="1645920"/>
          </a:xfrm>
          <a:prstGeom prst="rect">
            <a:avLst/>
          </a:prstGeom>
          <a:noFill/>
          <a:ln/>
        </p:spPr>
        <p:txBody>
          <a:bodyPr wrap="square" lIns="101600" tIns="101600" rIns="101600" bIns="101600" rtlCol="0" anchor="t"/>
          <a:lstStyle/>
          <a:p>
            <a:pPr marL="0" indent="0" algn="ctr">
              <a:buNone/>
            </a:pPr>
            <a:r>
              <a:rPr lang="en-US" sz="1050" dirty="0">
                <a:solidFill>
                  <a:srgbClr val="7BA3C0"/>
                </a:solidFill>
              </a:rPr>
              <a:t>Classification agent maps each denial to 1 of 5 routes in seconds using CARC/RARC logic</a:t>
            </a:r>
            <a:endParaRPr lang="en-US" sz="1050" dirty="0"/>
          </a:p>
        </p:txBody>
      </p:sp>
      <p:sp>
        <p:nvSpPr>
          <p:cNvPr id="12" name="Shape 8"/>
          <p:cNvSpPr/>
          <p:nvPr/>
        </p:nvSpPr>
        <p:spPr>
          <a:xfrm>
            <a:off x="4754880" y="1261872"/>
            <a:ext cx="1965960" cy="3200400"/>
          </a:xfrm>
          <a:prstGeom prst="roundRect">
            <a:avLst>
              <a:gd name="adj" fmla="val 5581"/>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5504688" y="1417320"/>
            <a:ext cx="457200" cy="457200"/>
          </a:xfrm>
          <a:prstGeom prst="rect">
            <a:avLst/>
          </a:prstGeom>
        </p:spPr>
      </p:pic>
      <p:sp>
        <p:nvSpPr>
          <p:cNvPr id="14" name="Text 9"/>
          <p:cNvSpPr/>
          <p:nvPr/>
        </p:nvSpPr>
        <p:spPr>
          <a:xfrm>
            <a:off x="4754880" y="2011680"/>
            <a:ext cx="1965960" cy="438912"/>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Human in the Loop</a:t>
            </a:r>
            <a:endParaRPr lang="en-US" sz="1300" dirty="0"/>
          </a:p>
        </p:txBody>
      </p:sp>
      <p:sp>
        <p:nvSpPr>
          <p:cNvPr id="15" name="Text 10"/>
          <p:cNvSpPr/>
          <p:nvPr/>
        </p:nvSpPr>
        <p:spPr>
          <a:xfrm>
            <a:off x="4754880" y="2468880"/>
            <a:ext cx="1965960" cy="1645920"/>
          </a:xfrm>
          <a:prstGeom prst="rect">
            <a:avLst/>
          </a:prstGeom>
          <a:noFill/>
          <a:ln/>
        </p:spPr>
        <p:txBody>
          <a:bodyPr wrap="square" lIns="101600" tIns="101600" rIns="101600" bIns="101600" rtlCol="0" anchor="t"/>
          <a:lstStyle/>
          <a:p>
            <a:pPr marL="0" indent="0" algn="ctr">
              <a:buNone/>
            </a:pPr>
            <a:r>
              <a:rPr lang="en-US" sz="1050" dirty="0">
                <a:solidFill>
                  <a:srgbClr val="7BA3C0"/>
                </a:solidFill>
              </a:rPr>
              <a:t>Physician attestation for medical necessity — SB 1120 compliant by architecture</a:t>
            </a:r>
            <a:endParaRPr lang="en-US" sz="1050" dirty="0"/>
          </a:p>
        </p:txBody>
      </p:sp>
      <p:sp>
        <p:nvSpPr>
          <p:cNvPr id="16" name="Shape 11"/>
          <p:cNvSpPr/>
          <p:nvPr/>
        </p:nvSpPr>
        <p:spPr>
          <a:xfrm>
            <a:off x="6903720" y="1261872"/>
            <a:ext cx="1965960" cy="3200400"/>
          </a:xfrm>
          <a:prstGeom prst="roundRect">
            <a:avLst>
              <a:gd name="adj" fmla="val 5581"/>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7653528" y="1417320"/>
            <a:ext cx="457200" cy="457200"/>
          </a:xfrm>
          <a:prstGeom prst="rect">
            <a:avLst/>
          </a:prstGeom>
        </p:spPr>
      </p:pic>
      <p:sp>
        <p:nvSpPr>
          <p:cNvPr id="18" name="Text 12"/>
          <p:cNvSpPr/>
          <p:nvPr/>
        </p:nvSpPr>
        <p:spPr>
          <a:xfrm>
            <a:off x="6903720" y="2011680"/>
            <a:ext cx="1965960" cy="438912"/>
          </a:xfrm>
          <a:prstGeom prst="rect">
            <a:avLst/>
          </a:prstGeom>
          <a:noFill/>
          <a:ln/>
        </p:spPr>
        <p:txBody>
          <a:bodyPr wrap="square" lIns="50800" tIns="50800" rIns="50800" bIns="50800" rtlCol="0" anchor="ctr"/>
          <a:lstStyle/>
          <a:p>
            <a:pPr marL="0" indent="0" algn="ctr">
              <a:buNone/>
            </a:pPr>
            <a:r>
              <a:rPr lang="en-US" sz="1300" b="1" dirty="0">
                <a:solidFill>
                  <a:srgbClr val="FFFFFF"/>
                </a:solidFill>
              </a:rPr>
              <a:t>Learn &amp; Improve</a:t>
            </a:r>
            <a:endParaRPr lang="en-US" sz="1300" dirty="0"/>
          </a:p>
        </p:txBody>
      </p:sp>
      <p:sp>
        <p:nvSpPr>
          <p:cNvPr id="19" name="Text 13"/>
          <p:cNvSpPr/>
          <p:nvPr/>
        </p:nvSpPr>
        <p:spPr>
          <a:xfrm>
            <a:off x="6903720" y="2468880"/>
            <a:ext cx="1965960" cy="1645920"/>
          </a:xfrm>
          <a:prstGeom prst="rect">
            <a:avLst/>
          </a:prstGeom>
          <a:noFill/>
          <a:ln/>
        </p:spPr>
        <p:txBody>
          <a:bodyPr wrap="square" lIns="101600" tIns="101600" rIns="101600" bIns="101600" rtlCol="0" anchor="t"/>
          <a:lstStyle/>
          <a:p>
            <a:pPr marL="0" indent="0" algn="ctr">
              <a:buNone/>
            </a:pPr>
            <a:r>
              <a:rPr lang="en-US" sz="1050" dirty="0">
                <a:solidFill>
                  <a:srgbClr val="7BA3C0"/>
                </a:solidFill>
              </a:rPr>
              <a:t>Win-rate analytics by payer/denial-type feed back into the appeal template library</a:t>
            </a:r>
            <a:endParaRPr lang="en-US" sz="1050" dirty="0"/>
          </a:p>
        </p:txBody>
      </p:sp>
      <p:sp>
        <p:nvSpPr>
          <p:cNvPr id="20" name="Shape 14"/>
          <p:cNvSpPr/>
          <p:nvPr/>
        </p:nvSpPr>
        <p:spPr>
          <a:xfrm>
            <a:off x="457200" y="4617720"/>
            <a:ext cx="8229600" cy="320040"/>
          </a:xfrm>
          <a:prstGeom prst="roundRect">
            <a:avLst>
              <a:gd name="adj" fmla="val 22857"/>
            </a:avLst>
          </a:prstGeom>
          <a:solidFill>
            <a:srgbClr val="162D4A"/>
          </a:solidFill>
          <a:ln/>
        </p:spPr>
        <p:txBody>
          <a:bodyPr/>
          <a:lstStyle/>
          <a:p>
            <a:endParaRPr lang="en-US"/>
          </a:p>
        </p:txBody>
      </p:sp>
      <p:sp>
        <p:nvSpPr>
          <p:cNvPr id="21" name="Text 15"/>
          <p:cNvSpPr/>
          <p:nvPr/>
        </p:nvSpPr>
        <p:spPr>
          <a:xfrm>
            <a:off x="457200" y="4617720"/>
            <a:ext cx="8229600" cy="320040"/>
          </a:xfrm>
          <a:prstGeom prst="rect">
            <a:avLst/>
          </a:prstGeom>
          <a:noFill/>
          <a:ln/>
        </p:spPr>
        <p:txBody>
          <a:bodyPr wrap="square" lIns="0" tIns="0" rIns="0" bIns="0" rtlCol="0" anchor="ctr"/>
          <a:lstStyle/>
          <a:p>
            <a:pPr marL="0" indent="0" algn="ctr">
              <a:buNone/>
            </a:pPr>
            <a:r>
              <a:rPr lang="en-US" sz="1000" b="1" dirty="0">
                <a:solidFill>
                  <a:srgbClr val="00BFA5"/>
                </a:solidFill>
              </a:rPr>
              <a:t>Built 100% on UiPath Cloud: Studio Web · Agent Builder · Maestro BPMN · Data Fabric · Action Center · Apps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marL="0" indent="0">
              <a:buNone/>
            </a:pPr>
            <a:r>
              <a:rPr lang="en-US" sz="2800" b="1" dirty="0">
                <a:solidFill>
                  <a:srgbClr val="0B1A2E"/>
                </a:solidFill>
                <a:latin typeface="Calibri" pitchFamily="34" charset="0"/>
                <a:ea typeface="Calibri" pitchFamily="34" charset="-122"/>
                <a:cs typeface="Calibri" pitchFamily="34" charset="-120"/>
              </a:rPr>
              <a:t>5 Denial Routes, Handled End-to-End</a:t>
            </a:r>
            <a:endParaRPr lang="en-US" sz="2800" dirty="0"/>
          </a:p>
        </p:txBody>
      </p:sp>
      <p:sp>
        <p:nvSpPr>
          <p:cNvPr id="3" name="Text 1"/>
          <p:cNvSpPr/>
          <p:nvPr/>
        </p:nvSpPr>
        <p:spPr>
          <a:xfrm>
            <a:off x="457200" y="749808"/>
            <a:ext cx="8229600" cy="274320"/>
          </a:xfrm>
          <a:prstGeom prst="rect">
            <a:avLst/>
          </a:prstGeom>
          <a:noFill/>
          <a:ln/>
        </p:spPr>
        <p:txBody>
          <a:bodyPr wrap="square" rtlCol="0" anchor="ctr"/>
          <a:lstStyle/>
          <a:p>
            <a:pPr marL="0" indent="0">
              <a:buNone/>
            </a:pPr>
            <a:r>
              <a:rPr lang="en-US" sz="1200" i="1" dirty="0">
                <a:solidFill>
                  <a:srgbClr val="3B5A78"/>
                </a:solidFill>
              </a:rPr>
              <a:t>Classification agent maps CARC/RARC to a deterministic route in &lt;1 second</a:t>
            </a:r>
            <a:endParaRPr lang="en-US" sz="1200" dirty="0"/>
          </a:p>
        </p:txBody>
      </p:sp>
      <p:sp>
        <p:nvSpPr>
          <p:cNvPr id="4" name="Shape 2"/>
          <p:cNvSpPr/>
          <p:nvPr/>
        </p:nvSpPr>
        <p:spPr>
          <a:xfrm>
            <a:off x="741144" y="1280160"/>
            <a:ext cx="7945655" cy="566928"/>
          </a:xfrm>
          <a:prstGeom prst="roundRect">
            <a:avLst>
              <a:gd name="adj" fmla="val 975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629994" y="1411298"/>
            <a:ext cx="229541" cy="179758"/>
          </a:xfrm>
          <a:prstGeom prst="ellipse">
            <a:avLst/>
          </a:prstGeom>
          <a:solidFill>
            <a:srgbClr val="EF5350"/>
          </a:solidFill>
          <a:ln w="12700">
            <a:solidFill>
              <a:srgbClr val="EF5350"/>
            </a:solidFill>
            <a:prstDash val="solid"/>
          </a:ln>
        </p:spPr>
        <p:txBody>
          <a:bodyPr/>
          <a:lstStyle/>
          <a:p>
            <a:endParaRPr lang="en-US"/>
          </a:p>
        </p:txBody>
      </p:sp>
      <p:sp>
        <p:nvSpPr>
          <p:cNvPr id="6" name="Text 4"/>
          <p:cNvSpPr/>
          <p:nvPr/>
        </p:nvSpPr>
        <p:spPr>
          <a:xfrm>
            <a:off x="1016588" y="1310737"/>
            <a:ext cx="2648552" cy="221240"/>
          </a:xfrm>
          <a:prstGeom prst="rect">
            <a:avLst/>
          </a:prstGeom>
          <a:noFill/>
          <a:ln/>
        </p:spPr>
        <p:txBody>
          <a:bodyPr wrap="square" lIns="0" tIns="0" rIns="0" bIns="0" rtlCol="0" anchor="ctr"/>
          <a:lstStyle/>
          <a:p>
            <a:pPr marL="0" indent="0">
              <a:buNone/>
            </a:pPr>
            <a:r>
              <a:rPr lang="en-US" sz="1250" b="1" dirty="0">
                <a:solidFill>
                  <a:srgbClr val="0B1A2E"/>
                </a:solidFill>
              </a:rPr>
              <a:t>Medical Necessity</a:t>
            </a:r>
            <a:endParaRPr lang="en-US" sz="1250" dirty="0"/>
          </a:p>
        </p:txBody>
      </p:sp>
      <p:sp>
        <p:nvSpPr>
          <p:cNvPr id="7" name="Text 5"/>
          <p:cNvSpPr/>
          <p:nvPr/>
        </p:nvSpPr>
        <p:spPr>
          <a:xfrm>
            <a:off x="1016588" y="1630144"/>
            <a:ext cx="1324276" cy="165930"/>
          </a:xfrm>
          <a:prstGeom prst="rect">
            <a:avLst/>
          </a:prstGeom>
          <a:noFill/>
          <a:ln/>
        </p:spPr>
        <p:txBody>
          <a:bodyPr wrap="square" lIns="0" tIns="0" rIns="0" bIns="0" rtlCol="0" anchor="ctr"/>
          <a:lstStyle/>
          <a:p>
            <a:pPr marL="0" indent="0">
              <a:buNone/>
            </a:pPr>
            <a:r>
              <a:rPr lang="en-US" sz="900" dirty="0">
                <a:solidFill>
                  <a:srgbClr val="7BA3C0"/>
                </a:solidFill>
              </a:rPr>
              <a:t>CO-50, CO-151</a:t>
            </a:r>
            <a:endParaRPr lang="en-US" sz="900" dirty="0"/>
          </a:p>
        </p:txBody>
      </p:sp>
      <p:sp>
        <p:nvSpPr>
          <p:cNvPr id="8" name="Text 6"/>
          <p:cNvSpPr/>
          <p:nvPr/>
        </p:nvSpPr>
        <p:spPr>
          <a:xfrm>
            <a:off x="2661332" y="1326994"/>
            <a:ext cx="5385388" cy="428653"/>
          </a:xfrm>
          <a:prstGeom prst="rect">
            <a:avLst/>
          </a:prstGeom>
          <a:noFill/>
          <a:ln/>
        </p:spPr>
        <p:txBody>
          <a:bodyPr wrap="square" lIns="0" tIns="0" rIns="0" bIns="0" rtlCol="0" anchor="ctr"/>
          <a:lstStyle/>
          <a:p>
            <a:pPr marL="0" indent="0">
              <a:buNone/>
            </a:pPr>
            <a:r>
              <a:rPr lang="en-US" sz="1000" i="1" dirty="0">
                <a:solidFill>
                  <a:srgbClr val="3B5A78"/>
                </a:solidFill>
              </a:rPr>
              <a:t>RAG over payer policy → AI appeal draft → physician sign-off (SB 1120)</a:t>
            </a:r>
            <a:endParaRPr lang="en-US" sz="1000" dirty="0"/>
          </a:p>
        </p:txBody>
      </p:sp>
      <p:sp>
        <p:nvSpPr>
          <p:cNvPr id="11" name="Shape 9"/>
          <p:cNvSpPr/>
          <p:nvPr/>
        </p:nvSpPr>
        <p:spPr>
          <a:xfrm>
            <a:off x="741144" y="1908688"/>
            <a:ext cx="7945655" cy="566928"/>
          </a:xfrm>
          <a:prstGeom prst="roundRect">
            <a:avLst>
              <a:gd name="adj" fmla="val 975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2" name="Shape 10"/>
          <p:cNvSpPr/>
          <p:nvPr/>
        </p:nvSpPr>
        <p:spPr>
          <a:xfrm>
            <a:off x="629994" y="2039826"/>
            <a:ext cx="229541" cy="179758"/>
          </a:xfrm>
          <a:prstGeom prst="ellipse">
            <a:avLst/>
          </a:prstGeom>
          <a:solidFill>
            <a:srgbClr val="FB7185"/>
          </a:solidFill>
          <a:ln w="12700">
            <a:solidFill>
              <a:srgbClr val="FB7185"/>
            </a:solidFill>
            <a:prstDash val="solid"/>
          </a:ln>
        </p:spPr>
        <p:txBody>
          <a:bodyPr/>
          <a:lstStyle/>
          <a:p>
            <a:endParaRPr lang="en-US"/>
          </a:p>
        </p:txBody>
      </p:sp>
      <p:sp>
        <p:nvSpPr>
          <p:cNvPr id="13" name="Text 11"/>
          <p:cNvSpPr/>
          <p:nvPr/>
        </p:nvSpPr>
        <p:spPr>
          <a:xfrm>
            <a:off x="1063912" y="1929042"/>
            <a:ext cx="2648552" cy="221240"/>
          </a:xfrm>
          <a:prstGeom prst="rect">
            <a:avLst/>
          </a:prstGeom>
          <a:noFill/>
          <a:ln/>
        </p:spPr>
        <p:txBody>
          <a:bodyPr wrap="square" lIns="0" tIns="0" rIns="0" bIns="0" rtlCol="0" anchor="ctr"/>
          <a:lstStyle/>
          <a:p>
            <a:pPr marL="0" indent="0">
              <a:buNone/>
            </a:pPr>
            <a:r>
              <a:rPr lang="en-US" sz="1250" b="1" dirty="0">
                <a:solidFill>
                  <a:srgbClr val="0B1A2E"/>
                </a:solidFill>
              </a:rPr>
              <a:t>Eligibility</a:t>
            </a:r>
            <a:endParaRPr lang="en-US" sz="1250" dirty="0"/>
          </a:p>
        </p:txBody>
      </p:sp>
      <p:sp>
        <p:nvSpPr>
          <p:cNvPr id="14" name="Text 12"/>
          <p:cNvSpPr/>
          <p:nvPr/>
        </p:nvSpPr>
        <p:spPr>
          <a:xfrm>
            <a:off x="1016588" y="2258672"/>
            <a:ext cx="1324276" cy="165930"/>
          </a:xfrm>
          <a:prstGeom prst="rect">
            <a:avLst/>
          </a:prstGeom>
          <a:noFill/>
          <a:ln/>
        </p:spPr>
        <p:txBody>
          <a:bodyPr wrap="square" lIns="0" tIns="0" rIns="0" bIns="0" rtlCol="0" anchor="ctr"/>
          <a:lstStyle/>
          <a:p>
            <a:pPr marL="0" indent="0">
              <a:buNone/>
            </a:pPr>
            <a:r>
              <a:rPr lang="en-US" sz="900" dirty="0">
                <a:solidFill>
                  <a:srgbClr val="7BA3C0"/>
                </a:solidFill>
              </a:rPr>
              <a:t>CO-27, CO-31</a:t>
            </a:r>
            <a:endParaRPr lang="en-US" sz="900" dirty="0"/>
          </a:p>
        </p:txBody>
      </p:sp>
      <p:sp>
        <p:nvSpPr>
          <p:cNvPr id="15" name="Text 13"/>
          <p:cNvSpPr/>
          <p:nvPr/>
        </p:nvSpPr>
        <p:spPr>
          <a:xfrm>
            <a:off x="2661332" y="1955522"/>
            <a:ext cx="5385388" cy="428653"/>
          </a:xfrm>
          <a:prstGeom prst="rect">
            <a:avLst/>
          </a:prstGeom>
          <a:noFill/>
          <a:ln/>
        </p:spPr>
        <p:txBody>
          <a:bodyPr wrap="square" lIns="0" tIns="0" rIns="0" bIns="0" rtlCol="0" anchor="ctr"/>
          <a:lstStyle/>
          <a:p>
            <a:pPr marL="0" indent="0">
              <a:buNone/>
            </a:pPr>
            <a:r>
              <a:rPr lang="en-US" sz="1000" i="1" dirty="0">
                <a:solidFill>
                  <a:srgbClr val="3B5A78"/>
                </a:solidFill>
              </a:rPr>
              <a:t>Re-verify eligibility at DOS → resubmit with proof or move to patient responsibility</a:t>
            </a:r>
            <a:endParaRPr lang="en-US" sz="1000" dirty="0"/>
          </a:p>
        </p:txBody>
      </p:sp>
      <p:sp>
        <p:nvSpPr>
          <p:cNvPr id="16" name="Shape 14"/>
          <p:cNvSpPr/>
          <p:nvPr/>
        </p:nvSpPr>
        <p:spPr>
          <a:xfrm>
            <a:off x="741144" y="2517974"/>
            <a:ext cx="7945655" cy="566928"/>
          </a:xfrm>
          <a:prstGeom prst="roundRect">
            <a:avLst>
              <a:gd name="adj" fmla="val 975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7" name="Shape 15"/>
          <p:cNvSpPr/>
          <p:nvPr/>
        </p:nvSpPr>
        <p:spPr>
          <a:xfrm>
            <a:off x="629994" y="2649112"/>
            <a:ext cx="229541" cy="179758"/>
          </a:xfrm>
          <a:prstGeom prst="ellipse">
            <a:avLst/>
          </a:prstGeom>
          <a:solidFill>
            <a:srgbClr val="34D399"/>
          </a:solidFill>
          <a:ln w="12700">
            <a:solidFill>
              <a:srgbClr val="34D399"/>
            </a:solidFill>
            <a:prstDash val="solid"/>
          </a:ln>
        </p:spPr>
        <p:txBody>
          <a:bodyPr/>
          <a:lstStyle/>
          <a:p>
            <a:endParaRPr lang="en-US"/>
          </a:p>
        </p:txBody>
      </p:sp>
      <p:sp>
        <p:nvSpPr>
          <p:cNvPr id="18" name="Text 16"/>
          <p:cNvSpPr/>
          <p:nvPr/>
        </p:nvSpPr>
        <p:spPr>
          <a:xfrm>
            <a:off x="1063912" y="2538328"/>
            <a:ext cx="2648552" cy="221240"/>
          </a:xfrm>
          <a:prstGeom prst="rect">
            <a:avLst/>
          </a:prstGeom>
          <a:noFill/>
          <a:ln/>
        </p:spPr>
        <p:txBody>
          <a:bodyPr wrap="square" lIns="0" tIns="0" rIns="0" bIns="0" rtlCol="0" anchor="ctr"/>
          <a:lstStyle/>
          <a:p>
            <a:pPr marL="0" indent="0">
              <a:buNone/>
            </a:pPr>
            <a:r>
              <a:rPr lang="en-US" sz="1250" b="1" dirty="0">
                <a:solidFill>
                  <a:srgbClr val="0B1A2E"/>
                </a:solidFill>
              </a:rPr>
              <a:t>Coding Error</a:t>
            </a:r>
            <a:endParaRPr lang="en-US" sz="1250" dirty="0"/>
          </a:p>
        </p:txBody>
      </p:sp>
      <p:sp>
        <p:nvSpPr>
          <p:cNvPr id="19" name="Text 17"/>
          <p:cNvSpPr/>
          <p:nvPr/>
        </p:nvSpPr>
        <p:spPr>
          <a:xfrm>
            <a:off x="1016588" y="2867958"/>
            <a:ext cx="1324276" cy="165930"/>
          </a:xfrm>
          <a:prstGeom prst="rect">
            <a:avLst/>
          </a:prstGeom>
          <a:noFill/>
          <a:ln/>
        </p:spPr>
        <p:txBody>
          <a:bodyPr wrap="square" lIns="0" tIns="0" rIns="0" bIns="0" rtlCol="0" anchor="ctr"/>
          <a:lstStyle/>
          <a:p>
            <a:pPr marL="0" indent="0">
              <a:buNone/>
            </a:pPr>
            <a:r>
              <a:rPr lang="en-US" sz="900" dirty="0">
                <a:solidFill>
                  <a:srgbClr val="7BA3C0"/>
                </a:solidFill>
              </a:rPr>
              <a:t>CO-4, CO-11</a:t>
            </a:r>
            <a:endParaRPr lang="en-US" sz="900" dirty="0"/>
          </a:p>
        </p:txBody>
      </p:sp>
      <p:sp>
        <p:nvSpPr>
          <p:cNvPr id="20" name="Text 18"/>
          <p:cNvSpPr/>
          <p:nvPr/>
        </p:nvSpPr>
        <p:spPr>
          <a:xfrm>
            <a:off x="2661332" y="2564808"/>
            <a:ext cx="5385388" cy="428653"/>
          </a:xfrm>
          <a:prstGeom prst="rect">
            <a:avLst/>
          </a:prstGeom>
          <a:noFill/>
          <a:ln/>
        </p:spPr>
        <p:txBody>
          <a:bodyPr wrap="square" lIns="0" tIns="0" rIns="0" bIns="0" rtlCol="0" anchor="ctr"/>
          <a:lstStyle/>
          <a:p>
            <a:pPr marL="0" indent="0">
              <a:buNone/>
            </a:pPr>
            <a:r>
              <a:rPr lang="en-US" sz="1000" i="1" dirty="0">
                <a:solidFill>
                  <a:srgbClr val="3B5A78"/>
                </a:solidFill>
              </a:rPr>
              <a:t>Coder corrects CPT/ICD codes → resubmit corrected claim</a:t>
            </a:r>
            <a:endParaRPr lang="en-US" sz="1000" dirty="0"/>
          </a:p>
        </p:txBody>
      </p:sp>
      <p:sp>
        <p:nvSpPr>
          <p:cNvPr id="21" name="Shape 19"/>
          <p:cNvSpPr/>
          <p:nvPr/>
        </p:nvSpPr>
        <p:spPr>
          <a:xfrm>
            <a:off x="741144" y="3136885"/>
            <a:ext cx="7945655" cy="566928"/>
          </a:xfrm>
          <a:prstGeom prst="roundRect">
            <a:avLst>
              <a:gd name="adj" fmla="val 975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2" name="Shape 20"/>
          <p:cNvSpPr/>
          <p:nvPr/>
        </p:nvSpPr>
        <p:spPr>
          <a:xfrm>
            <a:off x="629994" y="3268023"/>
            <a:ext cx="229541" cy="179758"/>
          </a:xfrm>
          <a:prstGeom prst="ellipse">
            <a:avLst/>
          </a:prstGeom>
          <a:solidFill>
            <a:srgbClr val="A78BFA"/>
          </a:solidFill>
          <a:ln w="12700">
            <a:solidFill>
              <a:srgbClr val="A78BFA"/>
            </a:solidFill>
            <a:prstDash val="solid"/>
          </a:ln>
        </p:spPr>
        <p:txBody>
          <a:bodyPr/>
          <a:lstStyle/>
          <a:p>
            <a:endParaRPr lang="en-US"/>
          </a:p>
        </p:txBody>
      </p:sp>
      <p:sp>
        <p:nvSpPr>
          <p:cNvPr id="23" name="Text 21"/>
          <p:cNvSpPr/>
          <p:nvPr/>
        </p:nvSpPr>
        <p:spPr>
          <a:xfrm>
            <a:off x="1063912" y="3157239"/>
            <a:ext cx="2648552" cy="221240"/>
          </a:xfrm>
          <a:prstGeom prst="rect">
            <a:avLst/>
          </a:prstGeom>
          <a:noFill/>
          <a:ln/>
        </p:spPr>
        <p:txBody>
          <a:bodyPr wrap="square" lIns="0" tIns="0" rIns="0" bIns="0" rtlCol="0" anchor="ctr"/>
          <a:lstStyle/>
          <a:p>
            <a:pPr marL="0" indent="0">
              <a:buNone/>
            </a:pPr>
            <a:r>
              <a:rPr lang="en-US" sz="1250" b="1" dirty="0">
                <a:solidFill>
                  <a:srgbClr val="0B1A2E"/>
                </a:solidFill>
              </a:rPr>
              <a:t>Duplicate</a:t>
            </a:r>
            <a:endParaRPr lang="en-US" sz="1250" dirty="0"/>
          </a:p>
        </p:txBody>
      </p:sp>
      <p:sp>
        <p:nvSpPr>
          <p:cNvPr id="24" name="Text 22"/>
          <p:cNvSpPr/>
          <p:nvPr/>
        </p:nvSpPr>
        <p:spPr>
          <a:xfrm>
            <a:off x="1016588" y="3486869"/>
            <a:ext cx="1324276" cy="165930"/>
          </a:xfrm>
          <a:prstGeom prst="rect">
            <a:avLst/>
          </a:prstGeom>
          <a:noFill/>
          <a:ln/>
        </p:spPr>
        <p:txBody>
          <a:bodyPr wrap="square" lIns="0" tIns="0" rIns="0" bIns="0" rtlCol="0" anchor="ctr"/>
          <a:lstStyle/>
          <a:p>
            <a:pPr marL="0" indent="0">
              <a:buNone/>
            </a:pPr>
            <a:r>
              <a:rPr lang="en-US" sz="900" dirty="0">
                <a:solidFill>
                  <a:srgbClr val="7BA3C0"/>
                </a:solidFill>
              </a:rPr>
              <a:t>CO-18</a:t>
            </a:r>
            <a:endParaRPr lang="en-US" sz="900" dirty="0"/>
          </a:p>
        </p:txBody>
      </p:sp>
      <p:sp>
        <p:nvSpPr>
          <p:cNvPr id="25" name="Text 23"/>
          <p:cNvSpPr/>
          <p:nvPr/>
        </p:nvSpPr>
        <p:spPr>
          <a:xfrm>
            <a:off x="2661332" y="3183719"/>
            <a:ext cx="5385388" cy="428653"/>
          </a:xfrm>
          <a:prstGeom prst="rect">
            <a:avLst/>
          </a:prstGeom>
          <a:noFill/>
          <a:ln/>
        </p:spPr>
        <p:txBody>
          <a:bodyPr wrap="square" lIns="0" tIns="0" rIns="0" bIns="0" rtlCol="0" anchor="ctr"/>
          <a:lstStyle/>
          <a:p>
            <a:pPr marL="0" indent="0">
              <a:buNone/>
            </a:pPr>
            <a:r>
              <a:rPr lang="en-US" sz="1000" i="1" dirty="0">
                <a:solidFill>
                  <a:srgbClr val="3B5A78"/>
                </a:solidFill>
              </a:rPr>
              <a:t>ICN-first composite-key claims history match → close if true duplicate, else appeal as distinct</a:t>
            </a:r>
            <a:endParaRPr lang="en-US" sz="1000" dirty="0"/>
          </a:p>
        </p:txBody>
      </p:sp>
      <p:sp>
        <p:nvSpPr>
          <p:cNvPr id="28" name="Shape 26"/>
          <p:cNvSpPr/>
          <p:nvPr/>
        </p:nvSpPr>
        <p:spPr>
          <a:xfrm>
            <a:off x="741144" y="3765419"/>
            <a:ext cx="7945655" cy="566928"/>
          </a:xfrm>
          <a:prstGeom prst="roundRect">
            <a:avLst>
              <a:gd name="adj" fmla="val 9756"/>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9" name="Shape 27"/>
          <p:cNvSpPr/>
          <p:nvPr/>
        </p:nvSpPr>
        <p:spPr>
          <a:xfrm>
            <a:off x="629994" y="3896557"/>
            <a:ext cx="229541" cy="179758"/>
          </a:xfrm>
          <a:prstGeom prst="ellipse">
            <a:avLst/>
          </a:prstGeom>
          <a:solidFill>
            <a:srgbClr val="F97316"/>
          </a:solidFill>
          <a:ln w="12700">
            <a:solidFill>
              <a:srgbClr val="F97316"/>
            </a:solidFill>
            <a:prstDash val="solid"/>
          </a:ln>
        </p:spPr>
        <p:txBody>
          <a:bodyPr/>
          <a:lstStyle/>
          <a:p>
            <a:endParaRPr lang="en-US"/>
          </a:p>
        </p:txBody>
      </p:sp>
      <p:sp>
        <p:nvSpPr>
          <p:cNvPr id="30" name="Text 28"/>
          <p:cNvSpPr/>
          <p:nvPr/>
        </p:nvSpPr>
        <p:spPr>
          <a:xfrm>
            <a:off x="1063912" y="3785773"/>
            <a:ext cx="2648552" cy="221240"/>
          </a:xfrm>
          <a:prstGeom prst="rect">
            <a:avLst/>
          </a:prstGeom>
          <a:noFill/>
          <a:ln/>
        </p:spPr>
        <p:txBody>
          <a:bodyPr wrap="square" lIns="0" tIns="0" rIns="0" bIns="0" rtlCol="0" anchor="ctr"/>
          <a:lstStyle/>
          <a:p>
            <a:pPr marL="0" indent="0">
              <a:buNone/>
            </a:pPr>
            <a:r>
              <a:rPr lang="en-US" sz="1250" b="1" dirty="0">
                <a:solidFill>
                  <a:srgbClr val="0B1A2E"/>
                </a:solidFill>
              </a:rPr>
              <a:t>Timely Filing</a:t>
            </a:r>
            <a:endParaRPr lang="en-US" sz="1250" dirty="0"/>
          </a:p>
        </p:txBody>
      </p:sp>
      <p:sp>
        <p:nvSpPr>
          <p:cNvPr id="31" name="Text 29"/>
          <p:cNvSpPr/>
          <p:nvPr/>
        </p:nvSpPr>
        <p:spPr>
          <a:xfrm>
            <a:off x="1016588" y="4115403"/>
            <a:ext cx="1324276" cy="165930"/>
          </a:xfrm>
          <a:prstGeom prst="rect">
            <a:avLst/>
          </a:prstGeom>
          <a:noFill/>
          <a:ln/>
        </p:spPr>
        <p:txBody>
          <a:bodyPr wrap="square" lIns="0" tIns="0" rIns="0" bIns="0" rtlCol="0" anchor="ctr"/>
          <a:lstStyle/>
          <a:p>
            <a:pPr marL="0" indent="0">
              <a:buNone/>
            </a:pPr>
            <a:r>
              <a:rPr lang="en-US" sz="900" dirty="0">
                <a:solidFill>
                  <a:srgbClr val="7BA3C0"/>
                </a:solidFill>
              </a:rPr>
              <a:t>CO-29</a:t>
            </a:r>
            <a:endParaRPr lang="en-US" sz="900" dirty="0"/>
          </a:p>
        </p:txBody>
      </p:sp>
      <p:sp>
        <p:nvSpPr>
          <p:cNvPr id="32" name="Text 30"/>
          <p:cNvSpPr/>
          <p:nvPr/>
        </p:nvSpPr>
        <p:spPr>
          <a:xfrm>
            <a:off x="2661332" y="3812253"/>
            <a:ext cx="5385388" cy="428653"/>
          </a:xfrm>
          <a:prstGeom prst="rect">
            <a:avLst/>
          </a:prstGeom>
          <a:noFill/>
          <a:ln/>
        </p:spPr>
        <p:txBody>
          <a:bodyPr wrap="square" lIns="0" tIns="0" rIns="0" bIns="0" rtlCol="0" anchor="ctr"/>
          <a:lstStyle/>
          <a:p>
            <a:pPr marL="0" indent="0">
              <a:buNone/>
            </a:pPr>
            <a:r>
              <a:rPr lang="en-US" sz="1000" i="1" dirty="0">
                <a:solidFill>
                  <a:srgbClr val="3B5A78"/>
                </a:solidFill>
              </a:rPr>
              <a:t>Deadline math against payer filing-limit table → file exception with proof or write-off</a:t>
            </a:r>
            <a:endParaRPr lang="en-US" sz="1000" dirty="0"/>
          </a:p>
        </p:txBody>
      </p:sp>
      <p:sp>
        <p:nvSpPr>
          <p:cNvPr id="36" name="TextBox 35">
            <a:extLst>
              <a:ext uri="{FF2B5EF4-FFF2-40B4-BE49-F238E27FC236}">
                <a16:creationId xmlns:a16="http://schemas.microsoft.com/office/drawing/2014/main" id="{C14824B5-5F37-F0C7-248D-EED585BF1825}"/>
              </a:ext>
            </a:extLst>
          </p:cNvPr>
          <p:cNvSpPr txBox="1"/>
          <p:nvPr/>
        </p:nvSpPr>
        <p:spPr>
          <a:xfrm>
            <a:off x="1694046" y="4605329"/>
            <a:ext cx="6992754" cy="261610"/>
          </a:xfrm>
          <a:prstGeom prst="rect">
            <a:avLst/>
          </a:prstGeom>
          <a:noFill/>
        </p:spPr>
        <p:txBody>
          <a:bodyPr wrap="square" rtlCol="0">
            <a:spAutoFit/>
          </a:bodyPr>
          <a:lstStyle/>
          <a:p>
            <a:r>
              <a:rPr lang="en-US" sz="1100" dirty="0"/>
              <a:t>California's SB 1120 prohibits AI-driven denial of insurance claims, requiring human physician review for final decisions.</a:t>
            </a:r>
          </a:p>
        </p:txBody>
      </p:sp>
      <p:sp>
        <p:nvSpPr>
          <p:cNvPr id="38" name="Shape 7"/>
          <p:cNvSpPr/>
          <p:nvPr/>
        </p:nvSpPr>
        <p:spPr>
          <a:xfrm>
            <a:off x="741144" y="4609393"/>
            <a:ext cx="822960" cy="246888"/>
          </a:xfrm>
          <a:prstGeom prst="roundRect">
            <a:avLst>
              <a:gd name="adj" fmla="val 18519"/>
            </a:avLst>
          </a:prstGeom>
          <a:solidFill>
            <a:srgbClr val="EF5350">
              <a:alpha val="25000"/>
            </a:srgbClr>
          </a:solidFill>
          <a:ln/>
        </p:spPr>
        <p:txBody>
          <a:bodyPr/>
          <a:lstStyle/>
          <a:p>
            <a:endParaRPr lang="en-US"/>
          </a:p>
        </p:txBody>
      </p:sp>
      <p:sp>
        <p:nvSpPr>
          <p:cNvPr id="39" name="Text 8"/>
          <p:cNvSpPr/>
          <p:nvPr/>
        </p:nvSpPr>
        <p:spPr>
          <a:xfrm>
            <a:off x="741144" y="4605329"/>
            <a:ext cx="822960" cy="246888"/>
          </a:xfrm>
          <a:prstGeom prst="rect">
            <a:avLst/>
          </a:prstGeom>
          <a:noFill/>
          <a:ln/>
        </p:spPr>
        <p:txBody>
          <a:bodyPr wrap="square" lIns="0" tIns="0" rIns="0" bIns="0" rtlCol="0" anchor="ctr"/>
          <a:lstStyle/>
          <a:p>
            <a:pPr marL="0" indent="0" algn="ctr">
              <a:buNone/>
            </a:pPr>
            <a:r>
              <a:rPr lang="en-US" sz="800" b="1" dirty="0">
                <a:solidFill>
                  <a:srgbClr val="EF5350"/>
                </a:solidFill>
              </a:rPr>
              <a:t>SB 1120</a:t>
            </a:r>
            <a:endParaRPr lang="en-US" sz="800" dirty="0"/>
          </a:p>
        </p:txBody>
      </p:sp>
      <p:sp>
        <p:nvSpPr>
          <p:cNvPr id="40" name="Shape 7">
            <a:extLst>
              <a:ext uri="{FF2B5EF4-FFF2-40B4-BE49-F238E27FC236}">
                <a16:creationId xmlns:a16="http://schemas.microsoft.com/office/drawing/2014/main" id="{4144F791-A7BB-1495-8157-DF39BC8BF924}"/>
              </a:ext>
            </a:extLst>
          </p:cNvPr>
          <p:cNvSpPr/>
          <p:nvPr/>
        </p:nvSpPr>
        <p:spPr>
          <a:xfrm>
            <a:off x="7635240" y="1429698"/>
            <a:ext cx="822960" cy="246888"/>
          </a:xfrm>
          <a:prstGeom prst="roundRect">
            <a:avLst>
              <a:gd name="adj" fmla="val 18519"/>
            </a:avLst>
          </a:prstGeom>
          <a:solidFill>
            <a:srgbClr val="EF5350">
              <a:alpha val="25000"/>
            </a:srgbClr>
          </a:solidFill>
          <a:ln/>
        </p:spPr>
        <p:txBody>
          <a:bodyPr/>
          <a:lstStyle/>
          <a:p>
            <a:endParaRPr lang="en-US"/>
          </a:p>
        </p:txBody>
      </p:sp>
      <p:sp>
        <p:nvSpPr>
          <p:cNvPr id="41" name="Text 8">
            <a:extLst>
              <a:ext uri="{FF2B5EF4-FFF2-40B4-BE49-F238E27FC236}">
                <a16:creationId xmlns:a16="http://schemas.microsoft.com/office/drawing/2014/main" id="{EE919C55-337F-A483-1866-A50356E9CF67}"/>
              </a:ext>
            </a:extLst>
          </p:cNvPr>
          <p:cNvSpPr/>
          <p:nvPr/>
        </p:nvSpPr>
        <p:spPr>
          <a:xfrm>
            <a:off x="7635240" y="1425634"/>
            <a:ext cx="822960" cy="246888"/>
          </a:xfrm>
          <a:prstGeom prst="rect">
            <a:avLst/>
          </a:prstGeom>
          <a:noFill/>
          <a:ln/>
        </p:spPr>
        <p:txBody>
          <a:bodyPr wrap="square" lIns="0" tIns="0" rIns="0" bIns="0" rtlCol="0" anchor="ctr"/>
          <a:lstStyle/>
          <a:p>
            <a:pPr marL="0" indent="0" algn="ctr">
              <a:buNone/>
            </a:pPr>
            <a:r>
              <a:rPr lang="en-US" sz="800" b="1" dirty="0">
                <a:solidFill>
                  <a:srgbClr val="EF5350"/>
                </a:solidFill>
              </a:rPr>
              <a:t>SB 1120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2E"/>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3891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7-Phase Process Flow</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200" i="1" dirty="0">
                <a:solidFill>
                  <a:srgbClr val="00BFA5"/>
                </a:solidFill>
              </a:rPr>
              <a:t>End-to-end orchestration on UiPath Maestro BPMN</a:t>
            </a:r>
            <a:endParaRPr lang="en-US" sz="1200" dirty="0"/>
          </a:p>
        </p:txBody>
      </p:sp>
      <p:sp>
        <p:nvSpPr>
          <p:cNvPr id="4" name="Shape 2"/>
          <p:cNvSpPr/>
          <p:nvPr/>
        </p:nvSpPr>
        <p:spPr>
          <a:xfrm>
            <a:off x="274320"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5" name="Shape 3"/>
          <p:cNvSpPr/>
          <p:nvPr/>
        </p:nvSpPr>
        <p:spPr>
          <a:xfrm>
            <a:off x="548640" y="1143000"/>
            <a:ext cx="548640" cy="548640"/>
          </a:xfrm>
          <a:prstGeom prst="ellipse">
            <a:avLst/>
          </a:prstGeom>
          <a:solidFill>
            <a:srgbClr val="00BFA5"/>
          </a:solidFill>
          <a:ln w="12700">
            <a:solidFill>
              <a:srgbClr val="00BFA5"/>
            </a:solidFill>
            <a:prstDash val="solid"/>
          </a:ln>
        </p:spPr>
        <p:txBody>
          <a:bodyPr/>
          <a:lstStyle/>
          <a:p>
            <a:endParaRPr lang="en-US"/>
          </a:p>
        </p:txBody>
      </p:sp>
      <p:sp>
        <p:nvSpPr>
          <p:cNvPr id="6" name="Text 4"/>
          <p:cNvSpPr/>
          <p:nvPr/>
        </p:nvSpPr>
        <p:spPr>
          <a:xfrm>
            <a:off x="548640"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01</a:t>
            </a:r>
            <a:endParaRPr lang="en-US" sz="1300" dirty="0"/>
          </a:p>
        </p:txBody>
      </p:sp>
      <p:sp>
        <p:nvSpPr>
          <p:cNvPr id="7" name="Text 5"/>
          <p:cNvSpPr/>
          <p:nvPr/>
        </p:nvSpPr>
        <p:spPr>
          <a:xfrm>
            <a:off x="274320"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Denial</a:t>
            </a:r>
            <a:endParaRPr lang="en-US" sz="1000" dirty="0"/>
          </a:p>
          <a:p>
            <a:pPr marL="0" indent="0" algn="ctr">
              <a:buNone/>
            </a:pPr>
            <a:r>
              <a:rPr lang="en-US" sz="1000" b="1" dirty="0">
                <a:solidFill>
                  <a:srgbClr val="FFFFFF"/>
                </a:solidFill>
              </a:rPr>
              <a:t>Ingestion</a:t>
            </a:r>
            <a:endParaRPr lang="en-US" sz="1000" dirty="0"/>
          </a:p>
        </p:txBody>
      </p:sp>
      <p:sp>
        <p:nvSpPr>
          <p:cNvPr id="8" name="Text 6"/>
          <p:cNvSpPr/>
          <p:nvPr/>
        </p:nvSpPr>
        <p:spPr>
          <a:xfrm>
            <a:off x="274320"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835 ERA · Portal</a:t>
            </a:r>
            <a:endParaRPr lang="en-US" sz="850" dirty="0"/>
          </a:p>
          <a:p>
            <a:pPr marL="0" indent="0" algn="ctr">
              <a:buNone/>
            </a:pPr>
            <a:r>
              <a:rPr lang="en-US" sz="850" dirty="0">
                <a:solidFill>
                  <a:srgbClr val="7BA3C0"/>
                </a:solidFill>
              </a:rPr>
              <a:t>RPA · DU/OCR</a:t>
            </a:r>
            <a:endParaRPr lang="en-US" sz="850" dirty="0"/>
          </a:p>
        </p:txBody>
      </p:sp>
      <p:sp>
        <p:nvSpPr>
          <p:cNvPr id="9" name="Shape 7"/>
          <p:cNvSpPr/>
          <p:nvPr/>
        </p:nvSpPr>
        <p:spPr>
          <a:xfrm>
            <a:off x="1389888" y="2670048"/>
            <a:ext cx="82296" cy="0"/>
          </a:xfrm>
          <a:prstGeom prst="line">
            <a:avLst/>
          </a:prstGeom>
          <a:noFill/>
          <a:ln w="19050">
            <a:solidFill>
              <a:srgbClr val="7BA3C0"/>
            </a:solidFill>
            <a:prstDash val="solid"/>
          </a:ln>
        </p:spPr>
        <p:txBody>
          <a:bodyPr/>
          <a:lstStyle/>
          <a:p>
            <a:endParaRPr lang="en-US"/>
          </a:p>
        </p:txBody>
      </p:sp>
      <p:sp>
        <p:nvSpPr>
          <p:cNvPr id="10" name="Shape 8"/>
          <p:cNvSpPr/>
          <p:nvPr/>
        </p:nvSpPr>
        <p:spPr>
          <a:xfrm>
            <a:off x="1490472"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1" name="Shape 9"/>
          <p:cNvSpPr/>
          <p:nvPr/>
        </p:nvSpPr>
        <p:spPr>
          <a:xfrm>
            <a:off x="1764792" y="1143000"/>
            <a:ext cx="548640" cy="548640"/>
          </a:xfrm>
          <a:prstGeom prst="ellipse">
            <a:avLst/>
          </a:prstGeom>
          <a:solidFill>
            <a:srgbClr val="38BDF8"/>
          </a:solidFill>
          <a:ln w="12700">
            <a:solidFill>
              <a:srgbClr val="38BDF8"/>
            </a:solidFill>
            <a:prstDash val="solid"/>
          </a:ln>
        </p:spPr>
        <p:txBody>
          <a:bodyPr/>
          <a:lstStyle/>
          <a:p>
            <a:endParaRPr lang="en-US"/>
          </a:p>
        </p:txBody>
      </p:sp>
      <p:sp>
        <p:nvSpPr>
          <p:cNvPr id="12" name="Text 10"/>
          <p:cNvSpPr/>
          <p:nvPr/>
        </p:nvSpPr>
        <p:spPr>
          <a:xfrm>
            <a:off x="1764792"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02</a:t>
            </a:r>
            <a:endParaRPr lang="en-US" sz="1300" dirty="0"/>
          </a:p>
        </p:txBody>
      </p:sp>
      <p:sp>
        <p:nvSpPr>
          <p:cNvPr id="13" name="Text 11"/>
          <p:cNvSpPr/>
          <p:nvPr/>
        </p:nvSpPr>
        <p:spPr>
          <a:xfrm>
            <a:off x="1490472"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Classify &amp;</a:t>
            </a:r>
            <a:endParaRPr lang="en-US" sz="1000" dirty="0"/>
          </a:p>
          <a:p>
            <a:pPr marL="0" indent="0" algn="ctr">
              <a:buNone/>
            </a:pPr>
            <a:r>
              <a:rPr lang="en-US" sz="1000" b="1" dirty="0">
                <a:solidFill>
                  <a:srgbClr val="FFFFFF"/>
                </a:solidFill>
              </a:rPr>
              <a:t>Route</a:t>
            </a:r>
            <a:endParaRPr lang="en-US" sz="1000" dirty="0"/>
          </a:p>
        </p:txBody>
      </p:sp>
      <p:sp>
        <p:nvSpPr>
          <p:cNvPr id="14" name="Text 12"/>
          <p:cNvSpPr/>
          <p:nvPr/>
        </p:nvSpPr>
        <p:spPr>
          <a:xfrm>
            <a:off x="1490472"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LangGraph agent</a:t>
            </a:r>
            <a:endParaRPr lang="en-US" sz="850" dirty="0"/>
          </a:p>
          <a:p>
            <a:pPr marL="0" indent="0" algn="ctr">
              <a:buNone/>
            </a:pPr>
            <a:r>
              <a:rPr lang="en-US" sz="850" dirty="0">
                <a:solidFill>
                  <a:srgbClr val="7BA3C0"/>
                </a:solidFill>
              </a:rPr>
              <a:t>5 BPMN branches</a:t>
            </a:r>
            <a:endParaRPr lang="en-US" sz="850" dirty="0"/>
          </a:p>
        </p:txBody>
      </p:sp>
      <p:sp>
        <p:nvSpPr>
          <p:cNvPr id="15" name="Shape 13"/>
          <p:cNvSpPr/>
          <p:nvPr/>
        </p:nvSpPr>
        <p:spPr>
          <a:xfrm>
            <a:off x="2606040" y="2670048"/>
            <a:ext cx="82296" cy="0"/>
          </a:xfrm>
          <a:prstGeom prst="line">
            <a:avLst/>
          </a:prstGeom>
          <a:noFill/>
          <a:ln w="19050">
            <a:solidFill>
              <a:srgbClr val="7BA3C0"/>
            </a:solidFill>
            <a:prstDash val="solid"/>
          </a:ln>
        </p:spPr>
        <p:txBody>
          <a:bodyPr/>
          <a:lstStyle/>
          <a:p>
            <a:endParaRPr lang="en-US"/>
          </a:p>
        </p:txBody>
      </p:sp>
      <p:sp>
        <p:nvSpPr>
          <p:cNvPr id="16" name="Shape 14"/>
          <p:cNvSpPr/>
          <p:nvPr/>
        </p:nvSpPr>
        <p:spPr>
          <a:xfrm>
            <a:off x="2706624"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7" name="Shape 15"/>
          <p:cNvSpPr/>
          <p:nvPr/>
        </p:nvSpPr>
        <p:spPr>
          <a:xfrm>
            <a:off x="2980944" y="1143000"/>
            <a:ext cx="548640" cy="548640"/>
          </a:xfrm>
          <a:prstGeom prst="ellipse">
            <a:avLst/>
          </a:prstGeom>
          <a:solidFill>
            <a:srgbClr val="EF5350"/>
          </a:solidFill>
          <a:ln w="12700">
            <a:solidFill>
              <a:srgbClr val="EF5350"/>
            </a:solidFill>
            <a:prstDash val="solid"/>
          </a:ln>
        </p:spPr>
        <p:txBody>
          <a:bodyPr/>
          <a:lstStyle/>
          <a:p>
            <a:endParaRPr lang="en-US"/>
          </a:p>
        </p:txBody>
      </p:sp>
      <p:sp>
        <p:nvSpPr>
          <p:cNvPr id="18" name="Text 16"/>
          <p:cNvSpPr/>
          <p:nvPr/>
        </p:nvSpPr>
        <p:spPr>
          <a:xfrm>
            <a:off x="2980944"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03</a:t>
            </a:r>
            <a:endParaRPr lang="en-US" sz="1300" dirty="0"/>
          </a:p>
        </p:txBody>
      </p:sp>
      <p:sp>
        <p:nvSpPr>
          <p:cNvPr id="19" name="Text 17"/>
          <p:cNvSpPr/>
          <p:nvPr/>
        </p:nvSpPr>
        <p:spPr>
          <a:xfrm>
            <a:off x="2706624"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Medical</a:t>
            </a:r>
            <a:endParaRPr lang="en-US" sz="1000" dirty="0"/>
          </a:p>
          <a:p>
            <a:pPr marL="0" indent="0" algn="ctr">
              <a:buNone/>
            </a:pPr>
            <a:r>
              <a:rPr lang="en-US" sz="1000" b="1" dirty="0">
                <a:solidFill>
                  <a:srgbClr val="FFFFFF"/>
                </a:solidFill>
              </a:rPr>
              <a:t>Necessity</a:t>
            </a:r>
            <a:endParaRPr lang="en-US" sz="1000" dirty="0"/>
          </a:p>
        </p:txBody>
      </p:sp>
      <p:sp>
        <p:nvSpPr>
          <p:cNvPr id="20" name="Text 18"/>
          <p:cNvSpPr/>
          <p:nvPr/>
        </p:nvSpPr>
        <p:spPr>
          <a:xfrm>
            <a:off x="2706624"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RAG over payer</a:t>
            </a:r>
            <a:endParaRPr lang="en-US" sz="850" dirty="0"/>
          </a:p>
          <a:p>
            <a:pPr marL="0" indent="0" algn="ctr">
              <a:buNone/>
            </a:pPr>
            <a:r>
              <a:rPr lang="en-US" sz="850" dirty="0">
                <a:solidFill>
                  <a:srgbClr val="7BA3C0"/>
                </a:solidFill>
              </a:rPr>
              <a:t>policy · appeal draft</a:t>
            </a:r>
            <a:endParaRPr lang="en-US" sz="850" dirty="0"/>
          </a:p>
        </p:txBody>
      </p:sp>
      <p:sp>
        <p:nvSpPr>
          <p:cNvPr id="21" name="Shape 19"/>
          <p:cNvSpPr/>
          <p:nvPr/>
        </p:nvSpPr>
        <p:spPr>
          <a:xfrm>
            <a:off x="3822192" y="2670048"/>
            <a:ext cx="82296" cy="0"/>
          </a:xfrm>
          <a:prstGeom prst="line">
            <a:avLst/>
          </a:prstGeom>
          <a:noFill/>
          <a:ln w="19050">
            <a:solidFill>
              <a:srgbClr val="7BA3C0"/>
            </a:solidFill>
            <a:prstDash val="solid"/>
          </a:ln>
        </p:spPr>
        <p:txBody>
          <a:bodyPr/>
          <a:lstStyle/>
          <a:p>
            <a:endParaRPr lang="en-US"/>
          </a:p>
        </p:txBody>
      </p:sp>
      <p:sp>
        <p:nvSpPr>
          <p:cNvPr id="22" name="Shape 20"/>
          <p:cNvSpPr/>
          <p:nvPr/>
        </p:nvSpPr>
        <p:spPr>
          <a:xfrm>
            <a:off x="3922776"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23" name="Shape 21"/>
          <p:cNvSpPr/>
          <p:nvPr/>
        </p:nvSpPr>
        <p:spPr>
          <a:xfrm>
            <a:off x="4197096" y="1143000"/>
            <a:ext cx="548640" cy="548640"/>
          </a:xfrm>
          <a:prstGeom prst="ellipse">
            <a:avLst/>
          </a:prstGeom>
          <a:solidFill>
            <a:srgbClr val="F4C842"/>
          </a:solidFill>
          <a:ln w="12700">
            <a:solidFill>
              <a:srgbClr val="F4C842"/>
            </a:solidFill>
            <a:prstDash val="solid"/>
          </a:ln>
        </p:spPr>
        <p:txBody>
          <a:bodyPr/>
          <a:lstStyle/>
          <a:p>
            <a:endParaRPr lang="en-US"/>
          </a:p>
        </p:txBody>
      </p:sp>
      <p:sp>
        <p:nvSpPr>
          <p:cNvPr id="24" name="Text 22"/>
          <p:cNvSpPr/>
          <p:nvPr/>
        </p:nvSpPr>
        <p:spPr>
          <a:xfrm>
            <a:off x="4197096"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04</a:t>
            </a:r>
            <a:endParaRPr lang="en-US" sz="1300" dirty="0"/>
          </a:p>
        </p:txBody>
      </p:sp>
      <p:sp>
        <p:nvSpPr>
          <p:cNvPr id="25" name="Text 23"/>
          <p:cNvSpPr/>
          <p:nvPr/>
        </p:nvSpPr>
        <p:spPr>
          <a:xfrm>
            <a:off x="3922776"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Human</a:t>
            </a:r>
            <a:endParaRPr lang="en-US" sz="1000" dirty="0"/>
          </a:p>
          <a:p>
            <a:pPr marL="0" indent="0" algn="ctr">
              <a:buNone/>
            </a:pPr>
            <a:r>
              <a:rPr lang="en-US" sz="1000" b="1" dirty="0">
                <a:solidFill>
                  <a:srgbClr val="FFFFFF"/>
                </a:solidFill>
              </a:rPr>
              <a:t>Review</a:t>
            </a:r>
            <a:endParaRPr lang="en-US" sz="1000" dirty="0"/>
          </a:p>
        </p:txBody>
      </p:sp>
      <p:sp>
        <p:nvSpPr>
          <p:cNvPr id="26" name="Text 24"/>
          <p:cNvSpPr/>
          <p:nvPr/>
        </p:nvSpPr>
        <p:spPr>
          <a:xfrm>
            <a:off x="3922776"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Action Center</a:t>
            </a:r>
            <a:endParaRPr lang="en-US" sz="850" dirty="0"/>
          </a:p>
          <a:p>
            <a:pPr marL="0" indent="0" algn="ctr">
              <a:buNone/>
            </a:pPr>
            <a:r>
              <a:rPr lang="en-US" sz="850" dirty="0">
                <a:solidFill>
                  <a:srgbClr val="7BA3C0"/>
                </a:solidFill>
              </a:rPr>
              <a:t>SB 1120 gate</a:t>
            </a:r>
            <a:endParaRPr lang="en-US" sz="850" dirty="0"/>
          </a:p>
        </p:txBody>
      </p:sp>
      <p:sp>
        <p:nvSpPr>
          <p:cNvPr id="27" name="Shape 25"/>
          <p:cNvSpPr/>
          <p:nvPr/>
        </p:nvSpPr>
        <p:spPr>
          <a:xfrm>
            <a:off x="5038344" y="2670048"/>
            <a:ext cx="82296" cy="0"/>
          </a:xfrm>
          <a:prstGeom prst="line">
            <a:avLst/>
          </a:prstGeom>
          <a:noFill/>
          <a:ln w="19050">
            <a:solidFill>
              <a:srgbClr val="7BA3C0"/>
            </a:solidFill>
            <a:prstDash val="solid"/>
          </a:ln>
        </p:spPr>
        <p:txBody>
          <a:bodyPr/>
          <a:lstStyle/>
          <a:p>
            <a:endParaRPr lang="en-US"/>
          </a:p>
        </p:txBody>
      </p:sp>
      <p:sp>
        <p:nvSpPr>
          <p:cNvPr id="28" name="Shape 26"/>
          <p:cNvSpPr/>
          <p:nvPr/>
        </p:nvSpPr>
        <p:spPr>
          <a:xfrm>
            <a:off x="5138928"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29" name="Shape 27"/>
          <p:cNvSpPr/>
          <p:nvPr/>
        </p:nvSpPr>
        <p:spPr>
          <a:xfrm>
            <a:off x="5413248" y="1143000"/>
            <a:ext cx="548640" cy="548640"/>
          </a:xfrm>
          <a:prstGeom prst="ellipse">
            <a:avLst/>
          </a:prstGeom>
          <a:solidFill>
            <a:srgbClr val="00BFA5"/>
          </a:solidFill>
          <a:ln w="12700">
            <a:solidFill>
              <a:srgbClr val="00BFA5"/>
            </a:solidFill>
            <a:prstDash val="solid"/>
          </a:ln>
        </p:spPr>
        <p:txBody>
          <a:bodyPr/>
          <a:lstStyle/>
          <a:p>
            <a:endParaRPr lang="en-US"/>
          </a:p>
        </p:txBody>
      </p:sp>
      <p:sp>
        <p:nvSpPr>
          <p:cNvPr id="30" name="Text 28"/>
          <p:cNvSpPr/>
          <p:nvPr/>
        </p:nvSpPr>
        <p:spPr>
          <a:xfrm>
            <a:off x="5413248"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05</a:t>
            </a:r>
            <a:endParaRPr lang="en-US" sz="1300" dirty="0"/>
          </a:p>
        </p:txBody>
      </p:sp>
      <p:sp>
        <p:nvSpPr>
          <p:cNvPr id="31" name="Text 29"/>
          <p:cNvSpPr/>
          <p:nvPr/>
        </p:nvSpPr>
        <p:spPr>
          <a:xfrm>
            <a:off x="5138928"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Submission</a:t>
            </a:r>
            <a:endParaRPr lang="en-US" sz="1000" dirty="0"/>
          </a:p>
        </p:txBody>
      </p:sp>
      <p:sp>
        <p:nvSpPr>
          <p:cNvPr id="32" name="Text 30"/>
          <p:cNvSpPr/>
          <p:nvPr/>
        </p:nvSpPr>
        <p:spPr>
          <a:xfrm>
            <a:off x="5138928"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X12 · Fax ·</a:t>
            </a:r>
            <a:endParaRPr lang="en-US" sz="850" dirty="0"/>
          </a:p>
          <a:p>
            <a:pPr marL="0" indent="0" algn="ctr">
              <a:buNone/>
            </a:pPr>
            <a:r>
              <a:rPr lang="en-US" sz="850" dirty="0">
                <a:solidFill>
                  <a:srgbClr val="7BA3C0"/>
                </a:solidFill>
              </a:rPr>
              <a:t>Portal RPA</a:t>
            </a:r>
            <a:endParaRPr lang="en-US" sz="850" dirty="0"/>
          </a:p>
        </p:txBody>
      </p:sp>
      <p:sp>
        <p:nvSpPr>
          <p:cNvPr id="33" name="Shape 31"/>
          <p:cNvSpPr/>
          <p:nvPr/>
        </p:nvSpPr>
        <p:spPr>
          <a:xfrm>
            <a:off x="6254496" y="2670048"/>
            <a:ext cx="82296" cy="0"/>
          </a:xfrm>
          <a:prstGeom prst="line">
            <a:avLst/>
          </a:prstGeom>
          <a:noFill/>
          <a:ln w="19050">
            <a:solidFill>
              <a:srgbClr val="7BA3C0"/>
            </a:solidFill>
            <a:prstDash val="solid"/>
          </a:ln>
        </p:spPr>
        <p:txBody>
          <a:bodyPr/>
          <a:lstStyle/>
          <a:p>
            <a:endParaRPr lang="en-US"/>
          </a:p>
        </p:txBody>
      </p:sp>
      <p:sp>
        <p:nvSpPr>
          <p:cNvPr id="34" name="Shape 32"/>
          <p:cNvSpPr/>
          <p:nvPr/>
        </p:nvSpPr>
        <p:spPr>
          <a:xfrm>
            <a:off x="6355080"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35" name="Shape 33"/>
          <p:cNvSpPr/>
          <p:nvPr/>
        </p:nvSpPr>
        <p:spPr>
          <a:xfrm>
            <a:off x="6629400" y="1143000"/>
            <a:ext cx="548640" cy="548640"/>
          </a:xfrm>
          <a:prstGeom prst="ellipse">
            <a:avLst/>
          </a:prstGeom>
          <a:solidFill>
            <a:srgbClr val="A78BFA"/>
          </a:solidFill>
          <a:ln w="12700">
            <a:solidFill>
              <a:srgbClr val="A78BFA"/>
            </a:solidFill>
            <a:prstDash val="solid"/>
          </a:ln>
        </p:spPr>
        <p:txBody>
          <a:bodyPr/>
          <a:lstStyle/>
          <a:p>
            <a:endParaRPr lang="en-US"/>
          </a:p>
        </p:txBody>
      </p:sp>
      <p:sp>
        <p:nvSpPr>
          <p:cNvPr id="36" name="Text 34"/>
          <p:cNvSpPr/>
          <p:nvPr/>
        </p:nvSpPr>
        <p:spPr>
          <a:xfrm>
            <a:off x="6629400"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06</a:t>
            </a:r>
            <a:endParaRPr lang="en-US" sz="1300" dirty="0"/>
          </a:p>
        </p:txBody>
      </p:sp>
      <p:sp>
        <p:nvSpPr>
          <p:cNvPr id="37" name="Text 35"/>
          <p:cNvSpPr/>
          <p:nvPr/>
        </p:nvSpPr>
        <p:spPr>
          <a:xfrm>
            <a:off x="6355080"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Response</a:t>
            </a:r>
            <a:endParaRPr lang="en-US" sz="1000" dirty="0"/>
          </a:p>
          <a:p>
            <a:pPr marL="0" indent="0" algn="ctr">
              <a:buNone/>
            </a:pPr>
            <a:r>
              <a:rPr lang="en-US" sz="1000" b="1" dirty="0">
                <a:solidFill>
                  <a:srgbClr val="FFFFFF"/>
                </a:solidFill>
              </a:rPr>
              <a:t>Tracking</a:t>
            </a:r>
            <a:endParaRPr lang="en-US" sz="1000" dirty="0"/>
          </a:p>
        </p:txBody>
      </p:sp>
      <p:sp>
        <p:nvSpPr>
          <p:cNvPr id="38" name="Text 36"/>
          <p:cNvSpPr/>
          <p:nvPr/>
        </p:nvSpPr>
        <p:spPr>
          <a:xfrm>
            <a:off x="6355080"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30/60/90-day</a:t>
            </a:r>
            <a:endParaRPr lang="en-US" sz="850" dirty="0"/>
          </a:p>
          <a:p>
            <a:pPr marL="0" indent="0" algn="ctr">
              <a:buNone/>
            </a:pPr>
            <a:r>
              <a:rPr lang="en-US" sz="850" dirty="0">
                <a:solidFill>
                  <a:srgbClr val="7BA3C0"/>
                </a:solidFill>
              </a:rPr>
              <a:t>timer events</a:t>
            </a:r>
            <a:endParaRPr lang="en-US" sz="850" dirty="0"/>
          </a:p>
        </p:txBody>
      </p:sp>
      <p:sp>
        <p:nvSpPr>
          <p:cNvPr id="39" name="Shape 37"/>
          <p:cNvSpPr/>
          <p:nvPr/>
        </p:nvSpPr>
        <p:spPr>
          <a:xfrm>
            <a:off x="7470648" y="2670048"/>
            <a:ext cx="82296" cy="0"/>
          </a:xfrm>
          <a:prstGeom prst="line">
            <a:avLst/>
          </a:prstGeom>
          <a:noFill/>
          <a:ln w="19050">
            <a:solidFill>
              <a:srgbClr val="7BA3C0"/>
            </a:solidFill>
            <a:prstDash val="solid"/>
          </a:ln>
        </p:spPr>
        <p:txBody>
          <a:bodyPr/>
          <a:lstStyle/>
          <a:p>
            <a:endParaRPr lang="en-US"/>
          </a:p>
        </p:txBody>
      </p:sp>
      <p:sp>
        <p:nvSpPr>
          <p:cNvPr id="40" name="Shape 38"/>
          <p:cNvSpPr/>
          <p:nvPr/>
        </p:nvSpPr>
        <p:spPr>
          <a:xfrm>
            <a:off x="7571232" y="1051560"/>
            <a:ext cx="1097280" cy="3246120"/>
          </a:xfrm>
          <a:prstGeom prst="roundRect">
            <a:avLst>
              <a:gd name="adj" fmla="val 8333"/>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41" name="Shape 39"/>
          <p:cNvSpPr/>
          <p:nvPr/>
        </p:nvSpPr>
        <p:spPr>
          <a:xfrm>
            <a:off x="7845552" y="1143000"/>
            <a:ext cx="548640" cy="548640"/>
          </a:xfrm>
          <a:prstGeom prst="ellipse">
            <a:avLst/>
          </a:prstGeom>
          <a:solidFill>
            <a:srgbClr val="34D399"/>
          </a:solidFill>
          <a:ln w="12700">
            <a:solidFill>
              <a:srgbClr val="34D399"/>
            </a:solidFill>
            <a:prstDash val="solid"/>
          </a:ln>
        </p:spPr>
        <p:txBody>
          <a:bodyPr/>
          <a:lstStyle/>
          <a:p>
            <a:endParaRPr lang="en-US"/>
          </a:p>
        </p:txBody>
      </p:sp>
      <p:sp>
        <p:nvSpPr>
          <p:cNvPr id="42" name="Text 40"/>
          <p:cNvSpPr/>
          <p:nvPr/>
        </p:nvSpPr>
        <p:spPr>
          <a:xfrm>
            <a:off x="7845552" y="1143000"/>
            <a:ext cx="548640" cy="548640"/>
          </a:xfrm>
          <a:prstGeom prst="rect">
            <a:avLst/>
          </a:prstGeom>
          <a:noFill/>
          <a:ln/>
        </p:spPr>
        <p:txBody>
          <a:bodyPr wrap="square" lIns="0" tIns="0" rIns="0" bIns="0" rtlCol="0" anchor="ctr"/>
          <a:lstStyle/>
          <a:p>
            <a:pPr marL="0" indent="0" algn="ctr">
              <a:buNone/>
            </a:pPr>
            <a:r>
              <a:rPr lang="en-US" sz="1300" b="1" dirty="0">
                <a:solidFill>
                  <a:srgbClr val="0B1A2E"/>
                </a:solidFill>
              </a:rPr>
              <a:t>07</a:t>
            </a:r>
            <a:endParaRPr lang="en-US" sz="1300" dirty="0"/>
          </a:p>
        </p:txBody>
      </p:sp>
      <p:sp>
        <p:nvSpPr>
          <p:cNvPr id="43" name="Text 41"/>
          <p:cNvSpPr/>
          <p:nvPr/>
        </p:nvSpPr>
        <p:spPr>
          <a:xfrm>
            <a:off x="7571232" y="1801368"/>
            <a:ext cx="1097280" cy="658368"/>
          </a:xfrm>
          <a:prstGeom prst="rect">
            <a:avLst/>
          </a:prstGeom>
          <a:noFill/>
          <a:ln/>
        </p:spPr>
        <p:txBody>
          <a:bodyPr wrap="square" lIns="50800" tIns="50800" rIns="50800" bIns="50800" rtlCol="0" anchor="t"/>
          <a:lstStyle/>
          <a:p>
            <a:pPr marL="0" indent="0" algn="ctr">
              <a:buNone/>
            </a:pPr>
            <a:r>
              <a:rPr lang="en-US" sz="1000" b="1" dirty="0">
                <a:solidFill>
                  <a:srgbClr val="FFFFFF"/>
                </a:solidFill>
              </a:rPr>
              <a:t>Analytics &amp;</a:t>
            </a:r>
            <a:endParaRPr lang="en-US" sz="1000" dirty="0"/>
          </a:p>
          <a:p>
            <a:pPr marL="0" indent="0" algn="ctr">
              <a:buNone/>
            </a:pPr>
            <a:r>
              <a:rPr lang="en-US" sz="1000" b="1" dirty="0">
                <a:solidFill>
                  <a:srgbClr val="FFFFFF"/>
                </a:solidFill>
              </a:rPr>
              <a:t>Learning</a:t>
            </a:r>
            <a:endParaRPr lang="en-US" sz="1000" dirty="0"/>
          </a:p>
        </p:txBody>
      </p:sp>
      <p:sp>
        <p:nvSpPr>
          <p:cNvPr id="44" name="Text 42"/>
          <p:cNvSpPr/>
          <p:nvPr/>
        </p:nvSpPr>
        <p:spPr>
          <a:xfrm>
            <a:off x="7571232" y="2514600"/>
            <a:ext cx="1097280" cy="1005840"/>
          </a:xfrm>
          <a:prstGeom prst="rect">
            <a:avLst/>
          </a:prstGeom>
          <a:noFill/>
          <a:ln/>
        </p:spPr>
        <p:txBody>
          <a:bodyPr wrap="square" lIns="50800" tIns="50800" rIns="50800" bIns="50800" rtlCol="0" anchor="t"/>
          <a:lstStyle/>
          <a:p>
            <a:pPr marL="0" indent="0" algn="ctr">
              <a:buNone/>
            </a:pPr>
            <a:r>
              <a:rPr lang="en-US" sz="850" dirty="0">
                <a:solidFill>
                  <a:srgbClr val="7BA3C0"/>
                </a:solidFill>
              </a:rPr>
              <a:t>Win rate by payer</a:t>
            </a:r>
            <a:endParaRPr lang="en-US" sz="850" dirty="0"/>
          </a:p>
          <a:p>
            <a:pPr marL="0" indent="0" algn="ctr">
              <a:buNone/>
            </a:pPr>
            <a:r>
              <a:rPr lang="en-US" sz="850" dirty="0">
                <a:solidFill>
                  <a:srgbClr val="7BA3C0"/>
                </a:solidFill>
              </a:rPr>
              <a:t>feedback loop</a:t>
            </a:r>
            <a:endParaRPr lang="en-US" sz="850" dirty="0"/>
          </a:p>
        </p:txBody>
      </p:sp>
      <p:sp>
        <p:nvSpPr>
          <p:cNvPr id="45" name="Shape 43"/>
          <p:cNvSpPr/>
          <p:nvPr/>
        </p:nvSpPr>
        <p:spPr>
          <a:xfrm>
            <a:off x="274320" y="4462272"/>
            <a:ext cx="8595360" cy="438912"/>
          </a:xfrm>
          <a:prstGeom prst="roundRect">
            <a:avLst>
              <a:gd name="adj" fmla="val 16667"/>
            </a:avLst>
          </a:prstGeom>
          <a:solidFill>
            <a:srgbClr val="162D4A"/>
          </a:solidFill>
          <a:ln/>
        </p:spPr>
        <p:txBody>
          <a:bodyPr/>
          <a:lstStyle/>
          <a:p>
            <a:endParaRPr lang="en-US"/>
          </a:p>
        </p:txBody>
      </p:sp>
      <p:sp>
        <p:nvSpPr>
          <p:cNvPr id="46" name="Text 44"/>
          <p:cNvSpPr/>
          <p:nvPr/>
        </p:nvSpPr>
        <p:spPr>
          <a:xfrm>
            <a:off x="274320" y="4462272"/>
            <a:ext cx="8595360" cy="438912"/>
          </a:xfrm>
          <a:prstGeom prst="rect">
            <a:avLst/>
          </a:prstGeom>
          <a:noFill/>
          <a:ln/>
        </p:spPr>
        <p:txBody>
          <a:bodyPr wrap="square" lIns="50800" tIns="50800" rIns="50800" bIns="50800" rtlCol="0" anchor="ctr"/>
          <a:lstStyle/>
          <a:p>
            <a:pPr marL="0" indent="0" algn="ctr">
              <a:buNone/>
            </a:pPr>
            <a:r>
              <a:rPr lang="en-US" sz="1000" i="1" dirty="0">
                <a:solidFill>
                  <a:srgbClr val="00BFA5"/>
                </a:solidFill>
              </a:rPr>
              <a:t>Phase 3 Spotlight: RAG over payer medical policy → maps criteria to chart evidence → auto-drafts appeal letter citing what the reviewer missed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38912"/>
          </a:xfrm>
          <a:prstGeom prst="rect">
            <a:avLst/>
          </a:prstGeom>
          <a:noFill/>
          <a:ln/>
        </p:spPr>
        <p:txBody>
          <a:bodyPr wrap="square" rtlCol="0" anchor="ctr"/>
          <a:lstStyle/>
          <a:p>
            <a:pPr marL="0" indent="0">
              <a:buNone/>
            </a:pPr>
            <a:r>
              <a:rPr lang="en-US" sz="2800" b="1" dirty="0">
                <a:solidFill>
                  <a:srgbClr val="0B1A2E"/>
                </a:solidFill>
                <a:latin typeface="Calibri" pitchFamily="34" charset="0"/>
                <a:ea typeface="Calibri" pitchFamily="34" charset="-122"/>
                <a:cs typeface="Calibri" pitchFamily="34" charset="-120"/>
              </a:rPr>
              <a:t>Hero Case: Medical Necessity Appeal</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200" i="1" dirty="0">
                <a:solidFill>
                  <a:srgbClr val="3B5A78"/>
                </a:solidFill>
              </a:rPr>
              <a:t>David Okafor · Sepsis inpatient · CO-50 denial · Meridian MP-114 §4.2 · Appeal wins</a:t>
            </a:r>
            <a:endParaRPr lang="en-US" sz="1200" dirty="0"/>
          </a:p>
        </p:txBody>
      </p:sp>
      <p:sp>
        <p:nvSpPr>
          <p:cNvPr id="4" name="Shape 2"/>
          <p:cNvSpPr/>
          <p:nvPr/>
        </p:nvSpPr>
        <p:spPr>
          <a:xfrm>
            <a:off x="457200" y="1051560"/>
            <a:ext cx="5029200" cy="658368"/>
          </a:xfrm>
          <a:prstGeom prst="roundRect">
            <a:avLst>
              <a:gd name="adj" fmla="val 11111"/>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566928" y="1252728"/>
            <a:ext cx="274320" cy="274320"/>
          </a:xfrm>
          <a:prstGeom prst="ellipse">
            <a:avLst/>
          </a:prstGeom>
          <a:solidFill>
            <a:srgbClr val="00BFA5"/>
          </a:solidFill>
          <a:ln w="12700">
            <a:solidFill>
              <a:srgbClr val="00BFA5"/>
            </a:solidFill>
            <a:prstDash val="solid"/>
          </a:ln>
        </p:spPr>
        <p:txBody>
          <a:bodyPr/>
          <a:lstStyle/>
          <a:p>
            <a:endParaRPr lang="en-US"/>
          </a:p>
        </p:txBody>
      </p:sp>
      <p:sp>
        <p:nvSpPr>
          <p:cNvPr id="6" name="Text 4"/>
          <p:cNvSpPr/>
          <p:nvPr/>
        </p:nvSpPr>
        <p:spPr>
          <a:xfrm>
            <a:off x="566928" y="125272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960120" y="1088136"/>
            <a:ext cx="2011680" cy="292608"/>
          </a:xfrm>
          <a:prstGeom prst="rect">
            <a:avLst/>
          </a:prstGeom>
          <a:noFill/>
          <a:ln/>
        </p:spPr>
        <p:txBody>
          <a:bodyPr wrap="square" lIns="0" tIns="0" rIns="0" bIns="0" rtlCol="0" anchor="ctr"/>
          <a:lstStyle/>
          <a:p>
            <a:pPr marL="0" indent="0">
              <a:buNone/>
            </a:pPr>
            <a:r>
              <a:rPr lang="en-US" sz="1100" b="1" dirty="0">
                <a:solidFill>
                  <a:srgbClr val="0B1A2E"/>
                </a:solidFill>
              </a:rPr>
              <a:t>RPA: Chart Pull</a:t>
            </a:r>
            <a:endParaRPr lang="en-US" sz="1100" dirty="0"/>
          </a:p>
        </p:txBody>
      </p:sp>
      <p:sp>
        <p:nvSpPr>
          <p:cNvPr id="8" name="Text 6"/>
          <p:cNvSpPr/>
          <p:nvPr/>
        </p:nvSpPr>
        <p:spPr>
          <a:xfrm>
            <a:off x="960120" y="1399032"/>
            <a:ext cx="4389120" cy="256032"/>
          </a:xfrm>
          <a:prstGeom prst="rect">
            <a:avLst/>
          </a:prstGeom>
          <a:noFill/>
          <a:ln/>
        </p:spPr>
        <p:txBody>
          <a:bodyPr wrap="square" lIns="0" tIns="0" rIns="0" bIns="0" rtlCol="0" anchor="ctr"/>
          <a:lstStyle/>
          <a:p>
            <a:pPr marL="0" indent="0">
              <a:buNone/>
            </a:pPr>
            <a:r>
              <a:rPr lang="en-US" sz="950" dirty="0">
                <a:solidFill>
                  <a:srgbClr val="3B5A78"/>
                </a:solidFill>
              </a:rPr>
              <a:t>Robot pulls patient chart from EMR — labs, clinical notes, imaging</a:t>
            </a:r>
            <a:endParaRPr lang="en-US" sz="950" dirty="0"/>
          </a:p>
        </p:txBody>
      </p:sp>
      <p:sp>
        <p:nvSpPr>
          <p:cNvPr id="9" name="Shape 7"/>
          <p:cNvSpPr/>
          <p:nvPr/>
        </p:nvSpPr>
        <p:spPr>
          <a:xfrm>
            <a:off x="457200" y="1810512"/>
            <a:ext cx="5029200" cy="658368"/>
          </a:xfrm>
          <a:prstGeom prst="roundRect">
            <a:avLst>
              <a:gd name="adj" fmla="val 11111"/>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0" name="Shape 8"/>
          <p:cNvSpPr/>
          <p:nvPr/>
        </p:nvSpPr>
        <p:spPr>
          <a:xfrm>
            <a:off x="566928" y="2011680"/>
            <a:ext cx="274320" cy="274320"/>
          </a:xfrm>
          <a:prstGeom prst="ellipse">
            <a:avLst/>
          </a:prstGeom>
          <a:solidFill>
            <a:srgbClr val="00BFA5"/>
          </a:solidFill>
          <a:ln w="12700">
            <a:solidFill>
              <a:srgbClr val="00BFA5"/>
            </a:solidFill>
            <a:prstDash val="solid"/>
          </a:ln>
        </p:spPr>
        <p:txBody>
          <a:bodyPr/>
          <a:lstStyle/>
          <a:p>
            <a:endParaRPr lang="en-US"/>
          </a:p>
        </p:txBody>
      </p:sp>
      <p:sp>
        <p:nvSpPr>
          <p:cNvPr id="11" name="Text 9"/>
          <p:cNvSpPr/>
          <p:nvPr/>
        </p:nvSpPr>
        <p:spPr>
          <a:xfrm>
            <a:off x="566928" y="201168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2" name="Text 10"/>
          <p:cNvSpPr/>
          <p:nvPr/>
        </p:nvSpPr>
        <p:spPr>
          <a:xfrm>
            <a:off x="960120" y="1847088"/>
            <a:ext cx="2011680" cy="292608"/>
          </a:xfrm>
          <a:prstGeom prst="rect">
            <a:avLst/>
          </a:prstGeom>
          <a:noFill/>
          <a:ln/>
        </p:spPr>
        <p:txBody>
          <a:bodyPr wrap="square" lIns="0" tIns="0" rIns="0" bIns="0" rtlCol="0" anchor="ctr"/>
          <a:lstStyle/>
          <a:p>
            <a:pPr marL="0" indent="0">
              <a:buNone/>
            </a:pPr>
            <a:r>
              <a:rPr lang="en-US" sz="1100" b="1" dirty="0">
                <a:solidFill>
                  <a:srgbClr val="0B1A2E"/>
                </a:solidFill>
              </a:rPr>
              <a:t>DU: Clinical Extraction</a:t>
            </a:r>
            <a:endParaRPr lang="en-US" sz="1100" dirty="0"/>
          </a:p>
        </p:txBody>
      </p:sp>
      <p:sp>
        <p:nvSpPr>
          <p:cNvPr id="13" name="Text 11"/>
          <p:cNvSpPr/>
          <p:nvPr/>
        </p:nvSpPr>
        <p:spPr>
          <a:xfrm>
            <a:off x="960120" y="2157984"/>
            <a:ext cx="4389120" cy="256032"/>
          </a:xfrm>
          <a:prstGeom prst="rect">
            <a:avLst/>
          </a:prstGeom>
          <a:noFill/>
          <a:ln/>
        </p:spPr>
        <p:txBody>
          <a:bodyPr wrap="square" lIns="0" tIns="0" rIns="0" bIns="0" rtlCol="0" anchor="ctr"/>
          <a:lstStyle/>
          <a:p>
            <a:pPr marL="0" indent="0">
              <a:buNone/>
            </a:pPr>
            <a:r>
              <a:rPr lang="en-US" sz="950" dirty="0">
                <a:solidFill>
                  <a:srgbClr val="3B5A78"/>
                </a:solidFill>
              </a:rPr>
              <a:t>Document Understanding extracts structured data from unstructured notes</a:t>
            </a:r>
            <a:endParaRPr lang="en-US" sz="950" dirty="0"/>
          </a:p>
        </p:txBody>
      </p:sp>
      <p:sp>
        <p:nvSpPr>
          <p:cNvPr id="14" name="Shape 12"/>
          <p:cNvSpPr/>
          <p:nvPr/>
        </p:nvSpPr>
        <p:spPr>
          <a:xfrm>
            <a:off x="457200" y="2569464"/>
            <a:ext cx="5029200" cy="658368"/>
          </a:xfrm>
          <a:prstGeom prst="roundRect">
            <a:avLst>
              <a:gd name="adj" fmla="val 11111"/>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5" name="Shape 13"/>
          <p:cNvSpPr/>
          <p:nvPr/>
        </p:nvSpPr>
        <p:spPr>
          <a:xfrm>
            <a:off x="566928" y="2770632"/>
            <a:ext cx="274320" cy="274320"/>
          </a:xfrm>
          <a:prstGeom prst="ellipse">
            <a:avLst/>
          </a:prstGeom>
          <a:solidFill>
            <a:srgbClr val="00BFA5"/>
          </a:solidFill>
          <a:ln w="12700">
            <a:solidFill>
              <a:srgbClr val="00BFA5"/>
            </a:solidFill>
            <a:prstDash val="solid"/>
          </a:ln>
        </p:spPr>
        <p:txBody>
          <a:bodyPr/>
          <a:lstStyle/>
          <a:p>
            <a:endParaRPr lang="en-US"/>
          </a:p>
        </p:txBody>
      </p:sp>
      <p:sp>
        <p:nvSpPr>
          <p:cNvPr id="16" name="Text 14"/>
          <p:cNvSpPr/>
          <p:nvPr/>
        </p:nvSpPr>
        <p:spPr>
          <a:xfrm>
            <a:off x="566928" y="27706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7" name="Text 15"/>
          <p:cNvSpPr/>
          <p:nvPr/>
        </p:nvSpPr>
        <p:spPr>
          <a:xfrm>
            <a:off x="960120" y="2606040"/>
            <a:ext cx="2011680" cy="292608"/>
          </a:xfrm>
          <a:prstGeom prst="rect">
            <a:avLst/>
          </a:prstGeom>
          <a:noFill/>
          <a:ln/>
        </p:spPr>
        <p:txBody>
          <a:bodyPr wrap="square" lIns="0" tIns="0" rIns="0" bIns="0" rtlCol="0" anchor="ctr"/>
          <a:lstStyle/>
          <a:p>
            <a:pPr marL="0" indent="0">
              <a:buNone/>
            </a:pPr>
            <a:r>
              <a:rPr lang="en-US" sz="1100" b="1" dirty="0">
                <a:solidFill>
                  <a:srgbClr val="0B1A2E"/>
                </a:solidFill>
              </a:rPr>
              <a:t>RAG: Policy Mapping</a:t>
            </a:r>
            <a:endParaRPr lang="en-US" sz="1100" dirty="0"/>
          </a:p>
        </p:txBody>
      </p:sp>
      <p:sp>
        <p:nvSpPr>
          <p:cNvPr id="18" name="Text 16"/>
          <p:cNvSpPr/>
          <p:nvPr/>
        </p:nvSpPr>
        <p:spPr>
          <a:xfrm>
            <a:off x="960120" y="2916936"/>
            <a:ext cx="4389120" cy="256032"/>
          </a:xfrm>
          <a:prstGeom prst="rect">
            <a:avLst/>
          </a:prstGeom>
          <a:noFill/>
          <a:ln/>
        </p:spPr>
        <p:txBody>
          <a:bodyPr wrap="square" lIns="0" tIns="0" rIns="0" bIns="0" rtlCol="0" anchor="ctr"/>
          <a:lstStyle/>
          <a:p>
            <a:pPr marL="0" indent="0">
              <a:buNone/>
            </a:pPr>
            <a:r>
              <a:rPr lang="en-US" sz="950" dirty="0">
                <a:solidFill>
                  <a:srgbClr val="3B5A78"/>
                </a:solidFill>
              </a:rPr>
              <a:t>LangChain agent runs RAG over Meridian MP-114 §4.2 — maps each criterion to chart evidence</a:t>
            </a:r>
            <a:endParaRPr lang="en-US" sz="950" dirty="0"/>
          </a:p>
        </p:txBody>
      </p:sp>
      <p:sp>
        <p:nvSpPr>
          <p:cNvPr id="19" name="Shape 17"/>
          <p:cNvSpPr/>
          <p:nvPr/>
        </p:nvSpPr>
        <p:spPr>
          <a:xfrm>
            <a:off x="457200" y="3328416"/>
            <a:ext cx="5029200" cy="658368"/>
          </a:xfrm>
          <a:prstGeom prst="roundRect">
            <a:avLst>
              <a:gd name="adj" fmla="val 11111"/>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0" name="Shape 18"/>
          <p:cNvSpPr/>
          <p:nvPr/>
        </p:nvSpPr>
        <p:spPr>
          <a:xfrm>
            <a:off x="566928" y="3529584"/>
            <a:ext cx="274320" cy="274320"/>
          </a:xfrm>
          <a:prstGeom prst="ellipse">
            <a:avLst/>
          </a:prstGeom>
          <a:solidFill>
            <a:srgbClr val="00BFA5"/>
          </a:solidFill>
          <a:ln w="12700">
            <a:solidFill>
              <a:srgbClr val="00BFA5"/>
            </a:solidFill>
            <a:prstDash val="solid"/>
          </a:ln>
        </p:spPr>
        <p:txBody>
          <a:bodyPr/>
          <a:lstStyle/>
          <a:p>
            <a:endParaRPr lang="en-US"/>
          </a:p>
        </p:txBody>
      </p:sp>
      <p:sp>
        <p:nvSpPr>
          <p:cNvPr id="21" name="Text 19"/>
          <p:cNvSpPr/>
          <p:nvPr/>
        </p:nvSpPr>
        <p:spPr>
          <a:xfrm>
            <a:off x="566928" y="3529584"/>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22" name="Text 20"/>
          <p:cNvSpPr/>
          <p:nvPr/>
        </p:nvSpPr>
        <p:spPr>
          <a:xfrm>
            <a:off x="960120" y="3364992"/>
            <a:ext cx="2011680" cy="292608"/>
          </a:xfrm>
          <a:prstGeom prst="rect">
            <a:avLst/>
          </a:prstGeom>
          <a:noFill/>
          <a:ln/>
        </p:spPr>
        <p:txBody>
          <a:bodyPr wrap="square" lIns="0" tIns="0" rIns="0" bIns="0" rtlCol="0" anchor="ctr"/>
          <a:lstStyle/>
          <a:p>
            <a:pPr marL="0" indent="0">
              <a:buNone/>
            </a:pPr>
            <a:r>
              <a:rPr lang="en-US" sz="1100" b="1" dirty="0">
                <a:solidFill>
                  <a:srgbClr val="0B1A2E"/>
                </a:solidFill>
              </a:rPr>
              <a:t>Agent: Appeal Draft</a:t>
            </a:r>
            <a:endParaRPr lang="en-US" sz="1100" dirty="0"/>
          </a:p>
        </p:txBody>
      </p:sp>
      <p:sp>
        <p:nvSpPr>
          <p:cNvPr id="23" name="Text 21"/>
          <p:cNvSpPr/>
          <p:nvPr/>
        </p:nvSpPr>
        <p:spPr>
          <a:xfrm>
            <a:off x="960120" y="3675888"/>
            <a:ext cx="4389120" cy="256032"/>
          </a:xfrm>
          <a:prstGeom prst="rect">
            <a:avLst/>
          </a:prstGeom>
          <a:noFill/>
          <a:ln/>
        </p:spPr>
        <p:txBody>
          <a:bodyPr wrap="square" lIns="0" tIns="0" rIns="0" bIns="0" rtlCol="0" anchor="ctr"/>
          <a:lstStyle/>
          <a:p>
            <a:pPr marL="0" indent="0">
              <a:buNone/>
            </a:pPr>
            <a:r>
              <a:rPr lang="en-US" sz="950" dirty="0">
                <a:solidFill>
                  <a:srgbClr val="3B5A78"/>
                </a:solidFill>
              </a:rPr>
              <a:t>Appeal Drafter writes payer-specific letter citing criteria the reviewer missed</a:t>
            </a:r>
            <a:endParaRPr lang="en-US" sz="950" dirty="0"/>
          </a:p>
        </p:txBody>
      </p:sp>
      <p:sp>
        <p:nvSpPr>
          <p:cNvPr id="24" name="Shape 22"/>
          <p:cNvSpPr/>
          <p:nvPr/>
        </p:nvSpPr>
        <p:spPr>
          <a:xfrm>
            <a:off x="457200" y="4087368"/>
            <a:ext cx="5029200" cy="658368"/>
          </a:xfrm>
          <a:prstGeom prst="roundRect">
            <a:avLst>
              <a:gd name="adj" fmla="val 11111"/>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5" name="Shape 23"/>
          <p:cNvSpPr/>
          <p:nvPr/>
        </p:nvSpPr>
        <p:spPr>
          <a:xfrm>
            <a:off x="566928" y="4288536"/>
            <a:ext cx="274320" cy="274320"/>
          </a:xfrm>
          <a:prstGeom prst="ellipse">
            <a:avLst/>
          </a:prstGeom>
          <a:solidFill>
            <a:srgbClr val="EF5350"/>
          </a:solidFill>
          <a:ln w="12700">
            <a:solidFill>
              <a:srgbClr val="EF5350"/>
            </a:solidFill>
            <a:prstDash val="solid"/>
          </a:ln>
        </p:spPr>
        <p:txBody>
          <a:bodyPr/>
          <a:lstStyle/>
          <a:p>
            <a:endParaRPr lang="en-US"/>
          </a:p>
        </p:txBody>
      </p:sp>
      <p:sp>
        <p:nvSpPr>
          <p:cNvPr id="26" name="Text 24"/>
          <p:cNvSpPr/>
          <p:nvPr/>
        </p:nvSpPr>
        <p:spPr>
          <a:xfrm>
            <a:off x="566928" y="428853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27" name="Text 25"/>
          <p:cNvSpPr/>
          <p:nvPr/>
        </p:nvSpPr>
        <p:spPr>
          <a:xfrm>
            <a:off x="960120" y="4123944"/>
            <a:ext cx="2011680" cy="292608"/>
          </a:xfrm>
          <a:prstGeom prst="rect">
            <a:avLst/>
          </a:prstGeom>
          <a:noFill/>
          <a:ln/>
        </p:spPr>
        <p:txBody>
          <a:bodyPr wrap="square" lIns="0" tIns="0" rIns="0" bIns="0" rtlCol="0" anchor="ctr"/>
          <a:lstStyle/>
          <a:p>
            <a:pPr marL="0" indent="0">
              <a:buNone/>
            </a:pPr>
            <a:r>
              <a:rPr lang="en-US" sz="1100" b="1" dirty="0">
                <a:solidFill>
                  <a:srgbClr val="0B1A2E"/>
                </a:solidFill>
              </a:rPr>
              <a:t>SB 1120: Physician Sign</a:t>
            </a:r>
            <a:endParaRPr lang="en-US" sz="1100" dirty="0"/>
          </a:p>
        </p:txBody>
      </p:sp>
      <p:sp>
        <p:nvSpPr>
          <p:cNvPr id="28" name="Text 26"/>
          <p:cNvSpPr/>
          <p:nvPr/>
        </p:nvSpPr>
        <p:spPr>
          <a:xfrm>
            <a:off x="960120" y="4434840"/>
            <a:ext cx="4389120" cy="256032"/>
          </a:xfrm>
          <a:prstGeom prst="rect">
            <a:avLst/>
          </a:prstGeom>
          <a:noFill/>
          <a:ln/>
        </p:spPr>
        <p:txBody>
          <a:bodyPr wrap="square" lIns="0" tIns="0" rIns="0" bIns="0" rtlCol="0" anchor="ctr"/>
          <a:lstStyle/>
          <a:p>
            <a:pPr marL="0" indent="0">
              <a:buNone/>
            </a:pPr>
            <a:r>
              <a:rPr lang="en-US" sz="950" dirty="0">
                <a:solidFill>
                  <a:srgbClr val="3B5A78"/>
                </a:solidFill>
              </a:rPr>
              <a:t>Physician reviews in Action Center — attestation required before submission</a:t>
            </a:r>
            <a:endParaRPr lang="en-US" sz="950" dirty="0"/>
          </a:p>
        </p:txBody>
      </p:sp>
      <p:sp>
        <p:nvSpPr>
          <p:cNvPr id="29" name="Shape 27"/>
          <p:cNvSpPr/>
          <p:nvPr/>
        </p:nvSpPr>
        <p:spPr>
          <a:xfrm>
            <a:off x="5669280" y="1051560"/>
            <a:ext cx="3017520" cy="3657600"/>
          </a:xfrm>
          <a:prstGeom prst="roundRect">
            <a:avLst>
              <a:gd name="adj" fmla="val 3636"/>
            </a:avLst>
          </a:prstGeom>
          <a:solidFill>
            <a:srgbClr val="0B1A2E"/>
          </a:solidFill>
          <a:ln/>
          <a:effectLst>
            <a:outerShdw blurRad="127000" dist="38100" dir="2700000" algn="bl" rotWithShape="0">
              <a:srgbClr val="000000">
                <a:alpha val="18000"/>
              </a:srgbClr>
            </a:outerShdw>
          </a:effectLst>
        </p:spPr>
        <p:txBody>
          <a:bodyPr/>
          <a:lstStyle/>
          <a:p>
            <a:endParaRPr lang="en-US"/>
          </a:p>
        </p:txBody>
      </p:sp>
      <p:sp>
        <p:nvSpPr>
          <p:cNvPr id="30" name="Text 28"/>
          <p:cNvSpPr/>
          <p:nvPr/>
        </p:nvSpPr>
        <p:spPr>
          <a:xfrm>
            <a:off x="5669280" y="1188720"/>
            <a:ext cx="3017520" cy="685800"/>
          </a:xfrm>
          <a:prstGeom prst="rect">
            <a:avLst/>
          </a:prstGeom>
          <a:noFill/>
          <a:ln/>
        </p:spPr>
        <p:txBody>
          <a:bodyPr wrap="square" lIns="0" tIns="0" rIns="0" bIns="0" rtlCol="0" anchor="ctr"/>
          <a:lstStyle/>
          <a:p>
            <a:pPr marL="0" indent="0" algn="ctr">
              <a:buNone/>
            </a:pPr>
            <a:r>
              <a:rPr lang="en-US" sz="2000" b="1" dirty="0">
                <a:solidFill>
                  <a:srgbClr val="00BFA5"/>
                </a:solidFill>
              </a:rPr>
              <a:t>Denial</a:t>
            </a:r>
            <a:endParaRPr lang="en-US" sz="2000" dirty="0"/>
          </a:p>
          <a:p>
            <a:pPr marL="0" indent="0" algn="ctr">
              <a:buNone/>
            </a:pPr>
            <a:r>
              <a:rPr lang="en-US" sz="2000" b="1" dirty="0">
                <a:solidFill>
                  <a:srgbClr val="00BFA5"/>
                </a:solidFill>
              </a:rPr>
              <a:t>Dismissed</a:t>
            </a:r>
            <a:endParaRPr lang="en-US" sz="2000" dirty="0"/>
          </a:p>
        </p:txBody>
      </p:sp>
      <p:sp>
        <p:nvSpPr>
          <p:cNvPr id="31" name="Shape 29"/>
          <p:cNvSpPr/>
          <p:nvPr/>
        </p:nvSpPr>
        <p:spPr>
          <a:xfrm>
            <a:off x="5852160" y="1938528"/>
            <a:ext cx="2651760" cy="0"/>
          </a:xfrm>
          <a:prstGeom prst="line">
            <a:avLst/>
          </a:prstGeom>
          <a:noFill/>
          <a:ln w="12700">
            <a:solidFill>
              <a:srgbClr val="162D4A"/>
            </a:solidFill>
            <a:prstDash val="solid"/>
          </a:ln>
        </p:spPr>
        <p:txBody>
          <a:bodyPr/>
          <a:lstStyle/>
          <a:p>
            <a:endParaRPr lang="en-US"/>
          </a:p>
        </p:txBody>
      </p:sp>
      <p:sp>
        <p:nvSpPr>
          <p:cNvPr id="32" name="Text 30"/>
          <p:cNvSpPr/>
          <p:nvPr/>
        </p:nvSpPr>
        <p:spPr>
          <a:xfrm>
            <a:off x="5715000" y="2029968"/>
            <a:ext cx="1005840" cy="347472"/>
          </a:xfrm>
          <a:prstGeom prst="rect">
            <a:avLst/>
          </a:prstGeom>
          <a:noFill/>
          <a:ln/>
        </p:spPr>
        <p:txBody>
          <a:bodyPr wrap="square" lIns="0" tIns="0" rIns="0" bIns="0" rtlCol="0" anchor="ctr"/>
          <a:lstStyle/>
          <a:p>
            <a:pPr marL="0" indent="0">
              <a:buNone/>
            </a:pPr>
            <a:r>
              <a:rPr lang="en-US" sz="950" dirty="0">
                <a:solidFill>
                  <a:srgbClr val="7BA3C0"/>
                </a:solidFill>
              </a:rPr>
              <a:t>Patient:</a:t>
            </a:r>
            <a:endParaRPr lang="en-US" sz="950" dirty="0"/>
          </a:p>
        </p:txBody>
      </p:sp>
      <p:sp>
        <p:nvSpPr>
          <p:cNvPr id="33" name="Text 31"/>
          <p:cNvSpPr/>
          <p:nvPr/>
        </p:nvSpPr>
        <p:spPr>
          <a:xfrm>
            <a:off x="6720840" y="2029968"/>
            <a:ext cx="1874520" cy="347472"/>
          </a:xfrm>
          <a:prstGeom prst="rect">
            <a:avLst/>
          </a:prstGeom>
          <a:noFill/>
          <a:ln/>
        </p:spPr>
        <p:txBody>
          <a:bodyPr wrap="square" lIns="0" tIns="0" rIns="0" bIns="0" rtlCol="0" anchor="ctr"/>
          <a:lstStyle/>
          <a:p>
            <a:pPr marL="0" indent="0">
              <a:buNone/>
            </a:pPr>
            <a:r>
              <a:rPr lang="en-US" sz="1000" dirty="0">
                <a:solidFill>
                  <a:srgbClr val="FFFFFF"/>
                </a:solidFill>
              </a:rPr>
              <a:t>David Okafor</a:t>
            </a:r>
            <a:endParaRPr lang="en-US" sz="1000" dirty="0"/>
          </a:p>
        </p:txBody>
      </p:sp>
      <p:sp>
        <p:nvSpPr>
          <p:cNvPr id="34" name="Text 32"/>
          <p:cNvSpPr/>
          <p:nvPr/>
        </p:nvSpPr>
        <p:spPr>
          <a:xfrm>
            <a:off x="5715000" y="2441448"/>
            <a:ext cx="1005840" cy="347472"/>
          </a:xfrm>
          <a:prstGeom prst="rect">
            <a:avLst/>
          </a:prstGeom>
          <a:noFill/>
          <a:ln/>
        </p:spPr>
        <p:txBody>
          <a:bodyPr wrap="square" lIns="0" tIns="0" rIns="0" bIns="0" rtlCol="0" anchor="ctr"/>
          <a:lstStyle/>
          <a:p>
            <a:pPr marL="0" indent="0">
              <a:buNone/>
            </a:pPr>
            <a:r>
              <a:rPr lang="en-US" sz="950" dirty="0">
                <a:solidFill>
                  <a:srgbClr val="7BA3C0"/>
                </a:solidFill>
              </a:rPr>
              <a:t>Diagnosis:</a:t>
            </a:r>
            <a:endParaRPr lang="en-US" sz="950" dirty="0"/>
          </a:p>
        </p:txBody>
      </p:sp>
      <p:sp>
        <p:nvSpPr>
          <p:cNvPr id="35" name="Text 33"/>
          <p:cNvSpPr/>
          <p:nvPr/>
        </p:nvSpPr>
        <p:spPr>
          <a:xfrm>
            <a:off x="6720840" y="2441448"/>
            <a:ext cx="1874520" cy="347472"/>
          </a:xfrm>
          <a:prstGeom prst="rect">
            <a:avLst/>
          </a:prstGeom>
          <a:noFill/>
          <a:ln/>
        </p:spPr>
        <p:txBody>
          <a:bodyPr wrap="square" lIns="0" tIns="0" rIns="0" bIns="0" rtlCol="0" anchor="ctr"/>
          <a:lstStyle/>
          <a:p>
            <a:pPr marL="0" indent="0">
              <a:buNone/>
            </a:pPr>
            <a:r>
              <a:rPr lang="en-US" sz="1000" dirty="0">
                <a:solidFill>
                  <a:srgbClr val="FFFFFF"/>
                </a:solidFill>
              </a:rPr>
              <a:t>Sepsis Inpatient</a:t>
            </a:r>
            <a:endParaRPr lang="en-US" sz="1000" dirty="0"/>
          </a:p>
        </p:txBody>
      </p:sp>
      <p:sp>
        <p:nvSpPr>
          <p:cNvPr id="36" name="Text 34"/>
          <p:cNvSpPr/>
          <p:nvPr/>
        </p:nvSpPr>
        <p:spPr>
          <a:xfrm>
            <a:off x="5715000" y="2852928"/>
            <a:ext cx="1005840" cy="347472"/>
          </a:xfrm>
          <a:prstGeom prst="rect">
            <a:avLst/>
          </a:prstGeom>
          <a:noFill/>
          <a:ln/>
        </p:spPr>
        <p:txBody>
          <a:bodyPr wrap="square" lIns="0" tIns="0" rIns="0" bIns="0" rtlCol="0" anchor="ctr"/>
          <a:lstStyle/>
          <a:p>
            <a:pPr marL="0" indent="0">
              <a:buNone/>
            </a:pPr>
            <a:r>
              <a:rPr lang="en-US" sz="950" dirty="0">
                <a:solidFill>
                  <a:srgbClr val="7BA3C0"/>
                </a:solidFill>
              </a:rPr>
              <a:t>Denial:</a:t>
            </a:r>
            <a:endParaRPr lang="en-US" sz="950" dirty="0"/>
          </a:p>
        </p:txBody>
      </p:sp>
      <p:sp>
        <p:nvSpPr>
          <p:cNvPr id="37" name="Text 35"/>
          <p:cNvSpPr/>
          <p:nvPr/>
        </p:nvSpPr>
        <p:spPr>
          <a:xfrm>
            <a:off x="6720840" y="2852928"/>
            <a:ext cx="1874520" cy="347472"/>
          </a:xfrm>
          <a:prstGeom prst="rect">
            <a:avLst/>
          </a:prstGeom>
          <a:noFill/>
          <a:ln/>
        </p:spPr>
        <p:txBody>
          <a:bodyPr wrap="square" lIns="0" tIns="0" rIns="0" bIns="0" rtlCol="0" anchor="ctr"/>
          <a:lstStyle/>
          <a:p>
            <a:pPr marL="0" indent="0">
              <a:buNone/>
            </a:pPr>
            <a:r>
              <a:rPr lang="en-US" sz="1000" dirty="0">
                <a:solidFill>
                  <a:srgbClr val="FFFFFF"/>
                </a:solidFill>
              </a:rPr>
              <a:t>CO-50 (Med. Nec.)</a:t>
            </a:r>
            <a:endParaRPr lang="en-US" sz="1000" dirty="0"/>
          </a:p>
        </p:txBody>
      </p:sp>
      <p:sp>
        <p:nvSpPr>
          <p:cNvPr id="38" name="Text 36"/>
          <p:cNvSpPr/>
          <p:nvPr/>
        </p:nvSpPr>
        <p:spPr>
          <a:xfrm>
            <a:off x="5715000" y="3264408"/>
            <a:ext cx="1005840" cy="347472"/>
          </a:xfrm>
          <a:prstGeom prst="rect">
            <a:avLst/>
          </a:prstGeom>
          <a:noFill/>
          <a:ln/>
        </p:spPr>
        <p:txBody>
          <a:bodyPr wrap="square" lIns="0" tIns="0" rIns="0" bIns="0" rtlCol="0" anchor="ctr"/>
          <a:lstStyle/>
          <a:p>
            <a:pPr marL="0" indent="0">
              <a:buNone/>
            </a:pPr>
            <a:r>
              <a:rPr lang="en-US" sz="950" dirty="0">
                <a:solidFill>
                  <a:srgbClr val="7BA3C0"/>
                </a:solidFill>
              </a:rPr>
              <a:t>Payer:</a:t>
            </a:r>
            <a:endParaRPr lang="en-US" sz="950" dirty="0"/>
          </a:p>
        </p:txBody>
      </p:sp>
      <p:sp>
        <p:nvSpPr>
          <p:cNvPr id="39" name="Text 37"/>
          <p:cNvSpPr/>
          <p:nvPr/>
        </p:nvSpPr>
        <p:spPr>
          <a:xfrm>
            <a:off x="6720840" y="3264408"/>
            <a:ext cx="1874520" cy="347472"/>
          </a:xfrm>
          <a:prstGeom prst="rect">
            <a:avLst/>
          </a:prstGeom>
          <a:noFill/>
          <a:ln/>
        </p:spPr>
        <p:txBody>
          <a:bodyPr wrap="square" lIns="0" tIns="0" rIns="0" bIns="0" rtlCol="0" anchor="ctr"/>
          <a:lstStyle/>
          <a:p>
            <a:pPr marL="0" indent="0">
              <a:buNone/>
            </a:pPr>
            <a:r>
              <a:rPr lang="en-US" sz="1000" dirty="0">
                <a:solidFill>
                  <a:srgbClr val="FFFFFF"/>
                </a:solidFill>
              </a:rPr>
              <a:t>Meridian (MA)</a:t>
            </a:r>
            <a:endParaRPr lang="en-US" sz="1000" dirty="0"/>
          </a:p>
        </p:txBody>
      </p:sp>
      <p:sp>
        <p:nvSpPr>
          <p:cNvPr id="40" name="Text 38"/>
          <p:cNvSpPr/>
          <p:nvPr/>
        </p:nvSpPr>
        <p:spPr>
          <a:xfrm>
            <a:off x="5715000" y="3675888"/>
            <a:ext cx="1005840" cy="347472"/>
          </a:xfrm>
          <a:prstGeom prst="rect">
            <a:avLst/>
          </a:prstGeom>
          <a:noFill/>
          <a:ln/>
        </p:spPr>
        <p:txBody>
          <a:bodyPr wrap="square" lIns="0" tIns="0" rIns="0" bIns="0" rtlCol="0" anchor="ctr"/>
          <a:lstStyle/>
          <a:p>
            <a:pPr marL="0" indent="0">
              <a:buNone/>
            </a:pPr>
            <a:r>
              <a:rPr lang="en-US" sz="950" dirty="0">
                <a:solidFill>
                  <a:srgbClr val="7BA3C0"/>
                </a:solidFill>
              </a:rPr>
              <a:t>Policy:</a:t>
            </a:r>
            <a:endParaRPr lang="en-US" sz="950" dirty="0"/>
          </a:p>
        </p:txBody>
      </p:sp>
      <p:sp>
        <p:nvSpPr>
          <p:cNvPr id="41" name="Text 39"/>
          <p:cNvSpPr/>
          <p:nvPr/>
        </p:nvSpPr>
        <p:spPr>
          <a:xfrm>
            <a:off x="6720840" y="3675888"/>
            <a:ext cx="1874520" cy="347472"/>
          </a:xfrm>
          <a:prstGeom prst="rect">
            <a:avLst/>
          </a:prstGeom>
          <a:noFill/>
          <a:ln/>
        </p:spPr>
        <p:txBody>
          <a:bodyPr wrap="square" lIns="0" tIns="0" rIns="0" bIns="0" rtlCol="0" anchor="ctr"/>
          <a:lstStyle/>
          <a:p>
            <a:pPr marL="0" indent="0">
              <a:buNone/>
            </a:pPr>
            <a:r>
              <a:rPr lang="en-US" sz="1000" dirty="0">
                <a:solidFill>
                  <a:srgbClr val="FFFFFF"/>
                </a:solidFill>
              </a:rPr>
              <a:t>MP-114 §4.2</a:t>
            </a:r>
            <a:endParaRPr lang="en-US" sz="1000" dirty="0"/>
          </a:p>
        </p:txBody>
      </p:sp>
      <p:sp>
        <p:nvSpPr>
          <p:cNvPr id="42" name="Text 40"/>
          <p:cNvSpPr/>
          <p:nvPr/>
        </p:nvSpPr>
        <p:spPr>
          <a:xfrm>
            <a:off x="5715000" y="4087368"/>
            <a:ext cx="1005840" cy="347472"/>
          </a:xfrm>
          <a:prstGeom prst="rect">
            <a:avLst/>
          </a:prstGeom>
          <a:noFill/>
          <a:ln/>
        </p:spPr>
        <p:txBody>
          <a:bodyPr wrap="square" lIns="0" tIns="0" rIns="0" bIns="0" rtlCol="0" anchor="ctr"/>
          <a:lstStyle/>
          <a:p>
            <a:pPr marL="0" indent="0">
              <a:buNone/>
            </a:pPr>
            <a:r>
              <a:rPr lang="en-US" sz="950" dirty="0">
                <a:solidFill>
                  <a:srgbClr val="7BA3C0"/>
                </a:solidFill>
              </a:rPr>
              <a:t>Outcome:</a:t>
            </a:r>
            <a:endParaRPr lang="en-US" sz="950" dirty="0"/>
          </a:p>
        </p:txBody>
      </p:sp>
      <p:sp>
        <p:nvSpPr>
          <p:cNvPr id="43" name="Text 41"/>
          <p:cNvSpPr/>
          <p:nvPr/>
        </p:nvSpPr>
        <p:spPr>
          <a:xfrm>
            <a:off x="6720840" y="4087368"/>
            <a:ext cx="1874520" cy="347472"/>
          </a:xfrm>
          <a:prstGeom prst="rect">
            <a:avLst/>
          </a:prstGeom>
          <a:noFill/>
          <a:ln/>
        </p:spPr>
        <p:txBody>
          <a:bodyPr wrap="square" lIns="0" tIns="0" rIns="0" bIns="0" rtlCol="0" anchor="ctr"/>
          <a:lstStyle/>
          <a:p>
            <a:pPr marL="0" indent="0">
              <a:buNone/>
            </a:pPr>
            <a:r>
              <a:rPr lang="en-US" sz="1000" b="1" dirty="0">
                <a:solidFill>
                  <a:srgbClr val="00BFA5"/>
                </a:solidFill>
              </a:rPr>
              <a:t>Appeal Approved ✓</a:t>
            </a:r>
            <a:endParaRPr lang="en-US" sz="1000" dirty="0"/>
          </a:p>
        </p:txBody>
      </p:sp>
      <p:sp>
        <p:nvSpPr>
          <p:cNvPr id="44" name="Shape 42"/>
          <p:cNvSpPr/>
          <p:nvPr/>
        </p:nvSpPr>
        <p:spPr>
          <a:xfrm>
            <a:off x="457200" y="4681728"/>
            <a:ext cx="8229600" cy="320040"/>
          </a:xfrm>
          <a:prstGeom prst="roundRect">
            <a:avLst>
              <a:gd name="adj" fmla="val 20000"/>
            </a:avLst>
          </a:prstGeom>
          <a:solidFill>
            <a:srgbClr val="EF5350">
              <a:alpha val="15000"/>
            </a:srgbClr>
          </a:solidFill>
          <a:ln/>
        </p:spPr>
        <p:txBody>
          <a:bodyPr/>
          <a:lstStyle/>
          <a:p>
            <a:endParaRPr lang="en-US"/>
          </a:p>
        </p:txBody>
      </p:sp>
      <p:sp>
        <p:nvSpPr>
          <p:cNvPr id="45" name="Text 43"/>
          <p:cNvSpPr/>
          <p:nvPr/>
        </p:nvSpPr>
        <p:spPr>
          <a:xfrm>
            <a:off x="457200" y="4681728"/>
            <a:ext cx="8229600" cy="320040"/>
          </a:xfrm>
          <a:prstGeom prst="rect">
            <a:avLst/>
          </a:prstGeom>
          <a:noFill/>
          <a:ln/>
        </p:spPr>
        <p:txBody>
          <a:bodyPr wrap="square" lIns="0" tIns="0" rIns="0" bIns="0" rtlCol="0" anchor="ctr"/>
          <a:lstStyle/>
          <a:p>
            <a:pPr marL="0" indent="0" algn="ctr">
              <a:buNone/>
            </a:pPr>
            <a:r>
              <a:rPr lang="en-US" sz="950" b="1" dirty="0">
                <a:solidFill>
                  <a:srgbClr val="EF5350"/>
                </a:solidFill>
              </a:rPr>
              <a:t>SB 1120 (CA Physicians Make Decisions Act): Licensed clinician — not algorithm — makes every medical necessity determination. Architecture compliant by design.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2E"/>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3891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Architecture: 100% UiPath Cloud</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200" i="1" dirty="0">
                <a:solidFill>
                  <a:srgbClr val="00BFA5"/>
                </a:solidFill>
              </a:rPr>
              <a:t>No desktop dependencies — cloud-native by design, with Claude Code for agentic coded logic (judging bonus)</a:t>
            </a:r>
            <a:endParaRPr lang="en-US" sz="1200" dirty="0"/>
          </a:p>
        </p:txBody>
      </p:sp>
      <p:sp>
        <p:nvSpPr>
          <p:cNvPr id="4" name="Shape 2"/>
          <p:cNvSpPr/>
          <p:nvPr/>
        </p:nvSpPr>
        <p:spPr>
          <a:xfrm>
            <a:off x="457200" y="1078992"/>
            <a:ext cx="2697480" cy="1554480"/>
          </a:xfrm>
          <a:prstGeom prst="roundRect">
            <a:avLst>
              <a:gd name="adj" fmla="val 5882"/>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566928" y="1536192"/>
            <a:ext cx="347472" cy="347472"/>
          </a:xfrm>
          <a:prstGeom prst="rect">
            <a:avLst/>
          </a:prstGeom>
        </p:spPr>
      </p:pic>
      <p:sp>
        <p:nvSpPr>
          <p:cNvPr id="6" name="Text 3"/>
          <p:cNvSpPr/>
          <p:nvPr/>
        </p:nvSpPr>
        <p:spPr>
          <a:xfrm>
            <a:off x="987552" y="1170432"/>
            <a:ext cx="2057400" cy="347472"/>
          </a:xfrm>
          <a:prstGeom prst="rect">
            <a:avLst/>
          </a:prstGeom>
          <a:noFill/>
          <a:ln/>
        </p:spPr>
        <p:txBody>
          <a:bodyPr wrap="square" lIns="0" tIns="0" rIns="0" bIns="0" rtlCol="0" anchor="ctr"/>
          <a:lstStyle/>
          <a:p>
            <a:pPr marL="0" indent="0">
              <a:buNone/>
            </a:pPr>
            <a:r>
              <a:rPr lang="en-US" sz="1250" b="1" dirty="0">
                <a:solidFill>
                  <a:srgbClr val="FFFFFF"/>
                </a:solidFill>
              </a:rPr>
              <a:t>Maestro BPMN</a:t>
            </a:r>
            <a:endParaRPr lang="en-US" sz="1250" dirty="0"/>
          </a:p>
        </p:txBody>
      </p:sp>
      <p:sp>
        <p:nvSpPr>
          <p:cNvPr id="7" name="Text 4"/>
          <p:cNvSpPr/>
          <p:nvPr/>
        </p:nvSpPr>
        <p:spPr>
          <a:xfrm>
            <a:off x="566928" y="1883664"/>
            <a:ext cx="2496312" cy="658368"/>
          </a:xfrm>
          <a:prstGeom prst="rect">
            <a:avLst/>
          </a:prstGeom>
          <a:noFill/>
          <a:ln/>
        </p:spPr>
        <p:txBody>
          <a:bodyPr wrap="square" lIns="0" tIns="0" rIns="0" bIns="0" rtlCol="0" anchor="t"/>
          <a:lstStyle/>
          <a:p>
            <a:pPr marL="0" indent="0">
              <a:buNone/>
            </a:pPr>
            <a:r>
              <a:rPr lang="en-US" sz="900" dirty="0">
                <a:solidFill>
                  <a:srgbClr val="7BA3C0"/>
                </a:solidFill>
              </a:rPr>
              <a:t>5-branch exclusive gateway · 7-phase orchestration · long-running timer events</a:t>
            </a:r>
            <a:endParaRPr lang="en-US" sz="900" dirty="0"/>
          </a:p>
        </p:txBody>
      </p:sp>
      <p:sp>
        <p:nvSpPr>
          <p:cNvPr id="8" name="Shape 5"/>
          <p:cNvSpPr/>
          <p:nvPr/>
        </p:nvSpPr>
        <p:spPr>
          <a:xfrm>
            <a:off x="3337560" y="1078992"/>
            <a:ext cx="2697480" cy="1554480"/>
          </a:xfrm>
          <a:prstGeom prst="roundRect">
            <a:avLst>
              <a:gd name="adj" fmla="val 5882"/>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3447288" y="1536192"/>
            <a:ext cx="347472" cy="347472"/>
          </a:xfrm>
          <a:prstGeom prst="rect">
            <a:avLst/>
          </a:prstGeom>
        </p:spPr>
      </p:pic>
      <p:sp>
        <p:nvSpPr>
          <p:cNvPr id="10" name="Text 6"/>
          <p:cNvSpPr/>
          <p:nvPr/>
        </p:nvSpPr>
        <p:spPr>
          <a:xfrm>
            <a:off x="3867912" y="1170432"/>
            <a:ext cx="2057400" cy="347472"/>
          </a:xfrm>
          <a:prstGeom prst="rect">
            <a:avLst/>
          </a:prstGeom>
          <a:noFill/>
          <a:ln/>
        </p:spPr>
        <p:txBody>
          <a:bodyPr wrap="square" lIns="0" tIns="0" rIns="0" bIns="0" rtlCol="0" anchor="ctr"/>
          <a:lstStyle/>
          <a:p>
            <a:pPr marL="0" indent="0">
              <a:buNone/>
            </a:pPr>
            <a:r>
              <a:rPr lang="en-US" sz="1250" b="1" dirty="0">
                <a:solidFill>
                  <a:srgbClr val="FFFFFF"/>
                </a:solidFill>
              </a:rPr>
              <a:t>Agent Builder</a:t>
            </a:r>
            <a:endParaRPr lang="en-US" sz="1250" dirty="0"/>
          </a:p>
        </p:txBody>
      </p:sp>
      <p:sp>
        <p:nvSpPr>
          <p:cNvPr id="11" name="Text 7"/>
          <p:cNvSpPr/>
          <p:nvPr/>
        </p:nvSpPr>
        <p:spPr>
          <a:xfrm>
            <a:off x="3447288" y="1883664"/>
            <a:ext cx="2496312" cy="658368"/>
          </a:xfrm>
          <a:prstGeom prst="rect">
            <a:avLst/>
          </a:prstGeom>
          <a:noFill/>
          <a:ln/>
        </p:spPr>
        <p:txBody>
          <a:bodyPr wrap="square" lIns="0" tIns="0" rIns="0" bIns="0" rtlCol="0" anchor="t"/>
          <a:lstStyle/>
          <a:p>
            <a:pPr marL="0" indent="0">
              <a:buNone/>
            </a:pPr>
            <a:r>
              <a:rPr lang="en-US" sz="900" dirty="0">
                <a:solidFill>
                  <a:srgbClr val="7BA3C0"/>
                </a:solidFill>
              </a:rPr>
              <a:t>Ingestion Agent · Classification Agent (LangGraph) · Appeal Drafter Agent</a:t>
            </a:r>
            <a:endParaRPr lang="en-US" sz="900" dirty="0"/>
          </a:p>
        </p:txBody>
      </p:sp>
      <p:sp>
        <p:nvSpPr>
          <p:cNvPr id="12" name="Shape 8"/>
          <p:cNvSpPr/>
          <p:nvPr/>
        </p:nvSpPr>
        <p:spPr>
          <a:xfrm>
            <a:off x="6217920" y="1078992"/>
            <a:ext cx="2697480" cy="1554480"/>
          </a:xfrm>
          <a:prstGeom prst="roundRect">
            <a:avLst>
              <a:gd name="adj" fmla="val 5882"/>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6327648" y="1536192"/>
            <a:ext cx="347472" cy="347472"/>
          </a:xfrm>
          <a:prstGeom prst="rect">
            <a:avLst/>
          </a:prstGeom>
        </p:spPr>
      </p:pic>
      <p:sp>
        <p:nvSpPr>
          <p:cNvPr id="14" name="Text 9"/>
          <p:cNvSpPr/>
          <p:nvPr/>
        </p:nvSpPr>
        <p:spPr>
          <a:xfrm>
            <a:off x="6748272" y="1170432"/>
            <a:ext cx="2057400" cy="347472"/>
          </a:xfrm>
          <a:prstGeom prst="rect">
            <a:avLst/>
          </a:prstGeom>
          <a:noFill/>
          <a:ln/>
        </p:spPr>
        <p:txBody>
          <a:bodyPr wrap="square" lIns="0" tIns="0" rIns="0" bIns="0" rtlCol="0" anchor="ctr"/>
          <a:lstStyle/>
          <a:p>
            <a:pPr marL="0" indent="0">
              <a:buNone/>
            </a:pPr>
            <a:r>
              <a:rPr lang="en-US" sz="1250" b="1" dirty="0">
                <a:solidFill>
                  <a:srgbClr val="FFFFFF"/>
                </a:solidFill>
              </a:rPr>
              <a:t>Data Fabric</a:t>
            </a:r>
            <a:endParaRPr lang="en-US" sz="1250" dirty="0"/>
          </a:p>
        </p:txBody>
      </p:sp>
      <p:sp>
        <p:nvSpPr>
          <p:cNvPr id="15" name="Text 10"/>
          <p:cNvSpPr/>
          <p:nvPr/>
        </p:nvSpPr>
        <p:spPr>
          <a:xfrm>
            <a:off x="6327648" y="1883664"/>
            <a:ext cx="2496312" cy="658368"/>
          </a:xfrm>
          <a:prstGeom prst="rect">
            <a:avLst/>
          </a:prstGeom>
          <a:noFill/>
          <a:ln/>
        </p:spPr>
        <p:txBody>
          <a:bodyPr wrap="square" lIns="0" tIns="0" rIns="0" bIns="0" rtlCol="0" anchor="t"/>
          <a:lstStyle/>
          <a:p>
            <a:pPr marL="0" indent="0">
              <a:buNone/>
            </a:pPr>
            <a:r>
              <a:rPr lang="en-US" sz="900" dirty="0">
                <a:solidFill>
                  <a:srgbClr val="7BA3C0"/>
                </a:solidFill>
              </a:rPr>
              <a:t>IngestionData entity · classification persistence · payer policy store</a:t>
            </a:r>
            <a:endParaRPr lang="en-US" sz="900" dirty="0"/>
          </a:p>
        </p:txBody>
      </p:sp>
      <p:sp>
        <p:nvSpPr>
          <p:cNvPr id="16" name="Shape 11"/>
          <p:cNvSpPr/>
          <p:nvPr/>
        </p:nvSpPr>
        <p:spPr>
          <a:xfrm>
            <a:off x="457200" y="2834640"/>
            <a:ext cx="2697480" cy="1554480"/>
          </a:xfrm>
          <a:prstGeom prst="roundRect">
            <a:avLst>
              <a:gd name="adj" fmla="val 5882"/>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566928" y="3291840"/>
            <a:ext cx="347472" cy="347472"/>
          </a:xfrm>
          <a:prstGeom prst="rect">
            <a:avLst/>
          </a:prstGeom>
        </p:spPr>
      </p:pic>
      <p:sp>
        <p:nvSpPr>
          <p:cNvPr id="18" name="Text 12"/>
          <p:cNvSpPr/>
          <p:nvPr/>
        </p:nvSpPr>
        <p:spPr>
          <a:xfrm>
            <a:off x="987552" y="2926080"/>
            <a:ext cx="2057400" cy="347472"/>
          </a:xfrm>
          <a:prstGeom prst="rect">
            <a:avLst/>
          </a:prstGeom>
          <a:noFill/>
          <a:ln/>
        </p:spPr>
        <p:txBody>
          <a:bodyPr wrap="square" lIns="0" tIns="0" rIns="0" bIns="0" rtlCol="0" anchor="ctr"/>
          <a:lstStyle/>
          <a:p>
            <a:pPr marL="0" indent="0">
              <a:buNone/>
            </a:pPr>
            <a:r>
              <a:rPr lang="en-US" sz="1250" b="1" dirty="0">
                <a:solidFill>
                  <a:srgbClr val="FFFFFF"/>
                </a:solidFill>
              </a:rPr>
              <a:t>Action Center</a:t>
            </a:r>
            <a:endParaRPr lang="en-US" sz="1250" dirty="0"/>
          </a:p>
        </p:txBody>
      </p:sp>
      <p:sp>
        <p:nvSpPr>
          <p:cNvPr id="19" name="Text 13"/>
          <p:cNvSpPr/>
          <p:nvPr/>
        </p:nvSpPr>
        <p:spPr>
          <a:xfrm>
            <a:off x="566928" y="3639312"/>
            <a:ext cx="2496312" cy="658368"/>
          </a:xfrm>
          <a:prstGeom prst="rect">
            <a:avLst/>
          </a:prstGeom>
          <a:noFill/>
          <a:ln/>
        </p:spPr>
        <p:txBody>
          <a:bodyPr wrap="square" lIns="0" tIns="0" rIns="0" bIns="0" rtlCol="0" anchor="t"/>
          <a:lstStyle/>
          <a:p>
            <a:pPr marL="0" indent="0">
              <a:buNone/>
            </a:pPr>
            <a:r>
              <a:rPr lang="en-US" sz="900" dirty="0">
                <a:solidFill>
                  <a:srgbClr val="7BA3C0"/>
                </a:solidFill>
              </a:rPr>
              <a:t>Specialist review queue · Physician attestation tasks (SB 1120 gate)</a:t>
            </a:r>
            <a:endParaRPr lang="en-US" sz="900" dirty="0"/>
          </a:p>
        </p:txBody>
      </p:sp>
      <p:sp>
        <p:nvSpPr>
          <p:cNvPr id="20" name="Shape 14"/>
          <p:cNvSpPr/>
          <p:nvPr/>
        </p:nvSpPr>
        <p:spPr>
          <a:xfrm>
            <a:off x="3337560" y="2834640"/>
            <a:ext cx="2697480" cy="1554480"/>
          </a:xfrm>
          <a:prstGeom prst="roundRect">
            <a:avLst>
              <a:gd name="adj" fmla="val 5882"/>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3447288" y="3291840"/>
            <a:ext cx="347472" cy="347472"/>
          </a:xfrm>
          <a:prstGeom prst="rect">
            <a:avLst/>
          </a:prstGeom>
        </p:spPr>
      </p:pic>
      <p:sp>
        <p:nvSpPr>
          <p:cNvPr id="22" name="Text 15"/>
          <p:cNvSpPr/>
          <p:nvPr/>
        </p:nvSpPr>
        <p:spPr>
          <a:xfrm>
            <a:off x="3867912" y="2926080"/>
            <a:ext cx="2057400" cy="347472"/>
          </a:xfrm>
          <a:prstGeom prst="rect">
            <a:avLst/>
          </a:prstGeom>
          <a:noFill/>
          <a:ln/>
        </p:spPr>
        <p:txBody>
          <a:bodyPr wrap="square" lIns="0" tIns="0" rIns="0" bIns="0" rtlCol="0" anchor="ctr"/>
          <a:lstStyle/>
          <a:p>
            <a:pPr marL="0" indent="0">
              <a:buNone/>
            </a:pPr>
            <a:r>
              <a:rPr lang="en-US" sz="1250" b="1" dirty="0">
                <a:solidFill>
                  <a:srgbClr val="FFFFFF"/>
                </a:solidFill>
              </a:rPr>
              <a:t>Studio Web</a:t>
            </a:r>
            <a:endParaRPr lang="en-US" sz="1250" dirty="0"/>
          </a:p>
        </p:txBody>
      </p:sp>
      <p:sp>
        <p:nvSpPr>
          <p:cNvPr id="23" name="Text 16"/>
          <p:cNvSpPr/>
          <p:nvPr/>
        </p:nvSpPr>
        <p:spPr>
          <a:xfrm>
            <a:off x="3447288" y="3639312"/>
            <a:ext cx="2496312" cy="658368"/>
          </a:xfrm>
          <a:prstGeom prst="rect">
            <a:avLst/>
          </a:prstGeom>
          <a:noFill/>
          <a:ln/>
        </p:spPr>
        <p:txBody>
          <a:bodyPr wrap="square" lIns="0" tIns="0" rIns="0" bIns="0" rtlCol="0" anchor="t"/>
          <a:lstStyle/>
          <a:p>
            <a:pPr marL="0" indent="0">
              <a:buNone/>
            </a:pPr>
            <a:r>
              <a:rPr lang="en-US" sz="900" dirty="0">
                <a:solidFill>
                  <a:srgbClr val="7BA3C0"/>
                </a:solidFill>
              </a:rPr>
              <a:t>All process logic, cloud activities, Data Fabric R/W, no desktop activities</a:t>
            </a:r>
            <a:endParaRPr lang="en-US" sz="900" dirty="0"/>
          </a:p>
        </p:txBody>
      </p:sp>
      <p:sp>
        <p:nvSpPr>
          <p:cNvPr id="24" name="Shape 17"/>
          <p:cNvSpPr/>
          <p:nvPr/>
        </p:nvSpPr>
        <p:spPr>
          <a:xfrm>
            <a:off x="6217920" y="2834640"/>
            <a:ext cx="2697480" cy="1554480"/>
          </a:xfrm>
          <a:prstGeom prst="roundRect">
            <a:avLst>
              <a:gd name="adj" fmla="val 5882"/>
            </a:avLst>
          </a:prstGeom>
          <a:solidFill>
            <a:srgbClr val="162D4A"/>
          </a:solidFill>
          <a:ln/>
          <a:effectLst>
            <a:outerShdw blurRad="127000" dist="38100" dir="2700000" algn="bl" rotWithShape="0">
              <a:srgbClr val="000000">
                <a:alpha val="18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6327648" y="3291840"/>
            <a:ext cx="347472" cy="347472"/>
          </a:xfrm>
          <a:prstGeom prst="rect">
            <a:avLst/>
          </a:prstGeom>
        </p:spPr>
      </p:pic>
      <p:sp>
        <p:nvSpPr>
          <p:cNvPr id="26" name="Text 18"/>
          <p:cNvSpPr/>
          <p:nvPr/>
        </p:nvSpPr>
        <p:spPr>
          <a:xfrm>
            <a:off x="6748272" y="2926080"/>
            <a:ext cx="2057400" cy="347472"/>
          </a:xfrm>
          <a:prstGeom prst="rect">
            <a:avLst/>
          </a:prstGeom>
          <a:noFill/>
          <a:ln/>
        </p:spPr>
        <p:txBody>
          <a:bodyPr wrap="square" lIns="0" tIns="0" rIns="0" bIns="0" rtlCol="0" anchor="ctr"/>
          <a:lstStyle/>
          <a:p>
            <a:pPr marL="0" indent="0">
              <a:buNone/>
            </a:pPr>
            <a:r>
              <a:rPr lang="en-US" sz="1250" b="1" dirty="0">
                <a:solidFill>
                  <a:srgbClr val="FFFFFF"/>
                </a:solidFill>
              </a:rPr>
              <a:t>UiPath Apps</a:t>
            </a:r>
            <a:endParaRPr lang="en-US" sz="1250" dirty="0"/>
          </a:p>
        </p:txBody>
      </p:sp>
      <p:sp>
        <p:nvSpPr>
          <p:cNvPr id="27" name="Text 19"/>
          <p:cNvSpPr/>
          <p:nvPr/>
        </p:nvSpPr>
        <p:spPr>
          <a:xfrm>
            <a:off x="6327648" y="3639312"/>
            <a:ext cx="2496312" cy="658368"/>
          </a:xfrm>
          <a:prstGeom prst="rect">
            <a:avLst/>
          </a:prstGeom>
          <a:noFill/>
          <a:ln/>
        </p:spPr>
        <p:txBody>
          <a:bodyPr wrap="square" lIns="0" tIns="0" rIns="0" bIns="0" rtlCol="0" anchor="t"/>
          <a:lstStyle/>
          <a:p>
            <a:pPr marL="0" indent="0">
              <a:buNone/>
            </a:pPr>
            <a:r>
              <a:rPr lang="en-US" sz="900" dirty="0">
                <a:solidFill>
                  <a:srgbClr val="7BA3C0"/>
                </a:solidFill>
              </a:rPr>
              <a:t>Billing specialist UI — denial + AI appeal side-by-side · approve/edit/escalate</a:t>
            </a:r>
            <a:endParaRPr lang="en-US" sz="900" dirty="0"/>
          </a:p>
        </p:txBody>
      </p:sp>
      <p:sp>
        <p:nvSpPr>
          <p:cNvPr id="28" name="Shape 20"/>
          <p:cNvSpPr/>
          <p:nvPr/>
        </p:nvSpPr>
        <p:spPr>
          <a:xfrm>
            <a:off x="457200" y="4645152"/>
            <a:ext cx="8229600" cy="320040"/>
          </a:xfrm>
          <a:prstGeom prst="roundRect">
            <a:avLst>
              <a:gd name="adj" fmla="val 22857"/>
            </a:avLst>
          </a:prstGeom>
          <a:solidFill>
            <a:srgbClr val="162D4A"/>
          </a:solidFill>
          <a:ln/>
        </p:spPr>
        <p:txBody>
          <a:bodyPr/>
          <a:lstStyle/>
          <a:p>
            <a:endParaRPr lang="en-US"/>
          </a:p>
        </p:txBody>
      </p:sp>
      <p:sp>
        <p:nvSpPr>
          <p:cNvPr id="29" name="Text 21"/>
          <p:cNvSpPr/>
          <p:nvPr/>
        </p:nvSpPr>
        <p:spPr>
          <a:xfrm>
            <a:off x="457200" y="4645152"/>
            <a:ext cx="8229600" cy="320040"/>
          </a:xfrm>
          <a:prstGeom prst="rect">
            <a:avLst/>
          </a:prstGeom>
          <a:noFill/>
          <a:ln/>
        </p:spPr>
        <p:txBody>
          <a:bodyPr wrap="square" lIns="0" tIns="0" rIns="0" bIns="0" rtlCol="0" anchor="ctr"/>
          <a:lstStyle/>
          <a:p>
            <a:pPr marL="0" indent="0" algn="ctr">
              <a:buNone/>
            </a:pPr>
            <a:r>
              <a:rPr lang="en-US" sz="1000" dirty="0">
                <a:solidFill>
                  <a:srgbClr val="F4C842"/>
                </a:solidFill>
              </a:rPr>
              <a:t>Coded agents: Claude Code (Anthropic) → LangGraph classification agent · VB.NET logic in Studio Web  |  Judging bonus: external coding agent used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38912"/>
          </a:xfrm>
          <a:prstGeom prst="rect">
            <a:avLst/>
          </a:prstGeom>
          <a:noFill/>
          <a:ln/>
        </p:spPr>
        <p:txBody>
          <a:bodyPr wrap="square" rtlCol="0" anchor="ctr"/>
          <a:lstStyle/>
          <a:p>
            <a:pPr marL="0" indent="0">
              <a:buNone/>
            </a:pPr>
            <a:r>
              <a:rPr lang="en-US" sz="2800" b="1" dirty="0">
                <a:solidFill>
                  <a:srgbClr val="0B1A2E"/>
                </a:solidFill>
                <a:latin typeface="Calibri" pitchFamily="34" charset="0"/>
                <a:ea typeface="Calibri" pitchFamily="34" charset="-122"/>
                <a:cs typeface="Calibri" pitchFamily="34" charset="-120"/>
              </a:rPr>
              <a:t>Classification Agent: Built &amp; Working</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200" i="1" dirty="0">
                <a:solidFill>
                  <a:srgbClr val="3B5A78"/>
                </a:solidFill>
              </a:rPr>
              <a:t>LangGraph · Agent Builder · Claude Haiku via UiPath Bedrock wrapper</a:t>
            </a:r>
            <a:endParaRPr lang="en-US" sz="1200" dirty="0"/>
          </a:p>
        </p:txBody>
      </p:sp>
      <p:sp>
        <p:nvSpPr>
          <p:cNvPr id="4" name="Shape 2"/>
          <p:cNvSpPr/>
          <p:nvPr/>
        </p:nvSpPr>
        <p:spPr>
          <a:xfrm>
            <a:off x="457200" y="1143000"/>
            <a:ext cx="1965960" cy="1572768"/>
          </a:xfrm>
          <a:prstGeom prst="roundRect">
            <a:avLst>
              <a:gd name="adj" fmla="val 5814"/>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5" name="Shape 3"/>
          <p:cNvSpPr/>
          <p:nvPr/>
        </p:nvSpPr>
        <p:spPr>
          <a:xfrm>
            <a:off x="1207008" y="1234440"/>
            <a:ext cx="457200" cy="457200"/>
          </a:xfrm>
          <a:prstGeom prst="ellipse">
            <a:avLst/>
          </a:prstGeom>
          <a:solidFill>
            <a:srgbClr val="00BFA5"/>
          </a:solidFill>
          <a:ln w="12700">
            <a:solidFill>
              <a:srgbClr val="00BFA5"/>
            </a:solidFill>
            <a:prstDash val="solid"/>
          </a:ln>
        </p:spPr>
        <p:txBody>
          <a:bodyPr/>
          <a:lstStyle/>
          <a:p>
            <a:endParaRPr lang="en-US"/>
          </a:p>
        </p:txBody>
      </p:sp>
      <p:sp>
        <p:nvSpPr>
          <p:cNvPr id="6" name="Text 4"/>
          <p:cNvSpPr/>
          <p:nvPr/>
        </p:nvSpPr>
        <p:spPr>
          <a:xfrm>
            <a:off x="1207008" y="1234440"/>
            <a:ext cx="457200" cy="457200"/>
          </a:xfrm>
          <a:prstGeom prst="rect">
            <a:avLst/>
          </a:prstGeom>
          <a:noFill/>
          <a:ln/>
        </p:spPr>
        <p:txBody>
          <a:bodyPr wrap="square" lIns="0" tIns="0" rIns="0" bIns="0" rtlCol="0" anchor="ctr"/>
          <a:lstStyle/>
          <a:p>
            <a:pPr marL="0" indent="0" algn="ctr">
              <a:buNone/>
            </a:pPr>
            <a:r>
              <a:rPr lang="en-US" sz="1200" b="1" dirty="0">
                <a:solidFill>
                  <a:srgbClr val="0B1A2E"/>
                </a:solidFill>
              </a:rPr>
              <a:t>1</a:t>
            </a:r>
            <a:endParaRPr lang="en-US" sz="1200" dirty="0"/>
          </a:p>
        </p:txBody>
      </p:sp>
      <p:sp>
        <p:nvSpPr>
          <p:cNvPr id="7" name="Text 5"/>
          <p:cNvSpPr/>
          <p:nvPr/>
        </p:nvSpPr>
        <p:spPr>
          <a:xfrm>
            <a:off x="457200" y="1755648"/>
            <a:ext cx="1965960" cy="320040"/>
          </a:xfrm>
          <a:prstGeom prst="rect">
            <a:avLst/>
          </a:prstGeom>
          <a:noFill/>
          <a:ln/>
        </p:spPr>
        <p:txBody>
          <a:bodyPr wrap="square" lIns="0" tIns="0" rIns="0" bIns="0" rtlCol="0" anchor="ctr"/>
          <a:lstStyle/>
          <a:p>
            <a:pPr marL="0" indent="0" algn="ctr">
              <a:buNone/>
            </a:pPr>
            <a:r>
              <a:rPr lang="en-US" sz="1150" b="1" dirty="0">
                <a:solidFill>
                  <a:srgbClr val="0B1A2E"/>
                </a:solidFill>
              </a:rPr>
              <a:t>Prepare</a:t>
            </a:r>
            <a:endParaRPr lang="en-US" sz="1150" dirty="0"/>
          </a:p>
        </p:txBody>
      </p:sp>
      <p:sp>
        <p:nvSpPr>
          <p:cNvPr id="8" name="Text 6"/>
          <p:cNvSpPr/>
          <p:nvPr/>
        </p:nvSpPr>
        <p:spPr>
          <a:xfrm>
            <a:off x="457200" y="2103120"/>
            <a:ext cx="1965960" cy="530352"/>
          </a:xfrm>
          <a:prstGeom prst="rect">
            <a:avLst/>
          </a:prstGeom>
          <a:noFill/>
          <a:ln/>
        </p:spPr>
        <p:txBody>
          <a:bodyPr wrap="square" lIns="50800" tIns="50800" rIns="50800" bIns="50800" rtlCol="0" anchor="ctr"/>
          <a:lstStyle/>
          <a:p>
            <a:pPr marL="0" indent="0" algn="ctr">
              <a:buNone/>
            </a:pPr>
            <a:r>
              <a:rPr lang="en-US" sz="950" dirty="0">
                <a:solidFill>
                  <a:srgbClr val="3B5A78"/>
                </a:solidFill>
              </a:rPr>
              <a:t>Read record_id input → call Get Entity Record by ID on IngestionData</a:t>
            </a:r>
            <a:endParaRPr lang="en-US" sz="950" dirty="0"/>
          </a:p>
        </p:txBody>
      </p:sp>
      <p:sp>
        <p:nvSpPr>
          <p:cNvPr id="9" name="Shape 7"/>
          <p:cNvSpPr/>
          <p:nvPr/>
        </p:nvSpPr>
        <p:spPr>
          <a:xfrm>
            <a:off x="2606040" y="1143000"/>
            <a:ext cx="1965960" cy="1572768"/>
          </a:xfrm>
          <a:prstGeom prst="roundRect">
            <a:avLst>
              <a:gd name="adj" fmla="val 5814"/>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0" name="Shape 8"/>
          <p:cNvSpPr/>
          <p:nvPr/>
        </p:nvSpPr>
        <p:spPr>
          <a:xfrm>
            <a:off x="3355848" y="1234440"/>
            <a:ext cx="457200" cy="457200"/>
          </a:xfrm>
          <a:prstGeom prst="ellipse">
            <a:avLst/>
          </a:prstGeom>
          <a:solidFill>
            <a:srgbClr val="00BFA5"/>
          </a:solidFill>
          <a:ln w="12700">
            <a:solidFill>
              <a:srgbClr val="00BFA5"/>
            </a:solidFill>
            <a:prstDash val="solid"/>
          </a:ln>
        </p:spPr>
        <p:txBody>
          <a:bodyPr/>
          <a:lstStyle/>
          <a:p>
            <a:endParaRPr lang="en-US"/>
          </a:p>
        </p:txBody>
      </p:sp>
      <p:sp>
        <p:nvSpPr>
          <p:cNvPr id="11" name="Text 9"/>
          <p:cNvSpPr/>
          <p:nvPr/>
        </p:nvSpPr>
        <p:spPr>
          <a:xfrm>
            <a:off x="3355848" y="1234440"/>
            <a:ext cx="457200" cy="457200"/>
          </a:xfrm>
          <a:prstGeom prst="rect">
            <a:avLst/>
          </a:prstGeom>
          <a:noFill/>
          <a:ln/>
        </p:spPr>
        <p:txBody>
          <a:bodyPr wrap="square" lIns="0" tIns="0" rIns="0" bIns="0" rtlCol="0" anchor="ctr"/>
          <a:lstStyle/>
          <a:p>
            <a:pPr marL="0" indent="0" algn="ctr">
              <a:buNone/>
            </a:pPr>
            <a:r>
              <a:rPr lang="en-US" sz="1200" b="1" dirty="0">
                <a:solidFill>
                  <a:srgbClr val="0B1A2E"/>
                </a:solidFill>
              </a:rPr>
              <a:t>2</a:t>
            </a:r>
            <a:endParaRPr lang="en-US" sz="1200" dirty="0"/>
          </a:p>
        </p:txBody>
      </p:sp>
      <p:sp>
        <p:nvSpPr>
          <p:cNvPr id="12" name="Text 10"/>
          <p:cNvSpPr/>
          <p:nvPr/>
        </p:nvSpPr>
        <p:spPr>
          <a:xfrm>
            <a:off x="2606040" y="1755648"/>
            <a:ext cx="1965960" cy="320040"/>
          </a:xfrm>
          <a:prstGeom prst="rect">
            <a:avLst/>
          </a:prstGeom>
          <a:noFill/>
          <a:ln/>
        </p:spPr>
        <p:txBody>
          <a:bodyPr wrap="square" lIns="0" tIns="0" rIns="0" bIns="0" rtlCol="0" anchor="ctr"/>
          <a:lstStyle/>
          <a:p>
            <a:pPr marL="0" indent="0" algn="ctr">
              <a:buNone/>
            </a:pPr>
            <a:r>
              <a:rPr lang="en-US" sz="1150" b="1" dirty="0">
                <a:solidFill>
                  <a:srgbClr val="0B1A2E"/>
                </a:solidFill>
              </a:rPr>
              <a:t>ReAct Agent</a:t>
            </a:r>
            <a:endParaRPr lang="en-US" sz="1150" dirty="0"/>
          </a:p>
        </p:txBody>
      </p:sp>
      <p:sp>
        <p:nvSpPr>
          <p:cNvPr id="13" name="Text 11"/>
          <p:cNvSpPr/>
          <p:nvPr/>
        </p:nvSpPr>
        <p:spPr>
          <a:xfrm>
            <a:off x="2606040" y="2103120"/>
            <a:ext cx="1965960" cy="530352"/>
          </a:xfrm>
          <a:prstGeom prst="rect">
            <a:avLst/>
          </a:prstGeom>
          <a:noFill/>
          <a:ln/>
        </p:spPr>
        <p:txBody>
          <a:bodyPr wrap="square" lIns="50800" tIns="50800" rIns="50800" bIns="50800" rtlCol="0" anchor="ctr"/>
          <a:lstStyle/>
          <a:p>
            <a:pPr marL="0" indent="0" algn="ctr">
              <a:buNone/>
            </a:pPr>
            <a:r>
              <a:rPr lang="en-US" sz="950" dirty="0">
                <a:solidFill>
                  <a:srgbClr val="3B5A78"/>
                </a:solidFill>
              </a:rPr>
              <a:t>Reads CARC · RARC · DOS · billed/denied/paid amounts</a:t>
            </a:r>
            <a:endParaRPr lang="en-US" sz="950" dirty="0"/>
          </a:p>
        </p:txBody>
      </p:sp>
      <p:sp>
        <p:nvSpPr>
          <p:cNvPr id="14" name="Shape 12"/>
          <p:cNvSpPr/>
          <p:nvPr/>
        </p:nvSpPr>
        <p:spPr>
          <a:xfrm>
            <a:off x="4754880" y="1143000"/>
            <a:ext cx="1965960" cy="1572768"/>
          </a:xfrm>
          <a:prstGeom prst="roundRect">
            <a:avLst>
              <a:gd name="adj" fmla="val 5814"/>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5" name="Shape 13"/>
          <p:cNvSpPr/>
          <p:nvPr/>
        </p:nvSpPr>
        <p:spPr>
          <a:xfrm>
            <a:off x="5504688" y="1234440"/>
            <a:ext cx="457200" cy="457200"/>
          </a:xfrm>
          <a:prstGeom prst="ellipse">
            <a:avLst/>
          </a:prstGeom>
          <a:solidFill>
            <a:srgbClr val="00BFA5"/>
          </a:solidFill>
          <a:ln w="12700">
            <a:solidFill>
              <a:srgbClr val="00BFA5"/>
            </a:solidFill>
            <a:prstDash val="solid"/>
          </a:ln>
        </p:spPr>
        <p:txBody>
          <a:bodyPr/>
          <a:lstStyle/>
          <a:p>
            <a:endParaRPr lang="en-US"/>
          </a:p>
        </p:txBody>
      </p:sp>
      <p:sp>
        <p:nvSpPr>
          <p:cNvPr id="16" name="Text 14"/>
          <p:cNvSpPr/>
          <p:nvPr/>
        </p:nvSpPr>
        <p:spPr>
          <a:xfrm>
            <a:off x="5504688" y="1234440"/>
            <a:ext cx="457200" cy="457200"/>
          </a:xfrm>
          <a:prstGeom prst="rect">
            <a:avLst/>
          </a:prstGeom>
          <a:noFill/>
          <a:ln/>
        </p:spPr>
        <p:txBody>
          <a:bodyPr wrap="square" lIns="0" tIns="0" rIns="0" bIns="0" rtlCol="0" anchor="ctr"/>
          <a:lstStyle/>
          <a:p>
            <a:pPr marL="0" indent="0" algn="ctr">
              <a:buNone/>
            </a:pPr>
            <a:r>
              <a:rPr lang="en-US" sz="1200" b="1" dirty="0">
                <a:solidFill>
                  <a:srgbClr val="0B1A2E"/>
                </a:solidFill>
              </a:rPr>
              <a:t>3</a:t>
            </a:r>
            <a:endParaRPr lang="en-US" sz="1200" dirty="0"/>
          </a:p>
        </p:txBody>
      </p:sp>
      <p:sp>
        <p:nvSpPr>
          <p:cNvPr id="17" name="Text 15"/>
          <p:cNvSpPr/>
          <p:nvPr/>
        </p:nvSpPr>
        <p:spPr>
          <a:xfrm>
            <a:off x="4754880" y="1755648"/>
            <a:ext cx="1965960" cy="320040"/>
          </a:xfrm>
          <a:prstGeom prst="rect">
            <a:avLst/>
          </a:prstGeom>
          <a:noFill/>
          <a:ln/>
        </p:spPr>
        <p:txBody>
          <a:bodyPr wrap="square" lIns="0" tIns="0" rIns="0" bIns="0" rtlCol="0" anchor="ctr"/>
          <a:lstStyle/>
          <a:p>
            <a:pPr marL="0" indent="0" algn="ctr">
              <a:buNone/>
            </a:pPr>
            <a:r>
              <a:rPr lang="en-US" sz="1150" b="1" dirty="0">
                <a:solidFill>
                  <a:srgbClr val="0B1A2E"/>
                </a:solidFill>
              </a:rPr>
              <a:t>CARC Table</a:t>
            </a:r>
            <a:endParaRPr lang="en-US" sz="1150" dirty="0"/>
          </a:p>
        </p:txBody>
      </p:sp>
      <p:sp>
        <p:nvSpPr>
          <p:cNvPr id="18" name="Text 16"/>
          <p:cNvSpPr/>
          <p:nvPr/>
        </p:nvSpPr>
        <p:spPr>
          <a:xfrm>
            <a:off x="4754880" y="2103120"/>
            <a:ext cx="1965960" cy="530352"/>
          </a:xfrm>
          <a:prstGeom prst="rect">
            <a:avLst/>
          </a:prstGeom>
          <a:noFill/>
          <a:ln/>
        </p:spPr>
        <p:txBody>
          <a:bodyPr wrap="square" lIns="50800" tIns="50800" rIns="50800" bIns="50800" rtlCol="0" anchor="ctr"/>
          <a:lstStyle/>
          <a:p>
            <a:pPr marL="0" indent="0" algn="ctr">
              <a:buNone/>
            </a:pPr>
            <a:r>
              <a:rPr lang="en-US" sz="950" dirty="0">
                <a:solidFill>
                  <a:srgbClr val="3B5A78"/>
                </a:solidFill>
              </a:rPr>
              <a:t>Deterministic CARC→route mapping with RARC refinement and partial-denial detection</a:t>
            </a:r>
            <a:endParaRPr lang="en-US" sz="950" dirty="0"/>
          </a:p>
        </p:txBody>
      </p:sp>
      <p:sp>
        <p:nvSpPr>
          <p:cNvPr id="19" name="Shape 17"/>
          <p:cNvSpPr/>
          <p:nvPr/>
        </p:nvSpPr>
        <p:spPr>
          <a:xfrm>
            <a:off x="6903720" y="1143000"/>
            <a:ext cx="1965960" cy="1572768"/>
          </a:xfrm>
          <a:prstGeom prst="roundRect">
            <a:avLst>
              <a:gd name="adj" fmla="val 5814"/>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0" name="Shape 18"/>
          <p:cNvSpPr/>
          <p:nvPr/>
        </p:nvSpPr>
        <p:spPr>
          <a:xfrm>
            <a:off x="7653528" y="1234440"/>
            <a:ext cx="457200" cy="457200"/>
          </a:xfrm>
          <a:prstGeom prst="ellipse">
            <a:avLst/>
          </a:prstGeom>
          <a:solidFill>
            <a:srgbClr val="00BFA5"/>
          </a:solidFill>
          <a:ln w="12700">
            <a:solidFill>
              <a:srgbClr val="00BFA5"/>
            </a:solidFill>
            <a:prstDash val="solid"/>
          </a:ln>
        </p:spPr>
        <p:txBody>
          <a:bodyPr/>
          <a:lstStyle/>
          <a:p>
            <a:endParaRPr lang="en-US"/>
          </a:p>
        </p:txBody>
      </p:sp>
      <p:sp>
        <p:nvSpPr>
          <p:cNvPr id="21" name="Text 19"/>
          <p:cNvSpPr/>
          <p:nvPr/>
        </p:nvSpPr>
        <p:spPr>
          <a:xfrm>
            <a:off x="7653528" y="1234440"/>
            <a:ext cx="457200" cy="457200"/>
          </a:xfrm>
          <a:prstGeom prst="rect">
            <a:avLst/>
          </a:prstGeom>
          <a:noFill/>
          <a:ln/>
        </p:spPr>
        <p:txBody>
          <a:bodyPr wrap="square" lIns="0" tIns="0" rIns="0" bIns="0" rtlCol="0" anchor="ctr"/>
          <a:lstStyle/>
          <a:p>
            <a:pPr marL="0" indent="0" algn="ctr">
              <a:buNone/>
            </a:pPr>
            <a:r>
              <a:rPr lang="en-US" sz="1200" b="1" dirty="0">
                <a:solidFill>
                  <a:srgbClr val="0B1A2E"/>
                </a:solidFill>
              </a:rPr>
              <a:t>4</a:t>
            </a:r>
            <a:endParaRPr lang="en-US" sz="1200" dirty="0"/>
          </a:p>
        </p:txBody>
      </p:sp>
      <p:sp>
        <p:nvSpPr>
          <p:cNvPr id="22" name="Text 20"/>
          <p:cNvSpPr/>
          <p:nvPr/>
        </p:nvSpPr>
        <p:spPr>
          <a:xfrm>
            <a:off x="6903720" y="1755648"/>
            <a:ext cx="1965960" cy="320040"/>
          </a:xfrm>
          <a:prstGeom prst="rect">
            <a:avLst/>
          </a:prstGeom>
          <a:noFill/>
          <a:ln/>
        </p:spPr>
        <p:txBody>
          <a:bodyPr wrap="square" lIns="0" tIns="0" rIns="0" bIns="0" rtlCol="0" anchor="ctr"/>
          <a:lstStyle/>
          <a:p>
            <a:pPr marL="0" indent="0" algn="ctr">
              <a:buNone/>
            </a:pPr>
            <a:r>
              <a:rPr lang="en-US" sz="1150" b="1" dirty="0">
                <a:solidFill>
                  <a:srgbClr val="0B1A2E"/>
                </a:solidFill>
              </a:rPr>
              <a:t>Postprocess</a:t>
            </a:r>
            <a:endParaRPr lang="en-US" sz="1150" dirty="0"/>
          </a:p>
        </p:txBody>
      </p:sp>
      <p:sp>
        <p:nvSpPr>
          <p:cNvPr id="23" name="Text 21"/>
          <p:cNvSpPr/>
          <p:nvPr/>
        </p:nvSpPr>
        <p:spPr>
          <a:xfrm>
            <a:off x="6903720" y="2103120"/>
            <a:ext cx="1965960" cy="530352"/>
          </a:xfrm>
          <a:prstGeom prst="rect">
            <a:avLst/>
          </a:prstGeom>
          <a:noFill/>
          <a:ln/>
        </p:spPr>
        <p:txBody>
          <a:bodyPr wrap="square" lIns="50800" tIns="50800" rIns="50800" bIns="50800" rtlCol="0" anchor="ctr"/>
          <a:lstStyle/>
          <a:p>
            <a:pPr marL="0" indent="0" algn="ctr">
              <a:buNone/>
            </a:pPr>
            <a:r>
              <a:rPr lang="en-US" sz="950" dirty="0">
                <a:solidFill>
                  <a:srgbClr val="3B5A78"/>
                </a:solidFill>
              </a:rPr>
              <a:t>Returns: record_id · denial_classification · requires_human (optional)</a:t>
            </a:r>
            <a:endParaRPr lang="en-US" sz="950" dirty="0"/>
          </a:p>
        </p:txBody>
      </p:sp>
      <p:sp>
        <p:nvSpPr>
          <p:cNvPr id="24" name="Text 22"/>
          <p:cNvSpPr/>
          <p:nvPr/>
        </p:nvSpPr>
        <p:spPr>
          <a:xfrm>
            <a:off x="457200" y="2834640"/>
            <a:ext cx="8229600" cy="320040"/>
          </a:xfrm>
          <a:prstGeom prst="rect">
            <a:avLst/>
          </a:prstGeom>
          <a:noFill/>
          <a:ln/>
        </p:spPr>
        <p:txBody>
          <a:bodyPr wrap="square" rtlCol="0" anchor="ctr"/>
          <a:lstStyle/>
          <a:p>
            <a:pPr marL="0" indent="0">
              <a:buNone/>
            </a:pPr>
            <a:r>
              <a:rPr lang="en-US" sz="1400" b="1" dirty="0">
                <a:solidFill>
                  <a:srgbClr val="0B1A2E"/>
                </a:solidFill>
              </a:rPr>
              <a:t>Guardrails</a:t>
            </a:r>
            <a:endParaRPr lang="en-US" sz="1400" dirty="0"/>
          </a:p>
        </p:txBody>
      </p:sp>
      <p:sp>
        <p:nvSpPr>
          <p:cNvPr id="25" name="Shape 23"/>
          <p:cNvSpPr/>
          <p:nvPr/>
        </p:nvSpPr>
        <p:spPr>
          <a:xfrm>
            <a:off x="457200" y="3246120"/>
            <a:ext cx="8229600" cy="347472"/>
          </a:xfrm>
          <a:prstGeom prst="roundRect">
            <a:avLst>
              <a:gd name="adj" fmla="val 15789"/>
            </a:avLst>
          </a:prstGeom>
          <a:solidFill>
            <a:srgbClr val="EBF5FB"/>
          </a:solidFill>
          <a:ln/>
        </p:spPr>
        <p:txBody>
          <a:bodyPr/>
          <a:lstStyle/>
          <a:p>
            <a:endParaRPr lang="en-US"/>
          </a:p>
        </p:txBody>
      </p:sp>
      <p:sp>
        <p:nvSpPr>
          <p:cNvPr id="26" name="Text 24"/>
          <p:cNvSpPr/>
          <p:nvPr/>
        </p:nvSpPr>
        <p:spPr>
          <a:xfrm>
            <a:off x="594360" y="3246120"/>
            <a:ext cx="3200400" cy="347472"/>
          </a:xfrm>
          <a:prstGeom prst="rect">
            <a:avLst/>
          </a:prstGeom>
          <a:noFill/>
          <a:ln/>
        </p:spPr>
        <p:txBody>
          <a:bodyPr wrap="square" lIns="0" tIns="0" rIns="0" bIns="0" rtlCol="0" anchor="ctr"/>
          <a:lstStyle/>
          <a:p>
            <a:pPr marL="0" indent="0">
              <a:buNone/>
            </a:pPr>
            <a:r>
              <a:rPr lang="en-US" sz="1050" b="1" dirty="0">
                <a:solidFill>
                  <a:srgbClr val="0B1A2E"/>
                </a:solidFill>
              </a:rPr>
              <a:t>⚡ Confidence &lt; 0.70</a:t>
            </a:r>
            <a:endParaRPr lang="en-US" sz="1050" dirty="0"/>
          </a:p>
        </p:txBody>
      </p:sp>
      <p:sp>
        <p:nvSpPr>
          <p:cNvPr id="27" name="Text 25"/>
          <p:cNvSpPr/>
          <p:nvPr/>
        </p:nvSpPr>
        <p:spPr>
          <a:xfrm>
            <a:off x="3840480" y="3246120"/>
            <a:ext cx="4663440" cy="347472"/>
          </a:xfrm>
          <a:prstGeom prst="rect">
            <a:avLst/>
          </a:prstGeom>
          <a:noFill/>
          <a:ln/>
        </p:spPr>
        <p:txBody>
          <a:bodyPr wrap="square" lIns="0" tIns="0" rIns="0" bIns="0" rtlCol="0" anchor="ctr"/>
          <a:lstStyle/>
          <a:p>
            <a:pPr marL="0" indent="0">
              <a:buNone/>
            </a:pPr>
            <a:r>
              <a:rPr lang="en-US" sz="1050" dirty="0">
                <a:solidFill>
                  <a:srgbClr val="3B5A78"/>
                </a:solidFill>
              </a:rPr>
              <a:t>→ Route → Human (Action Center)</a:t>
            </a:r>
            <a:endParaRPr lang="en-US" sz="1050" dirty="0"/>
          </a:p>
        </p:txBody>
      </p:sp>
      <p:sp>
        <p:nvSpPr>
          <p:cNvPr id="28" name="Shape 26"/>
          <p:cNvSpPr/>
          <p:nvPr/>
        </p:nvSpPr>
        <p:spPr>
          <a:xfrm>
            <a:off x="457200" y="3657600"/>
            <a:ext cx="8229600" cy="347472"/>
          </a:xfrm>
          <a:prstGeom prst="roundRect">
            <a:avLst>
              <a:gd name="adj" fmla="val 15789"/>
            </a:avLst>
          </a:prstGeom>
          <a:solidFill>
            <a:srgbClr val="FFFFFF"/>
          </a:solidFill>
          <a:ln/>
        </p:spPr>
        <p:txBody>
          <a:bodyPr/>
          <a:lstStyle/>
          <a:p>
            <a:endParaRPr lang="en-US"/>
          </a:p>
        </p:txBody>
      </p:sp>
      <p:sp>
        <p:nvSpPr>
          <p:cNvPr id="29" name="Text 27"/>
          <p:cNvSpPr/>
          <p:nvPr/>
        </p:nvSpPr>
        <p:spPr>
          <a:xfrm>
            <a:off x="594360" y="3657600"/>
            <a:ext cx="3200400" cy="347472"/>
          </a:xfrm>
          <a:prstGeom prst="rect">
            <a:avLst/>
          </a:prstGeom>
          <a:noFill/>
          <a:ln/>
        </p:spPr>
        <p:txBody>
          <a:bodyPr wrap="square" lIns="0" tIns="0" rIns="0" bIns="0" rtlCol="0" anchor="ctr"/>
          <a:lstStyle/>
          <a:p>
            <a:pPr marL="0" indent="0">
              <a:buNone/>
            </a:pPr>
            <a:r>
              <a:rPr lang="en-US" sz="1050" b="1" dirty="0">
                <a:solidFill>
                  <a:srgbClr val="0B1A2E"/>
                </a:solidFill>
              </a:rPr>
              <a:t>⚡ Medical Necessity</a:t>
            </a:r>
            <a:endParaRPr lang="en-US" sz="1050" dirty="0"/>
          </a:p>
        </p:txBody>
      </p:sp>
      <p:sp>
        <p:nvSpPr>
          <p:cNvPr id="30" name="Text 28"/>
          <p:cNvSpPr/>
          <p:nvPr/>
        </p:nvSpPr>
        <p:spPr>
          <a:xfrm>
            <a:off x="3840480" y="3657600"/>
            <a:ext cx="4663440" cy="347472"/>
          </a:xfrm>
          <a:prstGeom prst="rect">
            <a:avLst/>
          </a:prstGeom>
          <a:noFill/>
          <a:ln/>
        </p:spPr>
        <p:txBody>
          <a:bodyPr wrap="square" lIns="0" tIns="0" rIns="0" bIns="0" rtlCol="0" anchor="ctr"/>
          <a:lstStyle/>
          <a:p>
            <a:pPr marL="0" indent="0">
              <a:buNone/>
            </a:pPr>
            <a:r>
              <a:rPr lang="en-US" sz="1050" dirty="0">
                <a:solidFill>
                  <a:srgbClr val="3B5A78"/>
                </a:solidFill>
              </a:rPr>
              <a:t>→ Always requires_human = true (SB 1120)</a:t>
            </a:r>
            <a:endParaRPr lang="en-US" sz="1050" dirty="0"/>
          </a:p>
        </p:txBody>
      </p:sp>
      <p:sp>
        <p:nvSpPr>
          <p:cNvPr id="31" name="Shape 29"/>
          <p:cNvSpPr/>
          <p:nvPr/>
        </p:nvSpPr>
        <p:spPr>
          <a:xfrm>
            <a:off x="457200" y="4069080"/>
            <a:ext cx="8229600" cy="347472"/>
          </a:xfrm>
          <a:prstGeom prst="roundRect">
            <a:avLst>
              <a:gd name="adj" fmla="val 15789"/>
            </a:avLst>
          </a:prstGeom>
          <a:solidFill>
            <a:srgbClr val="EBF5FB"/>
          </a:solidFill>
          <a:ln/>
        </p:spPr>
        <p:txBody>
          <a:bodyPr/>
          <a:lstStyle/>
          <a:p>
            <a:endParaRPr lang="en-US"/>
          </a:p>
        </p:txBody>
      </p:sp>
      <p:sp>
        <p:nvSpPr>
          <p:cNvPr id="32" name="Text 30"/>
          <p:cNvSpPr/>
          <p:nvPr/>
        </p:nvSpPr>
        <p:spPr>
          <a:xfrm>
            <a:off x="594360" y="4069080"/>
            <a:ext cx="3200400" cy="347472"/>
          </a:xfrm>
          <a:prstGeom prst="rect">
            <a:avLst/>
          </a:prstGeom>
          <a:noFill/>
          <a:ln/>
        </p:spPr>
        <p:txBody>
          <a:bodyPr wrap="square" lIns="0" tIns="0" rIns="0" bIns="0" rtlCol="0" anchor="ctr"/>
          <a:lstStyle/>
          <a:p>
            <a:pPr marL="0" indent="0">
              <a:buNone/>
            </a:pPr>
            <a:r>
              <a:rPr lang="en-US" sz="1050" b="1" dirty="0">
                <a:solidFill>
                  <a:srgbClr val="0B1A2E"/>
                </a:solidFill>
              </a:rPr>
              <a:t>⚡ Unknown/conflicting CARC</a:t>
            </a:r>
            <a:endParaRPr lang="en-US" sz="1050" dirty="0"/>
          </a:p>
        </p:txBody>
      </p:sp>
      <p:sp>
        <p:nvSpPr>
          <p:cNvPr id="33" name="Text 31"/>
          <p:cNvSpPr/>
          <p:nvPr/>
        </p:nvSpPr>
        <p:spPr>
          <a:xfrm>
            <a:off x="3840480" y="4069080"/>
            <a:ext cx="4663440" cy="347472"/>
          </a:xfrm>
          <a:prstGeom prst="rect">
            <a:avLst/>
          </a:prstGeom>
          <a:noFill/>
          <a:ln/>
        </p:spPr>
        <p:txBody>
          <a:bodyPr wrap="square" lIns="0" tIns="0" rIns="0" bIns="0" rtlCol="0" anchor="ctr"/>
          <a:lstStyle/>
          <a:p>
            <a:pPr marL="0" indent="0">
              <a:buNone/>
            </a:pPr>
            <a:r>
              <a:rPr lang="en-US" sz="1050" dirty="0">
                <a:solidFill>
                  <a:srgbClr val="3B5A78"/>
                </a:solidFill>
              </a:rPr>
              <a:t>→ Default: eligibility + human flag</a:t>
            </a:r>
            <a:endParaRPr lang="en-US" sz="1050" dirty="0"/>
          </a:p>
        </p:txBody>
      </p:sp>
      <p:sp>
        <p:nvSpPr>
          <p:cNvPr id="34" name="Shape 32"/>
          <p:cNvSpPr/>
          <p:nvPr/>
        </p:nvSpPr>
        <p:spPr>
          <a:xfrm>
            <a:off x="457200" y="4480560"/>
            <a:ext cx="8229600" cy="347472"/>
          </a:xfrm>
          <a:prstGeom prst="roundRect">
            <a:avLst>
              <a:gd name="adj" fmla="val 15789"/>
            </a:avLst>
          </a:prstGeom>
          <a:solidFill>
            <a:srgbClr val="FFFFFF"/>
          </a:solidFill>
          <a:ln/>
        </p:spPr>
        <p:txBody>
          <a:bodyPr/>
          <a:lstStyle/>
          <a:p>
            <a:endParaRPr lang="en-US"/>
          </a:p>
        </p:txBody>
      </p:sp>
      <p:sp>
        <p:nvSpPr>
          <p:cNvPr id="35" name="Text 33"/>
          <p:cNvSpPr/>
          <p:nvPr/>
        </p:nvSpPr>
        <p:spPr>
          <a:xfrm>
            <a:off x="594360" y="4480560"/>
            <a:ext cx="3200400" cy="347472"/>
          </a:xfrm>
          <a:prstGeom prst="rect">
            <a:avLst/>
          </a:prstGeom>
          <a:noFill/>
          <a:ln/>
        </p:spPr>
        <p:txBody>
          <a:bodyPr wrap="square" lIns="0" tIns="0" rIns="0" bIns="0" rtlCol="0" anchor="ctr"/>
          <a:lstStyle/>
          <a:p>
            <a:pPr marL="0" indent="0">
              <a:buNone/>
            </a:pPr>
            <a:r>
              <a:rPr lang="en-US" sz="1050" b="1" dirty="0">
                <a:solidFill>
                  <a:srgbClr val="0B1A2E"/>
                </a:solidFill>
              </a:rPr>
              <a:t>⚡ Write decoupled</a:t>
            </a:r>
            <a:endParaRPr lang="en-US" sz="1050" dirty="0"/>
          </a:p>
        </p:txBody>
      </p:sp>
      <p:sp>
        <p:nvSpPr>
          <p:cNvPr id="36" name="Text 34"/>
          <p:cNvSpPr/>
          <p:nvPr/>
        </p:nvSpPr>
        <p:spPr>
          <a:xfrm>
            <a:off x="3840480" y="4480560"/>
            <a:ext cx="4663440" cy="347472"/>
          </a:xfrm>
          <a:prstGeom prst="rect">
            <a:avLst/>
          </a:prstGeom>
          <a:noFill/>
          <a:ln/>
        </p:spPr>
        <p:txBody>
          <a:bodyPr wrap="square" lIns="0" tIns="0" rIns="0" bIns="0" rtlCol="0" anchor="ctr"/>
          <a:lstStyle/>
          <a:p>
            <a:pPr marL="0" indent="0">
              <a:buNone/>
            </a:pPr>
            <a:r>
              <a:rPr lang="en-US" sz="1050" dirty="0">
                <a:solidFill>
                  <a:srgbClr val="3B5A78"/>
                </a:solidFill>
              </a:rPr>
              <a:t>→ Maestro step persists result — agent never writes (reliability)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2E"/>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38912"/>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Test Data &amp; Evaluation Suite</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200" i="1" dirty="0">
                <a:solidFill>
                  <a:srgbClr val="00BFA5"/>
                </a:solidFill>
              </a:rPr>
              <a:t>Synthetic but internally consistent — built to validate every route and measure routing accuracy</a:t>
            </a:r>
            <a:endParaRPr lang="en-US" sz="1200" dirty="0"/>
          </a:p>
        </p:txBody>
      </p:sp>
      <p:sp>
        <p:nvSpPr>
          <p:cNvPr id="4" name="Shape 2"/>
          <p:cNvSpPr/>
          <p:nvPr/>
        </p:nvSpPr>
        <p:spPr>
          <a:xfrm>
            <a:off x="457200" y="1024128"/>
            <a:ext cx="4023360" cy="3669792"/>
          </a:xfrm>
          <a:prstGeom prst="roundRect">
            <a:avLst>
              <a:gd name="adj" fmla="val 3200"/>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5" name="Text 3"/>
          <p:cNvSpPr/>
          <p:nvPr/>
        </p:nvSpPr>
        <p:spPr>
          <a:xfrm>
            <a:off x="594360" y="1115568"/>
            <a:ext cx="3749040" cy="347472"/>
          </a:xfrm>
          <a:prstGeom prst="rect">
            <a:avLst/>
          </a:prstGeom>
          <a:noFill/>
          <a:ln/>
        </p:spPr>
        <p:txBody>
          <a:bodyPr wrap="square" lIns="0" tIns="0" rIns="0" bIns="0" rtlCol="0" anchor="ctr"/>
          <a:lstStyle/>
          <a:p>
            <a:pPr marL="0" indent="0">
              <a:buNone/>
            </a:pPr>
            <a:r>
              <a:rPr lang="en-US" sz="1300" b="1" dirty="0">
                <a:solidFill>
                  <a:srgbClr val="FFFFFF"/>
                </a:solidFill>
              </a:rPr>
              <a:t>Dataset Overview</a:t>
            </a:r>
            <a:endParaRPr lang="en-US" sz="1300" dirty="0"/>
          </a:p>
        </p:txBody>
      </p:sp>
      <p:sp>
        <p:nvSpPr>
          <p:cNvPr id="6" name="Text 4"/>
          <p:cNvSpPr/>
          <p:nvPr/>
        </p:nvSpPr>
        <p:spPr>
          <a:xfrm>
            <a:off x="594360" y="1554480"/>
            <a:ext cx="1554480" cy="365760"/>
          </a:xfrm>
          <a:prstGeom prst="rect">
            <a:avLst/>
          </a:prstGeom>
          <a:noFill/>
          <a:ln/>
        </p:spPr>
        <p:txBody>
          <a:bodyPr wrap="square" lIns="0" tIns="0" rIns="0" bIns="0" rtlCol="0" anchor="ctr"/>
          <a:lstStyle/>
          <a:p>
            <a:pPr marL="0" indent="0">
              <a:buNone/>
            </a:pPr>
            <a:r>
              <a:rPr lang="en-US" sz="950" dirty="0">
                <a:solidFill>
                  <a:srgbClr val="7BA3C0"/>
                </a:solidFill>
              </a:rPr>
              <a:t>Fictional Payers:</a:t>
            </a:r>
            <a:endParaRPr lang="en-US" sz="950" dirty="0"/>
          </a:p>
        </p:txBody>
      </p:sp>
      <p:sp>
        <p:nvSpPr>
          <p:cNvPr id="7" name="Text 5"/>
          <p:cNvSpPr/>
          <p:nvPr/>
        </p:nvSpPr>
        <p:spPr>
          <a:xfrm>
            <a:off x="2176272" y="1554480"/>
            <a:ext cx="2194560" cy="365760"/>
          </a:xfrm>
          <a:prstGeom prst="rect">
            <a:avLst/>
          </a:prstGeom>
          <a:noFill/>
          <a:ln/>
        </p:spPr>
        <p:txBody>
          <a:bodyPr wrap="square" lIns="0" tIns="0" rIns="0" bIns="0" rtlCol="0" anchor="ctr"/>
          <a:lstStyle/>
          <a:p>
            <a:pPr marL="0" indent="0">
              <a:buNone/>
            </a:pPr>
            <a:r>
              <a:rPr lang="en-US" sz="950" dirty="0">
                <a:solidFill>
                  <a:srgbClr val="FFFFFF"/>
                </a:solidFill>
              </a:rPr>
              <a:t>3 (Meridian/MA · Atlas/PPO · BlueRiver/MCO)</a:t>
            </a:r>
            <a:endParaRPr lang="en-US" sz="950" dirty="0"/>
          </a:p>
        </p:txBody>
      </p:sp>
      <p:sp>
        <p:nvSpPr>
          <p:cNvPr id="8" name="Text 6"/>
          <p:cNvSpPr/>
          <p:nvPr/>
        </p:nvSpPr>
        <p:spPr>
          <a:xfrm>
            <a:off x="594360" y="2029968"/>
            <a:ext cx="1554480" cy="365760"/>
          </a:xfrm>
          <a:prstGeom prst="rect">
            <a:avLst/>
          </a:prstGeom>
          <a:noFill/>
          <a:ln/>
        </p:spPr>
        <p:txBody>
          <a:bodyPr wrap="square" lIns="0" tIns="0" rIns="0" bIns="0" rtlCol="0" anchor="ctr"/>
          <a:lstStyle/>
          <a:p>
            <a:pPr marL="0" indent="0">
              <a:buNone/>
            </a:pPr>
            <a:r>
              <a:rPr lang="en-US" sz="950" dirty="0">
                <a:solidFill>
                  <a:srgbClr val="7BA3C0"/>
                </a:solidFill>
              </a:rPr>
              <a:t>Provider:</a:t>
            </a:r>
            <a:endParaRPr lang="en-US" sz="950" dirty="0"/>
          </a:p>
        </p:txBody>
      </p:sp>
      <p:sp>
        <p:nvSpPr>
          <p:cNvPr id="9" name="Text 7"/>
          <p:cNvSpPr/>
          <p:nvPr/>
        </p:nvSpPr>
        <p:spPr>
          <a:xfrm>
            <a:off x="2176272" y="2029968"/>
            <a:ext cx="2194560" cy="365760"/>
          </a:xfrm>
          <a:prstGeom prst="rect">
            <a:avLst/>
          </a:prstGeom>
          <a:noFill/>
          <a:ln/>
        </p:spPr>
        <p:txBody>
          <a:bodyPr wrap="square" lIns="0" tIns="0" rIns="0" bIns="0" rtlCol="0" anchor="ctr"/>
          <a:lstStyle/>
          <a:p>
            <a:pPr marL="0" indent="0">
              <a:buNone/>
            </a:pPr>
            <a:r>
              <a:rPr lang="en-US" sz="950" dirty="0">
                <a:solidFill>
                  <a:srgbClr val="FFFFFF"/>
                </a:solidFill>
              </a:rPr>
              <a:t>Lakeview Regional</a:t>
            </a:r>
            <a:endParaRPr lang="en-US" sz="950" dirty="0"/>
          </a:p>
        </p:txBody>
      </p:sp>
      <p:sp>
        <p:nvSpPr>
          <p:cNvPr id="10" name="Text 8"/>
          <p:cNvSpPr/>
          <p:nvPr/>
        </p:nvSpPr>
        <p:spPr>
          <a:xfrm>
            <a:off x="594360" y="2505456"/>
            <a:ext cx="1554480" cy="365760"/>
          </a:xfrm>
          <a:prstGeom prst="rect">
            <a:avLst/>
          </a:prstGeom>
          <a:noFill/>
          <a:ln/>
        </p:spPr>
        <p:txBody>
          <a:bodyPr wrap="square" lIns="0" tIns="0" rIns="0" bIns="0" rtlCol="0" anchor="ctr"/>
          <a:lstStyle/>
          <a:p>
            <a:pPr marL="0" indent="0">
              <a:buNone/>
            </a:pPr>
            <a:r>
              <a:rPr lang="en-US" sz="950" dirty="0">
                <a:solidFill>
                  <a:srgbClr val="7BA3C0"/>
                </a:solidFill>
              </a:rPr>
              <a:t>Depth Set:</a:t>
            </a:r>
            <a:endParaRPr lang="en-US" sz="950" dirty="0"/>
          </a:p>
        </p:txBody>
      </p:sp>
      <p:sp>
        <p:nvSpPr>
          <p:cNvPr id="11" name="Text 9"/>
          <p:cNvSpPr/>
          <p:nvPr/>
        </p:nvSpPr>
        <p:spPr>
          <a:xfrm>
            <a:off x="2176272" y="2505456"/>
            <a:ext cx="2194560" cy="365760"/>
          </a:xfrm>
          <a:prstGeom prst="rect">
            <a:avLst/>
          </a:prstGeom>
          <a:noFill/>
          <a:ln/>
        </p:spPr>
        <p:txBody>
          <a:bodyPr wrap="square" lIns="0" tIns="0" rIns="0" bIns="0" rtlCol="0" anchor="ctr"/>
          <a:lstStyle/>
          <a:p>
            <a:pPr marL="0" indent="0">
              <a:buNone/>
            </a:pPr>
            <a:r>
              <a:rPr lang="en-US" sz="950" dirty="0">
                <a:solidFill>
                  <a:srgbClr val="FFFFFF"/>
                </a:solidFill>
              </a:rPr>
              <a:t>10 claims — 1 per route + 1 hero case (David Okafor)</a:t>
            </a:r>
            <a:endParaRPr lang="en-US" sz="950" dirty="0"/>
          </a:p>
        </p:txBody>
      </p:sp>
      <p:sp>
        <p:nvSpPr>
          <p:cNvPr id="12" name="Text 10"/>
          <p:cNvSpPr/>
          <p:nvPr/>
        </p:nvSpPr>
        <p:spPr>
          <a:xfrm>
            <a:off x="594360" y="2980944"/>
            <a:ext cx="1554480" cy="365760"/>
          </a:xfrm>
          <a:prstGeom prst="rect">
            <a:avLst/>
          </a:prstGeom>
          <a:noFill/>
          <a:ln/>
        </p:spPr>
        <p:txBody>
          <a:bodyPr wrap="square" lIns="0" tIns="0" rIns="0" bIns="0" rtlCol="0" anchor="ctr"/>
          <a:lstStyle/>
          <a:p>
            <a:pPr marL="0" indent="0">
              <a:buNone/>
            </a:pPr>
            <a:r>
              <a:rPr lang="en-US" sz="950" dirty="0">
                <a:solidFill>
                  <a:srgbClr val="7BA3C0"/>
                </a:solidFill>
              </a:rPr>
              <a:t>Volume Layer:</a:t>
            </a:r>
            <a:endParaRPr lang="en-US" sz="950" dirty="0"/>
          </a:p>
        </p:txBody>
      </p:sp>
      <p:sp>
        <p:nvSpPr>
          <p:cNvPr id="13" name="Text 11"/>
          <p:cNvSpPr/>
          <p:nvPr/>
        </p:nvSpPr>
        <p:spPr>
          <a:xfrm>
            <a:off x="2176272" y="2980944"/>
            <a:ext cx="2194560" cy="365760"/>
          </a:xfrm>
          <a:prstGeom prst="rect">
            <a:avLst/>
          </a:prstGeom>
          <a:noFill/>
          <a:ln/>
        </p:spPr>
        <p:txBody>
          <a:bodyPr wrap="square" lIns="0" tIns="0" rIns="0" bIns="0" rtlCol="0" anchor="ctr"/>
          <a:lstStyle/>
          <a:p>
            <a:pPr marL="0" indent="0">
              <a:buNone/>
            </a:pPr>
            <a:r>
              <a:rPr lang="en-US" sz="950" dirty="0">
                <a:solidFill>
                  <a:srgbClr val="FFFFFF"/>
                </a:solidFill>
              </a:rPr>
              <a:t>100+ claims, ~80% denied, internally consistent</a:t>
            </a:r>
            <a:endParaRPr lang="en-US" sz="950" dirty="0"/>
          </a:p>
        </p:txBody>
      </p:sp>
      <p:sp>
        <p:nvSpPr>
          <p:cNvPr id="14" name="Text 12"/>
          <p:cNvSpPr/>
          <p:nvPr/>
        </p:nvSpPr>
        <p:spPr>
          <a:xfrm>
            <a:off x="594360" y="3456432"/>
            <a:ext cx="1554480" cy="365760"/>
          </a:xfrm>
          <a:prstGeom prst="rect">
            <a:avLst/>
          </a:prstGeom>
          <a:noFill/>
          <a:ln/>
        </p:spPr>
        <p:txBody>
          <a:bodyPr wrap="square" lIns="0" tIns="0" rIns="0" bIns="0" rtlCol="0" anchor="ctr"/>
          <a:lstStyle/>
          <a:p>
            <a:pPr marL="0" indent="0">
              <a:buNone/>
            </a:pPr>
            <a:r>
              <a:rPr lang="en-US" sz="950" dirty="0">
                <a:solidFill>
                  <a:srgbClr val="7BA3C0"/>
                </a:solidFill>
              </a:rPr>
              <a:t>Gold Labels:</a:t>
            </a:r>
            <a:endParaRPr lang="en-US" sz="950" dirty="0"/>
          </a:p>
        </p:txBody>
      </p:sp>
      <p:sp>
        <p:nvSpPr>
          <p:cNvPr id="15" name="Text 13"/>
          <p:cNvSpPr/>
          <p:nvPr/>
        </p:nvSpPr>
        <p:spPr>
          <a:xfrm>
            <a:off x="2176272" y="3456432"/>
            <a:ext cx="2194560" cy="365760"/>
          </a:xfrm>
          <a:prstGeom prst="rect">
            <a:avLst/>
          </a:prstGeom>
          <a:noFill/>
          <a:ln/>
        </p:spPr>
        <p:txBody>
          <a:bodyPr wrap="square" lIns="0" tIns="0" rIns="0" bIns="0" rtlCol="0" anchor="ctr"/>
          <a:lstStyle/>
          <a:p>
            <a:pPr marL="0" indent="0">
              <a:buNone/>
            </a:pPr>
            <a:r>
              <a:rPr lang="en-US" sz="950" dirty="0">
                <a:solidFill>
                  <a:srgbClr val="FFFFFF"/>
                </a:solidFill>
              </a:rPr>
              <a:t>88 labeled denials for routing accuracy measurement</a:t>
            </a:r>
            <a:endParaRPr lang="en-US" sz="950" dirty="0"/>
          </a:p>
        </p:txBody>
      </p:sp>
      <p:sp>
        <p:nvSpPr>
          <p:cNvPr id="16" name="Text 14"/>
          <p:cNvSpPr/>
          <p:nvPr/>
        </p:nvSpPr>
        <p:spPr>
          <a:xfrm>
            <a:off x="594360" y="3931920"/>
            <a:ext cx="1554480" cy="365760"/>
          </a:xfrm>
          <a:prstGeom prst="rect">
            <a:avLst/>
          </a:prstGeom>
          <a:noFill/>
          <a:ln/>
        </p:spPr>
        <p:txBody>
          <a:bodyPr wrap="square" lIns="0" tIns="0" rIns="0" bIns="0" rtlCol="0" anchor="ctr"/>
          <a:lstStyle/>
          <a:p>
            <a:pPr marL="0" indent="0">
              <a:buNone/>
            </a:pPr>
            <a:r>
              <a:rPr lang="en-US" sz="950" dirty="0">
                <a:solidFill>
                  <a:srgbClr val="7BA3C0"/>
                </a:solidFill>
              </a:rPr>
              <a:t>Denial Rate:</a:t>
            </a:r>
            <a:endParaRPr lang="en-US" sz="950" dirty="0"/>
          </a:p>
        </p:txBody>
      </p:sp>
      <p:sp>
        <p:nvSpPr>
          <p:cNvPr id="17" name="Text 15"/>
          <p:cNvSpPr/>
          <p:nvPr/>
        </p:nvSpPr>
        <p:spPr>
          <a:xfrm>
            <a:off x="2176272" y="3931920"/>
            <a:ext cx="2194560" cy="365760"/>
          </a:xfrm>
          <a:prstGeom prst="rect">
            <a:avLst/>
          </a:prstGeom>
          <a:noFill/>
          <a:ln/>
        </p:spPr>
        <p:txBody>
          <a:bodyPr wrap="square" lIns="0" tIns="0" rIns="0" bIns="0" rtlCol="0" anchor="ctr"/>
          <a:lstStyle/>
          <a:p>
            <a:pPr marL="0" indent="0">
              <a:buNone/>
            </a:pPr>
            <a:r>
              <a:rPr lang="en-US" sz="950" dirty="0">
                <a:solidFill>
                  <a:srgbClr val="FFFFFF"/>
                </a:solidFill>
              </a:rPr>
              <a:t>~80% to reflect real-world mix</a:t>
            </a:r>
            <a:endParaRPr lang="en-US" sz="950" dirty="0"/>
          </a:p>
        </p:txBody>
      </p:sp>
      <p:sp>
        <p:nvSpPr>
          <p:cNvPr id="18" name="Shape 16"/>
          <p:cNvSpPr/>
          <p:nvPr/>
        </p:nvSpPr>
        <p:spPr>
          <a:xfrm>
            <a:off x="4663440" y="1024128"/>
            <a:ext cx="4023360" cy="3669792"/>
          </a:xfrm>
          <a:prstGeom prst="roundRect">
            <a:avLst>
              <a:gd name="adj" fmla="val 3200"/>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9" name="Text 17"/>
          <p:cNvSpPr/>
          <p:nvPr/>
        </p:nvSpPr>
        <p:spPr>
          <a:xfrm>
            <a:off x="4800600" y="1115568"/>
            <a:ext cx="3749040" cy="347472"/>
          </a:xfrm>
          <a:prstGeom prst="rect">
            <a:avLst/>
          </a:prstGeom>
          <a:noFill/>
          <a:ln/>
        </p:spPr>
        <p:txBody>
          <a:bodyPr wrap="square" lIns="0" tIns="0" rIns="0" bIns="0" rtlCol="0" anchor="ctr"/>
          <a:lstStyle/>
          <a:p>
            <a:pPr marL="0" indent="0">
              <a:buNone/>
            </a:pPr>
            <a:r>
              <a:rPr lang="en-US" sz="1300" b="1" dirty="0">
                <a:solidFill>
                  <a:srgbClr val="FFFFFF"/>
                </a:solidFill>
              </a:rPr>
              <a:t>Included Assets</a:t>
            </a:r>
            <a:endParaRPr lang="en-US" sz="1300" dirty="0"/>
          </a:p>
        </p:txBody>
      </p:sp>
      <p:sp>
        <p:nvSpPr>
          <p:cNvPr id="20" name="Shape 18"/>
          <p:cNvSpPr/>
          <p:nvPr/>
        </p:nvSpPr>
        <p:spPr>
          <a:xfrm>
            <a:off x="4773168" y="1645920"/>
            <a:ext cx="146304" cy="146304"/>
          </a:xfrm>
          <a:prstGeom prst="ellipse">
            <a:avLst/>
          </a:prstGeom>
          <a:solidFill>
            <a:srgbClr val="00BFA5"/>
          </a:solidFill>
          <a:ln w="12700">
            <a:solidFill>
              <a:srgbClr val="00BFA5"/>
            </a:solidFill>
            <a:prstDash val="solid"/>
          </a:ln>
        </p:spPr>
        <p:txBody>
          <a:bodyPr/>
          <a:lstStyle/>
          <a:p>
            <a:endParaRPr lang="en-US"/>
          </a:p>
        </p:txBody>
      </p:sp>
      <p:sp>
        <p:nvSpPr>
          <p:cNvPr id="21" name="Text 19"/>
          <p:cNvSpPr/>
          <p:nvPr/>
        </p:nvSpPr>
        <p:spPr>
          <a:xfrm>
            <a:off x="4992624" y="1572768"/>
            <a:ext cx="3566160" cy="320040"/>
          </a:xfrm>
          <a:prstGeom prst="rect">
            <a:avLst/>
          </a:prstGeom>
          <a:noFill/>
          <a:ln/>
        </p:spPr>
        <p:txBody>
          <a:bodyPr wrap="square" lIns="0" tIns="0" rIns="0" bIns="0" rtlCol="0" anchor="ctr"/>
          <a:lstStyle/>
          <a:p>
            <a:pPr marL="0" indent="0">
              <a:buNone/>
            </a:pPr>
            <a:r>
              <a:rPr lang="en-US" sz="950" dirty="0">
                <a:solidFill>
                  <a:srgbClr val="E8F4F8"/>
                </a:solidFill>
              </a:rPr>
              <a:t>X12 835 ERA files (real format)</a:t>
            </a:r>
            <a:endParaRPr lang="en-US" sz="950" dirty="0"/>
          </a:p>
        </p:txBody>
      </p:sp>
      <p:sp>
        <p:nvSpPr>
          <p:cNvPr id="22" name="Shape 20"/>
          <p:cNvSpPr/>
          <p:nvPr/>
        </p:nvSpPr>
        <p:spPr>
          <a:xfrm>
            <a:off x="4773168" y="2039112"/>
            <a:ext cx="146304" cy="146304"/>
          </a:xfrm>
          <a:prstGeom prst="ellipse">
            <a:avLst/>
          </a:prstGeom>
          <a:solidFill>
            <a:srgbClr val="00BFA5"/>
          </a:solidFill>
          <a:ln w="12700">
            <a:solidFill>
              <a:srgbClr val="00BFA5"/>
            </a:solidFill>
            <a:prstDash val="solid"/>
          </a:ln>
        </p:spPr>
        <p:txBody>
          <a:bodyPr/>
          <a:lstStyle/>
          <a:p>
            <a:endParaRPr lang="en-US"/>
          </a:p>
        </p:txBody>
      </p:sp>
      <p:sp>
        <p:nvSpPr>
          <p:cNvPr id="23" name="Text 21"/>
          <p:cNvSpPr/>
          <p:nvPr/>
        </p:nvSpPr>
        <p:spPr>
          <a:xfrm>
            <a:off x="4992624" y="1965960"/>
            <a:ext cx="3566160" cy="320040"/>
          </a:xfrm>
          <a:prstGeom prst="rect">
            <a:avLst/>
          </a:prstGeom>
          <a:noFill/>
          <a:ln/>
        </p:spPr>
        <p:txBody>
          <a:bodyPr wrap="square" lIns="0" tIns="0" rIns="0" bIns="0" rtlCol="0" anchor="ctr"/>
          <a:lstStyle/>
          <a:p>
            <a:pPr marL="0" indent="0">
              <a:buNone/>
            </a:pPr>
            <a:r>
              <a:rPr lang="en-US" sz="950" dirty="0">
                <a:solidFill>
                  <a:srgbClr val="E8F4F8"/>
                </a:solidFill>
              </a:rPr>
              <a:t>Denial letter PDFs — clean + scanned/OCR</a:t>
            </a:r>
            <a:endParaRPr lang="en-US" sz="950" dirty="0"/>
          </a:p>
        </p:txBody>
      </p:sp>
      <p:sp>
        <p:nvSpPr>
          <p:cNvPr id="24" name="Shape 22"/>
          <p:cNvSpPr/>
          <p:nvPr/>
        </p:nvSpPr>
        <p:spPr>
          <a:xfrm>
            <a:off x="4773168" y="2432304"/>
            <a:ext cx="146304" cy="146304"/>
          </a:xfrm>
          <a:prstGeom prst="ellipse">
            <a:avLst/>
          </a:prstGeom>
          <a:solidFill>
            <a:srgbClr val="00BFA5"/>
          </a:solidFill>
          <a:ln w="12700">
            <a:solidFill>
              <a:srgbClr val="00BFA5"/>
            </a:solidFill>
            <a:prstDash val="solid"/>
          </a:ln>
        </p:spPr>
        <p:txBody>
          <a:bodyPr/>
          <a:lstStyle/>
          <a:p>
            <a:endParaRPr lang="en-US"/>
          </a:p>
        </p:txBody>
      </p:sp>
      <p:sp>
        <p:nvSpPr>
          <p:cNvPr id="25" name="Text 23"/>
          <p:cNvSpPr/>
          <p:nvPr/>
        </p:nvSpPr>
        <p:spPr>
          <a:xfrm>
            <a:off x="4992624" y="2359152"/>
            <a:ext cx="3566160" cy="320040"/>
          </a:xfrm>
          <a:prstGeom prst="rect">
            <a:avLst/>
          </a:prstGeom>
          <a:noFill/>
          <a:ln/>
        </p:spPr>
        <p:txBody>
          <a:bodyPr wrap="square" lIns="0" tIns="0" rIns="0" bIns="0" rtlCol="0" anchor="ctr"/>
          <a:lstStyle/>
          <a:p>
            <a:pPr marL="0" indent="0">
              <a:buNone/>
            </a:pPr>
            <a:r>
              <a:rPr lang="en-US" sz="950" dirty="0">
                <a:solidFill>
                  <a:srgbClr val="E8F4F8"/>
                </a:solidFill>
              </a:rPr>
              <a:t>Payer portal export CSV</a:t>
            </a:r>
            <a:endParaRPr lang="en-US" sz="950" dirty="0"/>
          </a:p>
        </p:txBody>
      </p:sp>
      <p:sp>
        <p:nvSpPr>
          <p:cNvPr id="26" name="Shape 24"/>
          <p:cNvSpPr/>
          <p:nvPr/>
        </p:nvSpPr>
        <p:spPr>
          <a:xfrm>
            <a:off x="4773168" y="2825496"/>
            <a:ext cx="146304" cy="146304"/>
          </a:xfrm>
          <a:prstGeom prst="ellipse">
            <a:avLst/>
          </a:prstGeom>
          <a:solidFill>
            <a:srgbClr val="00BFA5"/>
          </a:solidFill>
          <a:ln w="12700">
            <a:solidFill>
              <a:srgbClr val="00BFA5"/>
            </a:solidFill>
            <a:prstDash val="solid"/>
          </a:ln>
        </p:spPr>
        <p:txBody>
          <a:bodyPr/>
          <a:lstStyle/>
          <a:p>
            <a:endParaRPr lang="en-US"/>
          </a:p>
        </p:txBody>
      </p:sp>
      <p:sp>
        <p:nvSpPr>
          <p:cNvPr id="27" name="Text 25"/>
          <p:cNvSpPr/>
          <p:nvPr/>
        </p:nvSpPr>
        <p:spPr>
          <a:xfrm>
            <a:off x="4992624" y="2752344"/>
            <a:ext cx="3566160" cy="320040"/>
          </a:xfrm>
          <a:prstGeom prst="rect">
            <a:avLst/>
          </a:prstGeom>
          <a:noFill/>
          <a:ln/>
        </p:spPr>
        <p:txBody>
          <a:bodyPr wrap="square" lIns="0" tIns="0" rIns="0" bIns="0" rtlCol="0" anchor="ctr"/>
          <a:lstStyle/>
          <a:p>
            <a:pPr marL="0" indent="0">
              <a:buNone/>
            </a:pPr>
            <a:r>
              <a:rPr lang="en-US" sz="950" dirty="0">
                <a:solidFill>
                  <a:srgbClr val="E8F4F8"/>
                </a:solidFill>
              </a:rPr>
              <a:t>CARC/RARC reference table</a:t>
            </a:r>
            <a:endParaRPr lang="en-US" sz="950" dirty="0"/>
          </a:p>
        </p:txBody>
      </p:sp>
      <p:sp>
        <p:nvSpPr>
          <p:cNvPr id="28" name="Shape 26"/>
          <p:cNvSpPr/>
          <p:nvPr/>
        </p:nvSpPr>
        <p:spPr>
          <a:xfrm>
            <a:off x="4773168" y="3218688"/>
            <a:ext cx="146304" cy="146304"/>
          </a:xfrm>
          <a:prstGeom prst="ellipse">
            <a:avLst/>
          </a:prstGeom>
          <a:solidFill>
            <a:srgbClr val="00BFA5"/>
          </a:solidFill>
          <a:ln w="12700">
            <a:solidFill>
              <a:srgbClr val="00BFA5"/>
            </a:solidFill>
            <a:prstDash val="solid"/>
          </a:ln>
        </p:spPr>
        <p:txBody>
          <a:bodyPr/>
          <a:lstStyle/>
          <a:p>
            <a:endParaRPr lang="en-US"/>
          </a:p>
        </p:txBody>
      </p:sp>
      <p:sp>
        <p:nvSpPr>
          <p:cNvPr id="29" name="Text 27"/>
          <p:cNvSpPr/>
          <p:nvPr/>
        </p:nvSpPr>
        <p:spPr>
          <a:xfrm>
            <a:off x="4992624" y="3145536"/>
            <a:ext cx="3566160" cy="320040"/>
          </a:xfrm>
          <a:prstGeom prst="rect">
            <a:avLst/>
          </a:prstGeom>
          <a:noFill/>
          <a:ln/>
        </p:spPr>
        <p:txBody>
          <a:bodyPr wrap="square" lIns="0" tIns="0" rIns="0" bIns="0" rtlCol="0" anchor="ctr"/>
          <a:lstStyle/>
          <a:p>
            <a:pPr marL="0" indent="0">
              <a:buNone/>
            </a:pPr>
            <a:r>
              <a:rPr lang="en-US" sz="950" dirty="0">
                <a:solidFill>
                  <a:srgbClr val="E8F4F8"/>
                </a:solidFill>
              </a:rPr>
              <a:t>Route mapping specification</a:t>
            </a:r>
            <a:endParaRPr lang="en-US" sz="950" dirty="0"/>
          </a:p>
        </p:txBody>
      </p:sp>
      <p:sp>
        <p:nvSpPr>
          <p:cNvPr id="30" name="Shape 28"/>
          <p:cNvSpPr/>
          <p:nvPr/>
        </p:nvSpPr>
        <p:spPr>
          <a:xfrm>
            <a:off x="4773168" y="3611880"/>
            <a:ext cx="146304" cy="146304"/>
          </a:xfrm>
          <a:prstGeom prst="ellipse">
            <a:avLst/>
          </a:prstGeom>
          <a:solidFill>
            <a:srgbClr val="00BFA5"/>
          </a:solidFill>
          <a:ln w="12700">
            <a:solidFill>
              <a:srgbClr val="00BFA5"/>
            </a:solidFill>
            <a:prstDash val="solid"/>
          </a:ln>
        </p:spPr>
        <p:txBody>
          <a:bodyPr/>
          <a:lstStyle/>
          <a:p>
            <a:endParaRPr lang="en-US"/>
          </a:p>
        </p:txBody>
      </p:sp>
      <p:sp>
        <p:nvSpPr>
          <p:cNvPr id="31" name="Text 29"/>
          <p:cNvSpPr/>
          <p:nvPr/>
        </p:nvSpPr>
        <p:spPr>
          <a:xfrm>
            <a:off x="4992624" y="3538728"/>
            <a:ext cx="3566160" cy="320040"/>
          </a:xfrm>
          <a:prstGeom prst="rect">
            <a:avLst/>
          </a:prstGeom>
          <a:noFill/>
          <a:ln/>
        </p:spPr>
        <p:txBody>
          <a:bodyPr wrap="square" lIns="0" tIns="0" rIns="0" bIns="0" rtlCol="0" anchor="ctr"/>
          <a:lstStyle/>
          <a:p>
            <a:pPr marL="0" indent="0">
              <a:buNone/>
            </a:pPr>
            <a:r>
              <a:rPr lang="en-US" sz="950" dirty="0">
                <a:solidFill>
                  <a:srgbClr val="E8F4F8"/>
                </a:solidFill>
              </a:rPr>
              <a:t>Patient chart (David Okafor sepsis case)</a:t>
            </a:r>
            <a:endParaRPr lang="en-US" sz="950" dirty="0"/>
          </a:p>
        </p:txBody>
      </p:sp>
      <p:sp>
        <p:nvSpPr>
          <p:cNvPr id="32" name="Shape 30"/>
          <p:cNvSpPr/>
          <p:nvPr/>
        </p:nvSpPr>
        <p:spPr>
          <a:xfrm>
            <a:off x="4773168" y="4005072"/>
            <a:ext cx="146304" cy="146304"/>
          </a:xfrm>
          <a:prstGeom prst="ellipse">
            <a:avLst/>
          </a:prstGeom>
          <a:solidFill>
            <a:srgbClr val="00BFA5"/>
          </a:solidFill>
          <a:ln w="12700">
            <a:solidFill>
              <a:srgbClr val="00BFA5"/>
            </a:solidFill>
            <a:prstDash val="solid"/>
          </a:ln>
        </p:spPr>
        <p:txBody>
          <a:bodyPr/>
          <a:lstStyle/>
          <a:p>
            <a:endParaRPr lang="en-US"/>
          </a:p>
        </p:txBody>
      </p:sp>
      <p:sp>
        <p:nvSpPr>
          <p:cNvPr id="33" name="Text 31"/>
          <p:cNvSpPr/>
          <p:nvPr/>
        </p:nvSpPr>
        <p:spPr>
          <a:xfrm>
            <a:off x="4992624" y="3931920"/>
            <a:ext cx="3566160" cy="320040"/>
          </a:xfrm>
          <a:prstGeom prst="rect">
            <a:avLst/>
          </a:prstGeom>
          <a:noFill/>
          <a:ln/>
        </p:spPr>
        <p:txBody>
          <a:bodyPr wrap="square" lIns="0" tIns="0" rIns="0" bIns="0" rtlCol="0" anchor="ctr"/>
          <a:lstStyle/>
          <a:p>
            <a:pPr marL="0" indent="0">
              <a:buNone/>
            </a:pPr>
            <a:r>
              <a:rPr lang="en-US" sz="950" dirty="0">
                <a:solidFill>
                  <a:srgbClr val="E8F4F8"/>
                </a:solidFill>
              </a:rPr>
              <a:t>Payer policy PDF (Meridian MP-114)</a:t>
            </a:r>
            <a:endParaRPr lang="en-US" sz="950" dirty="0"/>
          </a:p>
        </p:txBody>
      </p:sp>
      <p:sp>
        <p:nvSpPr>
          <p:cNvPr id="34" name="Shape 32"/>
          <p:cNvSpPr/>
          <p:nvPr/>
        </p:nvSpPr>
        <p:spPr>
          <a:xfrm>
            <a:off x="4773168" y="4398264"/>
            <a:ext cx="146304" cy="146304"/>
          </a:xfrm>
          <a:prstGeom prst="ellipse">
            <a:avLst/>
          </a:prstGeom>
          <a:solidFill>
            <a:srgbClr val="00BFA5"/>
          </a:solidFill>
          <a:ln w="12700">
            <a:solidFill>
              <a:srgbClr val="00BFA5"/>
            </a:solidFill>
            <a:prstDash val="solid"/>
          </a:ln>
        </p:spPr>
        <p:txBody>
          <a:bodyPr/>
          <a:lstStyle/>
          <a:p>
            <a:endParaRPr lang="en-US"/>
          </a:p>
        </p:txBody>
      </p:sp>
      <p:sp>
        <p:nvSpPr>
          <p:cNvPr id="35" name="Text 33"/>
          <p:cNvSpPr/>
          <p:nvPr/>
        </p:nvSpPr>
        <p:spPr>
          <a:xfrm>
            <a:off x="4992624" y="4325112"/>
            <a:ext cx="3566160" cy="320040"/>
          </a:xfrm>
          <a:prstGeom prst="rect">
            <a:avLst/>
          </a:prstGeom>
          <a:noFill/>
          <a:ln/>
        </p:spPr>
        <p:txBody>
          <a:bodyPr wrap="square" lIns="0" tIns="0" rIns="0" bIns="0" rtlCol="0" anchor="ctr"/>
          <a:lstStyle/>
          <a:p>
            <a:pPr marL="0" indent="0">
              <a:buNone/>
            </a:pPr>
            <a:r>
              <a:rPr lang="en-US" sz="950" dirty="0">
                <a:solidFill>
                  <a:srgbClr val="E8F4F8"/>
                </a:solidFill>
              </a:rPr>
              <a:t>Appeal templates + 30+ appeal outcomes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438912"/>
          </a:xfrm>
          <a:prstGeom prst="rect">
            <a:avLst/>
          </a:prstGeom>
          <a:noFill/>
          <a:ln/>
        </p:spPr>
        <p:txBody>
          <a:bodyPr wrap="square" rtlCol="0" anchor="ctr"/>
          <a:lstStyle/>
          <a:p>
            <a:pPr marL="0" indent="0">
              <a:buNone/>
            </a:pPr>
            <a:r>
              <a:rPr lang="en-US" sz="2800" b="1" dirty="0">
                <a:solidFill>
                  <a:srgbClr val="0B1A2E"/>
                </a:solidFill>
                <a:latin typeface="Calibri" pitchFamily="34" charset="0"/>
                <a:ea typeface="Calibri" pitchFamily="34" charset="-122"/>
                <a:cs typeface="Calibri" pitchFamily="34" charset="-120"/>
              </a:rPr>
              <a:t>Why This Wins: Moat &amp; Compliance</a:t>
            </a:r>
            <a:endParaRPr lang="en-US" sz="2800" dirty="0"/>
          </a:p>
        </p:txBody>
      </p:sp>
      <p:sp>
        <p:nvSpPr>
          <p:cNvPr id="3" name="Text 1"/>
          <p:cNvSpPr/>
          <p:nvPr/>
        </p:nvSpPr>
        <p:spPr>
          <a:xfrm>
            <a:off x="457200" y="685800"/>
            <a:ext cx="8229600" cy="256032"/>
          </a:xfrm>
          <a:prstGeom prst="rect">
            <a:avLst/>
          </a:prstGeom>
          <a:noFill/>
          <a:ln/>
        </p:spPr>
        <p:txBody>
          <a:bodyPr wrap="square" rtlCol="0" anchor="ctr"/>
          <a:lstStyle/>
          <a:p>
            <a:pPr marL="0" indent="0">
              <a:buNone/>
            </a:pPr>
            <a:r>
              <a:rPr lang="en-US" sz="1200" i="1" dirty="0">
                <a:solidFill>
                  <a:srgbClr val="3B5A78"/>
                </a:solidFill>
              </a:rPr>
              <a:t>The regulatory landscape makes physician-in-the-loop the only defensible architecture</a:t>
            </a:r>
            <a:endParaRPr lang="en-US" sz="1200" dirty="0"/>
          </a:p>
        </p:txBody>
      </p:sp>
      <p:sp>
        <p:nvSpPr>
          <p:cNvPr id="4" name="Shape 2"/>
          <p:cNvSpPr/>
          <p:nvPr/>
        </p:nvSpPr>
        <p:spPr>
          <a:xfrm>
            <a:off x="457200" y="1051560"/>
            <a:ext cx="4023360" cy="2560320"/>
          </a:xfrm>
          <a:prstGeom prst="roundRect">
            <a:avLst>
              <a:gd name="adj" fmla="val 4286"/>
            </a:avLst>
          </a:prstGeom>
          <a:solidFill>
            <a:srgbClr val="0B1A2E"/>
          </a:solidFill>
          <a:ln/>
          <a:effectLst>
            <a:outerShdw blurRad="127000" dist="38100" dir="2700000" algn="bl" rotWithShape="0">
              <a:srgbClr val="000000">
                <a:alpha val="18000"/>
              </a:srgbClr>
            </a:outerShdw>
          </a:effectLst>
        </p:spPr>
        <p:txBody>
          <a:bodyPr/>
          <a:lstStyle/>
          <a:p>
            <a:endParaRPr lang="en-US"/>
          </a:p>
        </p:txBody>
      </p:sp>
      <p:sp>
        <p:nvSpPr>
          <p:cNvPr id="5" name="Text 3"/>
          <p:cNvSpPr/>
          <p:nvPr/>
        </p:nvSpPr>
        <p:spPr>
          <a:xfrm>
            <a:off x="594360" y="1143000"/>
            <a:ext cx="3749040" cy="347472"/>
          </a:xfrm>
          <a:prstGeom prst="rect">
            <a:avLst/>
          </a:prstGeom>
          <a:noFill/>
          <a:ln/>
        </p:spPr>
        <p:txBody>
          <a:bodyPr wrap="square" lIns="0" tIns="0" rIns="0" bIns="0" rtlCol="0" anchor="ctr"/>
          <a:lstStyle/>
          <a:p>
            <a:pPr marL="0" indent="0">
              <a:buNone/>
            </a:pPr>
            <a:r>
              <a:rPr lang="en-US" sz="1300" b="1" dirty="0">
                <a:solidFill>
                  <a:srgbClr val="F4C842"/>
                </a:solidFill>
              </a:rPr>
              <a:t>vs. Funded Competitors</a:t>
            </a:r>
            <a:endParaRPr lang="en-US" sz="1300" dirty="0"/>
          </a:p>
        </p:txBody>
      </p:sp>
      <p:sp>
        <p:nvSpPr>
          <p:cNvPr id="6" name="Text 4"/>
          <p:cNvSpPr/>
          <p:nvPr/>
        </p:nvSpPr>
        <p:spPr>
          <a:xfrm>
            <a:off x="566928" y="1572768"/>
            <a:ext cx="914400" cy="256032"/>
          </a:xfrm>
          <a:prstGeom prst="rect">
            <a:avLst/>
          </a:prstGeom>
          <a:noFill/>
          <a:ln/>
        </p:spPr>
        <p:txBody>
          <a:bodyPr wrap="square" lIns="0" tIns="0" rIns="0" bIns="0" rtlCol="0" anchor="ctr"/>
          <a:lstStyle/>
          <a:p>
            <a:pPr marL="0" indent="0">
              <a:buNone/>
            </a:pPr>
            <a:r>
              <a:rPr lang="en-US" sz="900" b="1" dirty="0">
                <a:solidFill>
                  <a:srgbClr val="7BA3C0"/>
                </a:solidFill>
              </a:rPr>
              <a:t>Dimension</a:t>
            </a:r>
            <a:endParaRPr lang="en-US" sz="900" dirty="0"/>
          </a:p>
        </p:txBody>
      </p:sp>
      <p:sp>
        <p:nvSpPr>
          <p:cNvPr id="7" name="Text 5"/>
          <p:cNvSpPr/>
          <p:nvPr/>
        </p:nvSpPr>
        <p:spPr>
          <a:xfrm>
            <a:off x="1536192" y="1572768"/>
            <a:ext cx="1298448" cy="256032"/>
          </a:xfrm>
          <a:prstGeom prst="rect">
            <a:avLst/>
          </a:prstGeom>
          <a:noFill/>
          <a:ln/>
        </p:spPr>
        <p:txBody>
          <a:bodyPr wrap="square" lIns="0" tIns="0" rIns="0" bIns="0" rtlCol="0" anchor="ctr"/>
          <a:lstStyle/>
          <a:p>
            <a:pPr marL="0" indent="0">
              <a:buNone/>
            </a:pPr>
            <a:r>
              <a:rPr lang="en-US" sz="900" b="1" dirty="0">
                <a:solidFill>
                  <a:srgbClr val="7BA3C0"/>
                </a:solidFill>
              </a:rPr>
              <a:t>Them (e.g. Cohere)</a:t>
            </a:r>
            <a:endParaRPr lang="en-US" sz="900" dirty="0"/>
          </a:p>
        </p:txBody>
      </p:sp>
      <p:sp>
        <p:nvSpPr>
          <p:cNvPr id="8" name="Text 6"/>
          <p:cNvSpPr/>
          <p:nvPr/>
        </p:nvSpPr>
        <p:spPr>
          <a:xfrm>
            <a:off x="2880360" y="1572768"/>
            <a:ext cx="1463040" cy="256032"/>
          </a:xfrm>
          <a:prstGeom prst="rect">
            <a:avLst/>
          </a:prstGeom>
          <a:noFill/>
          <a:ln/>
        </p:spPr>
        <p:txBody>
          <a:bodyPr wrap="square" lIns="0" tIns="0" rIns="0" bIns="0" rtlCol="0" anchor="ctr"/>
          <a:lstStyle/>
          <a:p>
            <a:pPr marL="0" indent="0">
              <a:buNone/>
            </a:pPr>
            <a:r>
              <a:rPr lang="en-US" sz="900" b="1" dirty="0">
                <a:solidFill>
                  <a:srgbClr val="00BFA5"/>
                </a:solidFill>
              </a:rPr>
              <a:t>Us</a:t>
            </a:r>
            <a:endParaRPr lang="en-US" sz="900" dirty="0"/>
          </a:p>
        </p:txBody>
      </p:sp>
      <p:sp>
        <p:nvSpPr>
          <p:cNvPr id="9" name="Shape 7"/>
          <p:cNvSpPr/>
          <p:nvPr/>
        </p:nvSpPr>
        <p:spPr>
          <a:xfrm>
            <a:off x="548640" y="1901952"/>
            <a:ext cx="3749040" cy="365760"/>
          </a:xfrm>
          <a:prstGeom prst="roundRect">
            <a:avLst>
              <a:gd name="adj" fmla="val 12500"/>
            </a:avLst>
          </a:prstGeom>
          <a:solidFill>
            <a:srgbClr val="162D4A"/>
          </a:solidFill>
          <a:ln/>
        </p:spPr>
        <p:txBody>
          <a:bodyPr/>
          <a:lstStyle/>
          <a:p>
            <a:endParaRPr lang="en-US"/>
          </a:p>
        </p:txBody>
      </p:sp>
      <p:sp>
        <p:nvSpPr>
          <p:cNvPr id="10" name="Text 8"/>
          <p:cNvSpPr/>
          <p:nvPr/>
        </p:nvSpPr>
        <p:spPr>
          <a:xfrm>
            <a:off x="594360" y="1901952"/>
            <a:ext cx="914400" cy="365760"/>
          </a:xfrm>
          <a:prstGeom prst="rect">
            <a:avLst/>
          </a:prstGeom>
          <a:noFill/>
          <a:ln/>
        </p:spPr>
        <p:txBody>
          <a:bodyPr wrap="square" lIns="25400" tIns="25400" rIns="25400" bIns="25400" rtlCol="0" anchor="ctr"/>
          <a:lstStyle/>
          <a:p>
            <a:pPr marL="0" indent="0">
              <a:buNone/>
            </a:pPr>
            <a:r>
              <a:rPr lang="en-US" sz="950" dirty="0">
                <a:solidFill>
                  <a:srgbClr val="7BA3C0"/>
                </a:solidFill>
              </a:rPr>
              <a:t>Side</a:t>
            </a:r>
            <a:endParaRPr lang="en-US" sz="950" dirty="0"/>
          </a:p>
        </p:txBody>
      </p:sp>
      <p:sp>
        <p:nvSpPr>
          <p:cNvPr id="11" name="Text 9"/>
          <p:cNvSpPr/>
          <p:nvPr/>
        </p:nvSpPr>
        <p:spPr>
          <a:xfrm>
            <a:off x="1536192" y="1901952"/>
            <a:ext cx="1298448" cy="365760"/>
          </a:xfrm>
          <a:prstGeom prst="rect">
            <a:avLst/>
          </a:prstGeom>
          <a:noFill/>
          <a:ln/>
        </p:spPr>
        <p:txBody>
          <a:bodyPr wrap="square" lIns="25400" tIns="25400" rIns="25400" bIns="25400" rtlCol="0" anchor="ctr"/>
          <a:lstStyle/>
          <a:p>
            <a:pPr marL="0" indent="0">
              <a:buNone/>
            </a:pPr>
            <a:r>
              <a:rPr lang="en-US" sz="950" dirty="0">
                <a:solidFill>
                  <a:srgbClr val="E8F4F8"/>
                </a:solidFill>
              </a:rPr>
              <a:t>Payer (deny faster)</a:t>
            </a:r>
            <a:endParaRPr lang="en-US" sz="950" dirty="0"/>
          </a:p>
        </p:txBody>
      </p:sp>
      <p:sp>
        <p:nvSpPr>
          <p:cNvPr id="12" name="Text 10"/>
          <p:cNvSpPr/>
          <p:nvPr/>
        </p:nvSpPr>
        <p:spPr>
          <a:xfrm>
            <a:off x="2880360" y="1901952"/>
            <a:ext cx="1371600" cy="365760"/>
          </a:xfrm>
          <a:prstGeom prst="rect">
            <a:avLst/>
          </a:prstGeom>
          <a:noFill/>
          <a:ln/>
        </p:spPr>
        <p:txBody>
          <a:bodyPr wrap="square" lIns="25400" tIns="25400" rIns="25400" bIns="25400" rtlCol="0" anchor="ctr"/>
          <a:lstStyle/>
          <a:p>
            <a:pPr marL="0" indent="0">
              <a:buNone/>
            </a:pPr>
            <a:r>
              <a:rPr lang="en-US" sz="950" b="1" dirty="0">
                <a:solidFill>
                  <a:srgbClr val="00BFA5"/>
                </a:solidFill>
              </a:rPr>
              <a:t>Provider (appeal faster)</a:t>
            </a:r>
            <a:endParaRPr lang="en-US" sz="950" dirty="0"/>
          </a:p>
        </p:txBody>
      </p:sp>
      <p:sp>
        <p:nvSpPr>
          <p:cNvPr id="13" name="Shape 11"/>
          <p:cNvSpPr/>
          <p:nvPr/>
        </p:nvSpPr>
        <p:spPr>
          <a:xfrm>
            <a:off x="548640" y="2331720"/>
            <a:ext cx="3749040" cy="365760"/>
          </a:xfrm>
          <a:prstGeom prst="roundRect">
            <a:avLst>
              <a:gd name="adj" fmla="val 12500"/>
            </a:avLst>
          </a:prstGeom>
          <a:solidFill>
            <a:srgbClr val="0B1A2E"/>
          </a:solidFill>
          <a:ln/>
        </p:spPr>
        <p:txBody>
          <a:bodyPr/>
          <a:lstStyle/>
          <a:p>
            <a:endParaRPr lang="en-US"/>
          </a:p>
        </p:txBody>
      </p:sp>
      <p:sp>
        <p:nvSpPr>
          <p:cNvPr id="14" name="Text 12"/>
          <p:cNvSpPr/>
          <p:nvPr/>
        </p:nvSpPr>
        <p:spPr>
          <a:xfrm>
            <a:off x="594360" y="2331720"/>
            <a:ext cx="914400" cy="365760"/>
          </a:xfrm>
          <a:prstGeom prst="rect">
            <a:avLst/>
          </a:prstGeom>
          <a:noFill/>
          <a:ln/>
        </p:spPr>
        <p:txBody>
          <a:bodyPr wrap="square" lIns="25400" tIns="25400" rIns="25400" bIns="25400" rtlCol="0" anchor="ctr"/>
          <a:lstStyle/>
          <a:p>
            <a:pPr marL="0" indent="0">
              <a:buNone/>
            </a:pPr>
            <a:r>
              <a:rPr lang="en-US" sz="950" dirty="0">
                <a:solidFill>
                  <a:srgbClr val="7BA3C0"/>
                </a:solidFill>
              </a:rPr>
              <a:t>Clinician</a:t>
            </a:r>
            <a:endParaRPr lang="en-US" sz="950" dirty="0"/>
          </a:p>
        </p:txBody>
      </p:sp>
      <p:sp>
        <p:nvSpPr>
          <p:cNvPr id="15" name="Text 13"/>
          <p:cNvSpPr/>
          <p:nvPr/>
        </p:nvSpPr>
        <p:spPr>
          <a:xfrm>
            <a:off x="1536192" y="2331720"/>
            <a:ext cx="1298448" cy="365760"/>
          </a:xfrm>
          <a:prstGeom prst="rect">
            <a:avLst/>
          </a:prstGeom>
          <a:noFill/>
          <a:ln/>
        </p:spPr>
        <p:txBody>
          <a:bodyPr wrap="square" lIns="25400" tIns="25400" rIns="25400" bIns="25400" rtlCol="0" anchor="ctr"/>
          <a:lstStyle/>
          <a:p>
            <a:pPr marL="0" indent="0">
              <a:buNone/>
            </a:pPr>
            <a:r>
              <a:rPr lang="en-US" sz="950" dirty="0">
                <a:solidFill>
                  <a:srgbClr val="E8F4F8"/>
                </a:solidFill>
              </a:rPr>
              <a:t>Algorithm decides</a:t>
            </a:r>
            <a:endParaRPr lang="en-US" sz="950" dirty="0"/>
          </a:p>
        </p:txBody>
      </p:sp>
      <p:sp>
        <p:nvSpPr>
          <p:cNvPr id="16" name="Text 14"/>
          <p:cNvSpPr/>
          <p:nvPr/>
        </p:nvSpPr>
        <p:spPr>
          <a:xfrm>
            <a:off x="2880360" y="2331720"/>
            <a:ext cx="1371600" cy="365760"/>
          </a:xfrm>
          <a:prstGeom prst="rect">
            <a:avLst/>
          </a:prstGeom>
          <a:noFill/>
          <a:ln/>
        </p:spPr>
        <p:txBody>
          <a:bodyPr wrap="square" lIns="25400" tIns="25400" rIns="25400" bIns="25400" rtlCol="0" anchor="ctr"/>
          <a:lstStyle/>
          <a:p>
            <a:pPr marL="0" indent="0">
              <a:buNone/>
            </a:pPr>
            <a:r>
              <a:rPr lang="en-US" sz="950" b="1" dirty="0">
                <a:solidFill>
                  <a:srgbClr val="00BFA5"/>
                </a:solidFill>
              </a:rPr>
              <a:t>Physician always signs</a:t>
            </a:r>
            <a:endParaRPr lang="en-US" sz="950" dirty="0"/>
          </a:p>
        </p:txBody>
      </p:sp>
      <p:sp>
        <p:nvSpPr>
          <p:cNvPr id="17" name="Shape 15"/>
          <p:cNvSpPr/>
          <p:nvPr/>
        </p:nvSpPr>
        <p:spPr>
          <a:xfrm>
            <a:off x="548640" y="2761488"/>
            <a:ext cx="3749040" cy="365760"/>
          </a:xfrm>
          <a:prstGeom prst="roundRect">
            <a:avLst>
              <a:gd name="adj" fmla="val 12500"/>
            </a:avLst>
          </a:prstGeom>
          <a:solidFill>
            <a:srgbClr val="162D4A"/>
          </a:solidFill>
          <a:ln/>
        </p:spPr>
        <p:txBody>
          <a:bodyPr/>
          <a:lstStyle/>
          <a:p>
            <a:endParaRPr lang="en-US"/>
          </a:p>
        </p:txBody>
      </p:sp>
      <p:sp>
        <p:nvSpPr>
          <p:cNvPr id="18" name="Text 16"/>
          <p:cNvSpPr/>
          <p:nvPr/>
        </p:nvSpPr>
        <p:spPr>
          <a:xfrm>
            <a:off x="594360" y="2761488"/>
            <a:ext cx="914400" cy="365760"/>
          </a:xfrm>
          <a:prstGeom prst="rect">
            <a:avLst/>
          </a:prstGeom>
          <a:noFill/>
          <a:ln/>
        </p:spPr>
        <p:txBody>
          <a:bodyPr wrap="square" lIns="25400" tIns="25400" rIns="25400" bIns="25400" rtlCol="0" anchor="ctr"/>
          <a:lstStyle/>
          <a:p>
            <a:pPr marL="0" indent="0">
              <a:buNone/>
            </a:pPr>
            <a:r>
              <a:rPr lang="en-US" sz="950" dirty="0">
                <a:solidFill>
                  <a:srgbClr val="7BA3C0"/>
                </a:solidFill>
              </a:rPr>
              <a:t>SB 1120</a:t>
            </a:r>
            <a:endParaRPr lang="en-US" sz="950" dirty="0"/>
          </a:p>
        </p:txBody>
      </p:sp>
      <p:sp>
        <p:nvSpPr>
          <p:cNvPr id="19" name="Text 17"/>
          <p:cNvSpPr/>
          <p:nvPr/>
        </p:nvSpPr>
        <p:spPr>
          <a:xfrm>
            <a:off x="1536192" y="2761488"/>
            <a:ext cx="1298448" cy="365760"/>
          </a:xfrm>
          <a:prstGeom prst="rect">
            <a:avLst/>
          </a:prstGeom>
          <a:noFill/>
          <a:ln/>
        </p:spPr>
        <p:txBody>
          <a:bodyPr wrap="square" lIns="25400" tIns="25400" rIns="25400" bIns="25400" rtlCol="0" anchor="ctr"/>
          <a:lstStyle/>
          <a:p>
            <a:pPr marL="0" indent="0">
              <a:buNone/>
            </a:pPr>
            <a:r>
              <a:rPr lang="en-US" sz="950" dirty="0">
                <a:solidFill>
                  <a:srgbClr val="E8F4F8"/>
                </a:solidFill>
              </a:rPr>
              <a:t>Exposure</a:t>
            </a:r>
            <a:endParaRPr lang="en-US" sz="950" dirty="0"/>
          </a:p>
        </p:txBody>
      </p:sp>
      <p:sp>
        <p:nvSpPr>
          <p:cNvPr id="20" name="Text 18"/>
          <p:cNvSpPr/>
          <p:nvPr/>
        </p:nvSpPr>
        <p:spPr>
          <a:xfrm>
            <a:off x="2880360" y="2761488"/>
            <a:ext cx="1371600" cy="365760"/>
          </a:xfrm>
          <a:prstGeom prst="rect">
            <a:avLst/>
          </a:prstGeom>
          <a:noFill/>
          <a:ln/>
        </p:spPr>
        <p:txBody>
          <a:bodyPr wrap="square" lIns="25400" tIns="25400" rIns="25400" bIns="25400" rtlCol="0" anchor="ctr"/>
          <a:lstStyle/>
          <a:p>
            <a:pPr marL="0" indent="0">
              <a:buNone/>
            </a:pPr>
            <a:r>
              <a:rPr lang="en-US" sz="950" b="1" dirty="0">
                <a:solidFill>
                  <a:srgbClr val="00BFA5"/>
                </a:solidFill>
              </a:rPr>
              <a:t>Compliant by design</a:t>
            </a:r>
            <a:endParaRPr lang="en-US" sz="950" dirty="0"/>
          </a:p>
        </p:txBody>
      </p:sp>
      <p:sp>
        <p:nvSpPr>
          <p:cNvPr id="21" name="Shape 19"/>
          <p:cNvSpPr/>
          <p:nvPr/>
        </p:nvSpPr>
        <p:spPr>
          <a:xfrm>
            <a:off x="548640" y="3191256"/>
            <a:ext cx="3749040" cy="365760"/>
          </a:xfrm>
          <a:prstGeom prst="roundRect">
            <a:avLst>
              <a:gd name="adj" fmla="val 12500"/>
            </a:avLst>
          </a:prstGeom>
          <a:solidFill>
            <a:srgbClr val="0B1A2E"/>
          </a:solidFill>
          <a:ln/>
        </p:spPr>
        <p:txBody>
          <a:bodyPr/>
          <a:lstStyle/>
          <a:p>
            <a:endParaRPr lang="en-US"/>
          </a:p>
        </p:txBody>
      </p:sp>
      <p:sp>
        <p:nvSpPr>
          <p:cNvPr id="22" name="Text 20"/>
          <p:cNvSpPr/>
          <p:nvPr/>
        </p:nvSpPr>
        <p:spPr>
          <a:xfrm>
            <a:off x="594360" y="3191256"/>
            <a:ext cx="914400" cy="365760"/>
          </a:xfrm>
          <a:prstGeom prst="rect">
            <a:avLst/>
          </a:prstGeom>
          <a:noFill/>
          <a:ln/>
        </p:spPr>
        <p:txBody>
          <a:bodyPr wrap="square" lIns="25400" tIns="25400" rIns="25400" bIns="25400" rtlCol="0" anchor="ctr"/>
          <a:lstStyle/>
          <a:p>
            <a:pPr marL="0" indent="0">
              <a:buNone/>
            </a:pPr>
            <a:r>
              <a:rPr lang="en-US" sz="950" dirty="0">
                <a:solidFill>
                  <a:srgbClr val="7BA3C0"/>
                </a:solidFill>
              </a:rPr>
              <a:t>Backlash</a:t>
            </a:r>
            <a:endParaRPr lang="en-US" sz="950" dirty="0"/>
          </a:p>
        </p:txBody>
      </p:sp>
      <p:sp>
        <p:nvSpPr>
          <p:cNvPr id="23" name="Text 21"/>
          <p:cNvSpPr/>
          <p:nvPr/>
        </p:nvSpPr>
        <p:spPr>
          <a:xfrm>
            <a:off x="1536192" y="3191256"/>
            <a:ext cx="1298448" cy="365760"/>
          </a:xfrm>
          <a:prstGeom prst="rect">
            <a:avLst/>
          </a:prstGeom>
          <a:noFill/>
          <a:ln/>
        </p:spPr>
        <p:txBody>
          <a:bodyPr wrap="square" lIns="25400" tIns="25400" rIns="25400" bIns="25400" rtlCol="0" anchor="ctr"/>
          <a:lstStyle/>
          <a:p>
            <a:pPr marL="0" indent="0">
              <a:buNone/>
            </a:pPr>
            <a:r>
              <a:rPr lang="en-US" sz="950" dirty="0">
                <a:solidFill>
                  <a:srgbClr val="E8F4F8"/>
                </a:solidFill>
              </a:rPr>
              <a:t>AI denial-of-care</a:t>
            </a:r>
            <a:endParaRPr lang="en-US" sz="950" dirty="0"/>
          </a:p>
        </p:txBody>
      </p:sp>
      <p:sp>
        <p:nvSpPr>
          <p:cNvPr id="24" name="Text 22"/>
          <p:cNvSpPr/>
          <p:nvPr/>
        </p:nvSpPr>
        <p:spPr>
          <a:xfrm>
            <a:off x="2880360" y="3191256"/>
            <a:ext cx="1371600" cy="365760"/>
          </a:xfrm>
          <a:prstGeom prst="rect">
            <a:avLst/>
          </a:prstGeom>
          <a:noFill/>
          <a:ln/>
        </p:spPr>
        <p:txBody>
          <a:bodyPr wrap="square" lIns="25400" tIns="25400" rIns="25400" bIns="25400" rtlCol="0" anchor="ctr"/>
          <a:lstStyle/>
          <a:p>
            <a:pPr marL="0" indent="0">
              <a:buNone/>
            </a:pPr>
            <a:r>
              <a:rPr lang="en-US" sz="950" b="1" dirty="0">
                <a:solidFill>
                  <a:srgbClr val="00BFA5"/>
                </a:solidFill>
              </a:rPr>
              <a:t>AI-assisted, human decides</a:t>
            </a:r>
            <a:endParaRPr lang="en-US" sz="950" dirty="0"/>
          </a:p>
        </p:txBody>
      </p:sp>
      <p:sp>
        <p:nvSpPr>
          <p:cNvPr id="25" name="Shape 23"/>
          <p:cNvSpPr/>
          <p:nvPr/>
        </p:nvSpPr>
        <p:spPr>
          <a:xfrm>
            <a:off x="4663440" y="1051560"/>
            <a:ext cx="4023360" cy="2560320"/>
          </a:xfrm>
          <a:prstGeom prst="roundRect">
            <a:avLst>
              <a:gd name="adj" fmla="val 4286"/>
            </a:avLst>
          </a:prstGeom>
          <a:solidFill>
            <a:srgbClr val="EF5350">
              <a:alpha val="10000"/>
            </a:srgbClr>
          </a:solidFill>
          <a:ln/>
          <a:effectLst>
            <a:outerShdw blurRad="127000" dist="38100" dir="2700000" algn="bl" rotWithShape="0">
              <a:srgbClr val="000000">
                <a:alpha val="18000"/>
              </a:srgbClr>
            </a:outerShdw>
          </a:effectLst>
        </p:spPr>
        <p:txBody>
          <a:bodyPr/>
          <a:lstStyle/>
          <a:p>
            <a:endParaRPr lang="en-US"/>
          </a:p>
        </p:txBody>
      </p:sp>
      <p:pic>
        <p:nvPicPr>
          <p:cNvPr id="26" name="Image 0" descr="preencoded.png"/>
          <p:cNvPicPr>
            <a:picLocks noChangeAspect="1"/>
          </p:cNvPicPr>
          <p:nvPr/>
        </p:nvPicPr>
        <p:blipFill>
          <a:blip r:embed="rId3"/>
          <a:stretch>
            <a:fillRect/>
          </a:stretch>
        </p:blipFill>
        <p:spPr>
          <a:xfrm>
            <a:off x="6464808" y="1133856"/>
            <a:ext cx="420624" cy="420624"/>
          </a:xfrm>
          <a:prstGeom prst="rect">
            <a:avLst/>
          </a:prstGeom>
        </p:spPr>
      </p:pic>
      <p:sp>
        <p:nvSpPr>
          <p:cNvPr id="27" name="Text 24"/>
          <p:cNvSpPr/>
          <p:nvPr/>
        </p:nvSpPr>
        <p:spPr>
          <a:xfrm>
            <a:off x="4800600" y="1161288"/>
            <a:ext cx="1600200" cy="365760"/>
          </a:xfrm>
          <a:prstGeom prst="rect">
            <a:avLst/>
          </a:prstGeom>
          <a:noFill/>
          <a:ln/>
        </p:spPr>
        <p:txBody>
          <a:bodyPr wrap="square" lIns="0" tIns="0" rIns="0" bIns="0" rtlCol="0" anchor="ctr"/>
          <a:lstStyle/>
          <a:p>
            <a:pPr marL="0" indent="0">
              <a:buNone/>
            </a:pPr>
            <a:r>
              <a:rPr lang="en-US" sz="1300" b="1" dirty="0">
                <a:solidFill>
                  <a:srgbClr val="EF5350"/>
                </a:solidFill>
              </a:rPr>
              <a:t>California SB 1120</a:t>
            </a:r>
            <a:endParaRPr lang="en-US" sz="1300" dirty="0"/>
          </a:p>
        </p:txBody>
      </p:sp>
      <p:sp>
        <p:nvSpPr>
          <p:cNvPr id="28" name="Text 25"/>
          <p:cNvSpPr/>
          <p:nvPr/>
        </p:nvSpPr>
        <p:spPr>
          <a:xfrm>
            <a:off x="4800600" y="1572768"/>
            <a:ext cx="3749040" cy="256032"/>
          </a:xfrm>
          <a:prstGeom prst="rect">
            <a:avLst/>
          </a:prstGeom>
          <a:noFill/>
          <a:ln/>
        </p:spPr>
        <p:txBody>
          <a:bodyPr wrap="square" lIns="0" tIns="0" rIns="0" bIns="0" rtlCol="0" anchor="ctr"/>
          <a:lstStyle/>
          <a:p>
            <a:pPr marL="0" indent="0">
              <a:buNone/>
            </a:pPr>
            <a:r>
              <a:rPr lang="en-US" sz="950" dirty="0">
                <a:solidFill>
                  <a:srgbClr val="3B5A78"/>
                </a:solidFill>
              </a:rPr>
              <a:t>Physicians Make Decisions Act  ·  Effective Jan 1, 2025</a:t>
            </a:r>
            <a:endParaRPr lang="en-US" sz="950" dirty="0"/>
          </a:p>
        </p:txBody>
      </p:sp>
      <p:sp>
        <p:nvSpPr>
          <p:cNvPr id="29" name="Shape 26"/>
          <p:cNvSpPr/>
          <p:nvPr/>
        </p:nvSpPr>
        <p:spPr>
          <a:xfrm>
            <a:off x="4800600" y="1883664"/>
            <a:ext cx="3657600" cy="0"/>
          </a:xfrm>
          <a:prstGeom prst="line">
            <a:avLst/>
          </a:prstGeom>
          <a:noFill/>
          <a:ln w="12700">
            <a:solidFill>
              <a:srgbClr val="DDDDDD"/>
            </a:solidFill>
            <a:prstDash val="solid"/>
          </a:ln>
        </p:spPr>
        <p:txBody>
          <a:bodyPr/>
          <a:lstStyle/>
          <a:p>
            <a:endParaRPr lang="en-US"/>
          </a:p>
        </p:txBody>
      </p:sp>
      <p:sp>
        <p:nvSpPr>
          <p:cNvPr id="30" name="Text 27"/>
          <p:cNvSpPr/>
          <p:nvPr/>
        </p:nvSpPr>
        <p:spPr>
          <a:xfrm>
            <a:off x="4800600" y="1956816"/>
            <a:ext cx="3749040" cy="1508760"/>
          </a:xfrm>
          <a:prstGeom prst="rect">
            <a:avLst/>
          </a:prstGeom>
          <a:noFill/>
          <a:ln/>
        </p:spPr>
        <p:txBody>
          <a:bodyPr wrap="square" lIns="50800" tIns="50800" rIns="50800" bIns="50800" rtlCol="0" anchor="ctr"/>
          <a:lstStyle/>
          <a:p>
            <a:pPr marL="0" indent="0">
              <a:buNone/>
            </a:pPr>
            <a:r>
              <a:rPr lang="en-US" sz="1000" dirty="0">
                <a:solidFill>
                  <a:srgbClr val="0B1A2E"/>
                </a:solidFill>
              </a:rPr>
              <a:t>Requires a licensed clinician — not an algorithm — to make every medical-necessity determination.</a:t>
            </a:r>
            <a:endParaRPr lang="en-US" sz="1000" dirty="0"/>
          </a:p>
          <a:p>
            <a:pPr marL="0" indent="0">
              <a:buNone/>
            </a:pPr>
            <a:endParaRPr lang="en-US" sz="1000" dirty="0"/>
          </a:p>
          <a:p>
            <a:pPr marL="0" indent="0">
              <a:buNone/>
            </a:pPr>
            <a:r>
              <a:rPr lang="en-US" sz="1000" dirty="0">
                <a:solidFill>
                  <a:srgbClr val="0B1A2E"/>
                </a:solidFill>
              </a:rPr>
              <a:t>Our architecture satisfies this by construction: the medical_necessity route always routes to physician sign-off via Action Center.</a:t>
            </a:r>
            <a:endParaRPr lang="en-US" sz="1000" dirty="0"/>
          </a:p>
          <a:p>
            <a:pPr marL="0" indent="0">
              <a:buNone/>
            </a:pPr>
            <a:endParaRPr lang="en-US" sz="1000" dirty="0"/>
          </a:p>
          <a:p>
            <a:pPr marL="0" indent="0">
              <a:buNone/>
            </a:pPr>
            <a:r>
              <a:rPr lang="en-US" sz="1000" dirty="0">
                <a:solidFill>
                  <a:srgbClr val="0B1A2E"/>
                </a:solidFill>
              </a:rPr>
              <a:t>This is a structural moat against the AI-denial-of-care regulatory backlash.</a:t>
            </a:r>
            <a:endParaRPr lang="en-US" sz="1000" dirty="0"/>
          </a:p>
        </p:txBody>
      </p:sp>
      <p:sp>
        <p:nvSpPr>
          <p:cNvPr id="31" name="Shape 28"/>
          <p:cNvSpPr/>
          <p:nvPr/>
        </p:nvSpPr>
        <p:spPr>
          <a:xfrm>
            <a:off x="457200" y="3767328"/>
            <a:ext cx="8229600" cy="1115568"/>
          </a:xfrm>
          <a:prstGeom prst="roundRect">
            <a:avLst>
              <a:gd name="adj" fmla="val 8197"/>
            </a:avLst>
          </a:prstGeom>
          <a:solidFill>
            <a:srgbClr val="0B1A2E"/>
          </a:solidFill>
          <a:ln/>
          <a:effectLst>
            <a:outerShdw blurRad="127000" dist="38100" dir="2700000" algn="bl" rotWithShape="0">
              <a:srgbClr val="000000">
                <a:alpha val="18000"/>
              </a:srgbClr>
            </a:outerShdw>
          </a:effectLst>
        </p:spPr>
        <p:txBody>
          <a:bodyPr/>
          <a:lstStyle/>
          <a:p>
            <a:endParaRPr lang="en-US"/>
          </a:p>
        </p:txBody>
      </p:sp>
      <p:sp>
        <p:nvSpPr>
          <p:cNvPr id="32" name="Text 29"/>
          <p:cNvSpPr/>
          <p:nvPr/>
        </p:nvSpPr>
        <p:spPr>
          <a:xfrm>
            <a:off x="640080" y="3840480"/>
            <a:ext cx="7863840" cy="292608"/>
          </a:xfrm>
          <a:prstGeom prst="rect">
            <a:avLst/>
          </a:prstGeom>
          <a:noFill/>
          <a:ln/>
        </p:spPr>
        <p:txBody>
          <a:bodyPr wrap="square" lIns="0" tIns="0" rIns="0" bIns="0" rtlCol="0" anchor="ctr"/>
          <a:lstStyle/>
          <a:p>
            <a:pPr marL="0" indent="0" algn="ctr">
              <a:buNone/>
            </a:pPr>
            <a:r>
              <a:rPr lang="en-US" sz="1300" b="1" dirty="0">
                <a:solidFill>
                  <a:srgbClr val="F4C842"/>
                </a:solidFill>
              </a:rPr>
              <a:t>The Opportunity</a:t>
            </a:r>
            <a:endParaRPr lang="en-US" sz="1300" dirty="0"/>
          </a:p>
        </p:txBody>
      </p:sp>
      <p:sp>
        <p:nvSpPr>
          <p:cNvPr id="33" name="Text 30"/>
          <p:cNvSpPr/>
          <p:nvPr/>
        </p:nvSpPr>
        <p:spPr>
          <a:xfrm>
            <a:off x="914400" y="4169664"/>
            <a:ext cx="1737360" cy="365760"/>
          </a:xfrm>
          <a:prstGeom prst="rect">
            <a:avLst/>
          </a:prstGeom>
          <a:noFill/>
          <a:ln/>
        </p:spPr>
        <p:txBody>
          <a:bodyPr wrap="square" lIns="0" tIns="0" rIns="0" bIns="0" rtlCol="0" anchor="ctr"/>
          <a:lstStyle/>
          <a:p>
            <a:pPr marL="0" indent="0" algn="ctr">
              <a:buNone/>
            </a:pPr>
            <a:r>
              <a:rPr lang="en-US" sz="1800" b="1" dirty="0">
                <a:solidFill>
                  <a:srgbClr val="00BFA5"/>
                </a:solidFill>
              </a:rPr>
              <a:t>500–1,000</a:t>
            </a:r>
            <a:endParaRPr lang="en-US" sz="1800" dirty="0"/>
          </a:p>
        </p:txBody>
      </p:sp>
      <p:sp>
        <p:nvSpPr>
          <p:cNvPr id="34" name="Text 31"/>
          <p:cNvSpPr/>
          <p:nvPr/>
        </p:nvSpPr>
        <p:spPr>
          <a:xfrm>
            <a:off x="914400" y="4526280"/>
            <a:ext cx="1737360" cy="320040"/>
          </a:xfrm>
          <a:prstGeom prst="rect">
            <a:avLst/>
          </a:prstGeom>
          <a:noFill/>
          <a:ln/>
        </p:spPr>
        <p:txBody>
          <a:bodyPr wrap="square" lIns="0" tIns="0" rIns="0" bIns="0" rtlCol="0" anchor="ctr"/>
          <a:lstStyle/>
          <a:p>
            <a:pPr marL="0" indent="0" algn="ctr">
              <a:buNone/>
            </a:pPr>
            <a:r>
              <a:rPr lang="en-US" sz="850" dirty="0">
                <a:solidFill>
                  <a:srgbClr val="7BA3C0"/>
                </a:solidFill>
              </a:rPr>
              <a:t>Denials/month</a:t>
            </a:r>
            <a:endParaRPr lang="en-US" sz="850" dirty="0"/>
          </a:p>
          <a:p>
            <a:pPr marL="0" indent="0" algn="ctr">
              <a:buNone/>
            </a:pPr>
            <a:r>
              <a:rPr lang="en-US" sz="850" dirty="0">
                <a:solidFill>
                  <a:srgbClr val="7BA3C0"/>
                </a:solidFill>
              </a:rPr>
              <a:t>(500-bed hospital)</a:t>
            </a:r>
            <a:endParaRPr lang="en-US" sz="850" dirty="0"/>
          </a:p>
        </p:txBody>
      </p:sp>
      <p:sp>
        <p:nvSpPr>
          <p:cNvPr id="35" name="Text 32"/>
          <p:cNvSpPr/>
          <p:nvPr/>
        </p:nvSpPr>
        <p:spPr>
          <a:xfrm>
            <a:off x="2880360" y="4169664"/>
            <a:ext cx="1737360" cy="365760"/>
          </a:xfrm>
          <a:prstGeom prst="rect">
            <a:avLst/>
          </a:prstGeom>
          <a:noFill/>
          <a:ln/>
        </p:spPr>
        <p:txBody>
          <a:bodyPr wrap="square" lIns="0" tIns="0" rIns="0" bIns="0" rtlCol="0" anchor="ctr"/>
          <a:lstStyle/>
          <a:p>
            <a:pPr marL="0" indent="0" algn="ctr">
              <a:buNone/>
            </a:pPr>
            <a:r>
              <a:rPr lang="en-US" sz="1800" b="1" dirty="0">
                <a:solidFill>
                  <a:srgbClr val="00BFA5"/>
                </a:solidFill>
              </a:rPr>
              <a:t>20–30%</a:t>
            </a:r>
            <a:endParaRPr lang="en-US" sz="1800" dirty="0"/>
          </a:p>
        </p:txBody>
      </p:sp>
      <p:sp>
        <p:nvSpPr>
          <p:cNvPr id="36" name="Text 33"/>
          <p:cNvSpPr/>
          <p:nvPr/>
        </p:nvSpPr>
        <p:spPr>
          <a:xfrm>
            <a:off x="2880360" y="4526280"/>
            <a:ext cx="1737360" cy="320040"/>
          </a:xfrm>
          <a:prstGeom prst="rect">
            <a:avLst/>
          </a:prstGeom>
          <a:noFill/>
          <a:ln/>
        </p:spPr>
        <p:txBody>
          <a:bodyPr wrap="square" lIns="0" tIns="0" rIns="0" bIns="0" rtlCol="0" anchor="ctr"/>
          <a:lstStyle/>
          <a:p>
            <a:pPr marL="0" indent="0" algn="ctr">
              <a:buNone/>
            </a:pPr>
            <a:r>
              <a:rPr lang="en-US" sz="850" dirty="0">
                <a:solidFill>
                  <a:srgbClr val="7BA3C0"/>
                </a:solidFill>
              </a:rPr>
              <a:t>Currently worked</a:t>
            </a:r>
            <a:endParaRPr lang="en-US" sz="850" dirty="0"/>
          </a:p>
          <a:p>
            <a:pPr marL="0" indent="0" algn="ctr">
              <a:buNone/>
            </a:pPr>
            <a:r>
              <a:rPr lang="en-US" sz="850" dirty="0">
                <a:solidFill>
                  <a:srgbClr val="7BA3C0"/>
                </a:solidFill>
              </a:rPr>
              <a:t>before deadline</a:t>
            </a:r>
            <a:endParaRPr lang="en-US" sz="850" dirty="0"/>
          </a:p>
        </p:txBody>
      </p:sp>
      <p:sp>
        <p:nvSpPr>
          <p:cNvPr id="37" name="Text 34"/>
          <p:cNvSpPr/>
          <p:nvPr/>
        </p:nvSpPr>
        <p:spPr>
          <a:xfrm>
            <a:off x="4846320" y="4169664"/>
            <a:ext cx="1737360" cy="365760"/>
          </a:xfrm>
          <a:prstGeom prst="rect">
            <a:avLst/>
          </a:prstGeom>
          <a:noFill/>
          <a:ln/>
        </p:spPr>
        <p:txBody>
          <a:bodyPr wrap="square" lIns="0" tIns="0" rIns="0" bIns="0" rtlCol="0" anchor="ctr"/>
          <a:lstStyle/>
          <a:p>
            <a:pPr marL="0" indent="0" algn="ctr">
              <a:buNone/>
            </a:pPr>
            <a:r>
              <a:rPr lang="en-US" sz="1800" b="1" dirty="0">
                <a:solidFill>
                  <a:srgbClr val="00BFA5"/>
                </a:solidFill>
              </a:rPr>
              <a:t>3:1</a:t>
            </a:r>
            <a:endParaRPr lang="en-US" sz="1800" dirty="0"/>
          </a:p>
        </p:txBody>
      </p:sp>
      <p:sp>
        <p:nvSpPr>
          <p:cNvPr id="38" name="Text 35"/>
          <p:cNvSpPr/>
          <p:nvPr/>
        </p:nvSpPr>
        <p:spPr>
          <a:xfrm>
            <a:off x="4846320" y="4526280"/>
            <a:ext cx="1737360" cy="320040"/>
          </a:xfrm>
          <a:prstGeom prst="rect">
            <a:avLst/>
          </a:prstGeom>
          <a:noFill/>
          <a:ln/>
        </p:spPr>
        <p:txBody>
          <a:bodyPr wrap="square" lIns="0" tIns="0" rIns="0" bIns="0" rtlCol="0" anchor="ctr"/>
          <a:lstStyle/>
          <a:p>
            <a:pPr marL="0" indent="0" algn="ctr">
              <a:buNone/>
            </a:pPr>
            <a:r>
              <a:rPr lang="en-US" sz="850" dirty="0">
                <a:solidFill>
                  <a:srgbClr val="7BA3C0"/>
                </a:solidFill>
              </a:rPr>
              <a:t>Appeal ROI</a:t>
            </a:r>
            <a:endParaRPr lang="en-US" sz="850" dirty="0"/>
          </a:p>
          <a:p>
            <a:pPr marL="0" indent="0" algn="ctr">
              <a:buNone/>
            </a:pPr>
            <a:r>
              <a:rPr lang="en-US" sz="850" dirty="0">
                <a:solidFill>
                  <a:srgbClr val="7BA3C0"/>
                </a:solidFill>
              </a:rPr>
              <a:t>on worked cases</a:t>
            </a:r>
            <a:endParaRPr lang="en-US" sz="850" dirty="0"/>
          </a:p>
        </p:txBody>
      </p:sp>
      <p:sp>
        <p:nvSpPr>
          <p:cNvPr id="39" name="Text 36"/>
          <p:cNvSpPr/>
          <p:nvPr/>
        </p:nvSpPr>
        <p:spPr>
          <a:xfrm>
            <a:off x="6812280" y="4169664"/>
            <a:ext cx="1737360" cy="365760"/>
          </a:xfrm>
          <a:prstGeom prst="rect">
            <a:avLst/>
          </a:prstGeom>
          <a:noFill/>
          <a:ln/>
        </p:spPr>
        <p:txBody>
          <a:bodyPr wrap="square" lIns="0" tIns="0" rIns="0" bIns="0" rtlCol="0" anchor="ctr"/>
          <a:lstStyle/>
          <a:p>
            <a:pPr marL="0" indent="0" algn="ctr">
              <a:buNone/>
            </a:pPr>
            <a:r>
              <a:rPr lang="en-US" sz="1800" b="1" dirty="0">
                <a:solidFill>
                  <a:srgbClr val="00BFA5"/>
                </a:solidFill>
              </a:rPr>
              <a:t>→ 80%+</a:t>
            </a:r>
            <a:endParaRPr lang="en-US" sz="1800" dirty="0"/>
          </a:p>
        </p:txBody>
      </p:sp>
      <p:sp>
        <p:nvSpPr>
          <p:cNvPr id="40" name="Text 37"/>
          <p:cNvSpPr/>
          <p:nvPr/>
        </p:nvSpPr>
        <p:spPr>
          <a:xfrm>
            <a:off x="6812280" y="4526280"/>
            <a:ext cx="1737360" cy="320040"/>
          </a:xfrm>
          <a:prstGeom prst="rect">
            <a:avLst/>
          </a:prstGeom>
          <a:noFill/>
          <a:ln/>
        </p:spPr>
        <p:txBody>
          <a:bodyPr wrap="square" lIns="0" tIns="0" rIns="0" bIns="0" rtlCol="0" anchor="ctr"/>
          <a:lstStyle/>
          <a:p>
            <a:pPr marL="0" indent="0" algn="ctr">
              <a:buNone/>
            </a:pPr>
            <a:r>
              <a:rPr lang="en-US" sz="850" dirty="0">
                <a:solidFill>
                  <a:srgbClr val="7BA3C0"/>
                </a:solidFill>
              </a:rPr>
              <a:t>Target worked</a:t>
            </a:r>
            <a:endParaRPr lang="en-US" sz="850" dirty="0"/>
          </a:p>
          <a:p>
            <a:pPr marL="0" indent="0" algn="ctr">
              <a:buNone/>
            </a:pPr>
            <a:r>
              <a:rPr lang="en-US" sz="850" dirty="0">
                <a:solidFill>
                  <a:srgbClr val="7BA3C0"/>
                </a:solidFill>
              </a:rPr>
              <a:t>with automation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B1A2E"/>
        </a:solidFill>
        <a:effectLst/>
      </p:bgPr>
    </p:bg>
    <p:spTree>
      <p:nvGrpSpPr>
        <p:cNvPr id="1" name=""/>
        <p:cNvGrpSpPr/>
        <p:nvPr/>
      </p:nvGrpSpPr>
      <p:grpSpPr>
        <a:xfrm>
          <a:off x="0" y="0"/>
          <a:ext cx="0" cy="0"/>
          <a:chOff x="0" y="0"/>
          <a:chExt cx="0" cy="0"/>
        </a:xfrm>
      </p:grpSpPr>
      <p:sp>
        <p:nvSpPr>
          <p:cNvPr id="2" name="Shape 0"/>
          <p:cNvSpPr/>
          <p:nvPr/>
        </p:nvSpPr>
        <p:spPr>
          <a:xfrm>
            <a:off x="5486400" y="-457200"/>
            <a:ext cx="5029200" cy="5029200"/>
          </a:xfrm>
          <a:prstGeom prst="ellipse">
            <a:avLst/>
          </a:prstGeom>
          <a:solidFill>
            <a:srgbClr val="00BFA5">
              <a:alpha val="10000"/>
            </a:srgbClr>
          </a:solidFill>
          <a:ln w="12700">
            <a:solidFill>
              <a:srgbClr val="00BFA5">
                <a:alpha val="30000"/>
              </a:srgbClr>
            </a:solidFill>
            <a:prstDash val="solid"/>
          </a:ln>
        </p:spPr>
        <p:txBody>
          <a:bodyPr/>
          <a:lstStyle/>
          <a:p>
            <a:endParaRPr lang="en-US"/>
          </a:p>
        </p:txBody>
      </p:sp>
      <p:sp>
        <p:nvSpPr>
          <p:cNvPr id="3" name="Text 1"/>
          <p:cNvSpPr/>
          <p:nvPr/>
        </p:nvSpPr>
        <p:spPr>
          <a:xfrm>
            <a:off x="502920" y="822960"/>
            <a:ext cx="6400800" cy="1463040"/>
          </a:xfrm>
          <a:prstGeom prst="rect">
            <a:avLst/>
          </a:prstGeom>
          <a:noFill/>
          <a:ln/>
        </p:spPr>
        <p:txBody>
          <a:bodyPr wrap="square" rtlCol="0" anchor="ctr"/>
          <a:lstStyle/>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The Infrastructure for</a:t>
            </a:r>
            <a:endParaRPr lang="en-US" sz="3600" dirty="0"/>
          </a:p>
          <a:p>
            <a:pPr marL="0" indent="0">
              <a:lnSpc>
                <a:spcPct val="110000"/>
              </a:lnSpc>
              <a:buNone/>
            </a:pPr>
            <a:r>
              <a:rPr lang="en-US" sz="3600" b="1" dirty="0">
                <a:solidFill>
                  <a:srgbClr val="FFFFFF"/>
                </a:solidFill>
                <a:latin typeface="Calibri" pitchFamily="34" charset="0"/>
                <a:ea typeface="Calibri" pitchFamily="34" charset="-122"/>
                <a:cs typeface="Calibri" pitchFamily="34" charset="-120"/>
              </a:rPr>
              <a:t>Provider-Side Appeals</a:t>
            </a:r>
            <a:endParaRPr lang="en-US" sz="3600" dirty="0"/>
          </a:p>
        </p:txBody>
      </p:sp>
      <p:sp>
        <p:nvSpPr>
          <p:cNvPr id="4" name="Text 2"/>
          <p:cNvSpPr/>
          <p:nvPr/>
        </p:nvSpPr>
        <p:spPr>
          <a:xfrm>
            <a:off x="502920" y="2423160"/>
            <a:ext cx="6400800" cy="411480"/>
          </a:xfrm>
          <a:prstGeom prst="rect">
            <a:avLst/>
          </a:prstGeom>
          <a:noFill/>
          <a:ln/>
        </p:spPr>
        <p:txBody>
          <a:bodyPr wrap="square" rtlCol="0" anchor="ctr"/>
          <a:lstStyle/>
          <a:p>
            <a:pPr marL="0" indent="0">
              <a:buNone/>
            </a:pPr>
            <a:r>
              <a:rPr lang="en-US" sz="1600" i="1" dirty="0">
                <a:solidFill>
                  <a:srgbClr val="00BFA5"/>
                </a:solidFill>
              </a:rPr>
              <a:t>AI assists. Physician decides. Compliance built-in.</a:t>
            </a:r>
            <a:endParaRPr lang="en-US" sz="1600" dirty="0"/>
          </a:p>
        </p:txBody>
      </p:sp>
      <p:sp>
        <p:nvSpPr>
          <p:cNvPr id="5" name="Shape 3"/>
          <p:cNvSpPr/>
          <p:nvPr/>
        </p:nvSpPr>
        <p:spPr>
          <a:xfrm>
            <a:off x="502920" y="3017520"/>
            <a:ext cx="1920240" cy="914400"/>
          </a:xfrm>
          <a:prstGeom prst="roundRect">
            <a:avLst>
              <a:gd name="adj" fmla="val 10000"/>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6" name="Text 4"/>
          <p:cNvSpPr/>
          <p:nvPr/>
        </p:nvSpPr>
        <p:spPr>
          <a:xfrm>
            <a:off x="502920" y="3044952"/>
            <a:ext cx="1920240" cy="475488"/>
          </a:xfrm>
          <a:prstGeom prst="rect">
            <a:avLst/>
          </a:prstGeom>
          <a:noFill/>
          <a:ln/>
        </p:spPr>
        <p:txBody>
          <a:bodyPr wrap="square" lIns="0" tIns="0" rIns="0" bIns="0" rtlCol="0" anchor="ctr"/>
          <a:lstStyle/>
          <a:p>
            <a:pPr marL="0" indent="0" algn="ctr">
              <a:buNone/>
            </a:pPr>
            <a:r>
              <a:rPr lang="en-US" sz="2200" b="1" dirty="0">
                <a:solidFill>
                  <a:srgbClr val="F4C842"/>
                </a:solidFill>
              </a:rPr>
              <a:t>5</a:t>
            </a:r>
            <a:endParaRPr lang="en-US" sz="2200" dirty="0"/>
          </a:p>
        </p:txBody>
      </p:sp>
      <p:sp>
        <p:nvSpPr>
          <p:cNvPr id="7" name="Text 5"/>
          <p:cNvSpPr/>
          <p:nvPr/>
        </p:nvSpPr>
        <p:spPr>
          <a:xfrm>
            <a:off x="502920" y="3502152"/>
            <a:ext cx="1920240" cy="274320"/>
          </a:xfrm>
          <a:prstGeom prst="rect">
            <a:avLst/>
          </a:prstGeom>
          <a:noFill/>
          <a:ln/>
        </p:spPr>
        <p:txBody>
          <a:bodyPr wrap="square" lIns="0" tIns="0" rIns="0" bIns="0" rtlCol="0" anchor="ctr"/>
          <a:lstStyle/>
          <a:p>
            <a:pPr marL="0" indent="0" algn="ctr">
              <a:buNone/>
            </a:pPr>
            <a:r>
              <a:rPr lang="en-US" sz="1000" dirty="0">
                <a:solidFill>
                  <a:srgbClr val="7BA3C0"/>
                </a:solidFill>
              </a:rPr>
              <a:t>Denial Routes</a:t>
            </a:r>
            <a:endParaRPr lang="en-US" sz="1000" dirty="0"/>
          </a:p>
        </p:txBody>
      </p:sp>
      <p:sp>
        <p:nvSpPr>
          <p:cNvPr id="8" name="Shape 6"/>
          <p:cNvSpPr/>
          <p:nvPr/>
        </p:nvSpPr>
        <p:spPr>
          <a:xfrm>
            <a:off x="2606040" y="3017520"/>
            <a:ext cx="1920240" cy="914400"/>
          </a:xfrm>
          <a:prstGeom prst="roundRect">
            <a:avLst>
              <a:gd name="adj" fmla="val 10000"/>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9" name="Text 7"/>
          <p:cNvSpPr/>
          <p:nvPr/>
        </p:nvSpPr>
        <p:spPr>
          <a:xfrm>
            <a:off x="2606040" y="3044952"/>
            <a:ext cx="1920240" cy="475488"/>
          </a:xfrm>
          <a:prstGeom prst="rect">
            <a:avLst/>
          </a:prstGeom>
          <a:noFill/>
          <a:ln/>
        </p:spPr>
        <p:txBody>
          <a:bodyPr wrap="square" lIns="0" tIns="0" rIns="0" bIns="0" rtlCol="0" anchor="ctr"/>
          <a:lstStyle/>
          <a:p>
            <a:pPr marL="0" indent="0" algn="ctr">
              <a:buNone/>
            </a:pPr>
            <a:r>
              <a:rPr lang="en-US" sz="2200" b="1" dirty="0">
                <a:solidFill>
                  <a:srgbClr val="F4C842"/>
                </a:solidFill>
              </a:rPr>
              <a:t>7</a:t>
            </a:r>
            <a:endParaRPr lang="en-US" sz="2200" dirty="0"/>
          </a:p>
        </p:txBody>
      </p:sp>
      <p:sp>
        <p:nvSpPr>
          <p:cNvPr id="10" name="Text 8"/>
          <p:cNvSpPr/>
          <p:nvPr/>
        </p:nvSpPr>
        <p:spPr>
          <a:xfrm>
            <a:off x="2606040" y="3502152"/>
            <a:ext cx="1920240" cy="274320"/>
          </a:xfrm>
          <a:prstGeom prst="rect">
            <a:avLst/>
          </a:prstGeom>
          <a:noFill/>
          <a:ln/>
        </p:spPr>
        <p:txBody>
          <a:bodyPr wrap="square" lIns="0" tIns="0" rIns="0" bIns="0" rtlCol="0" anchor="ctr"/>
          <a:lstStyle/>
          <a:p>
            <a:pPr marL="0" indent="0" algn="ctr">
              <a:buNone/>
            </a:pPr>
            <a:r>
              <a:rPr lang="en-US" sz="1000" dirty="0">
                <a:solidFill>
                  <a:srgbClr val="7BA3C0"/>
                </a:solidFill>
              </a:rPr>
              <a:t>Process Phases</a:t>
            </a:r>
            <a:endParaRPr lang="en-US" sz="1000" dirty="0"/>
          </a:p>
        </p:txBody>
      </p:sp>
      <p:sp>
        <p:nvSpPr>
          <p:cNvPr id="11" name="Shape 9"/>
          <p:cNvSpPr/>
          <p:nvPr/>
        </p:nvSpPr>
        <p:spPr>
          <a:xfrm>
            <a:off x="4709160" y="3017520"/>
            <a:ext cx="1920240" cy="914400"/>
          </a:xfrm>
          <a:prstGeom prst="roundRect">
            <a:avLst>
              <a:gd name="adj" fmla="val 10000"/>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2" name="Text 10"/>
          <p:cNvSpPr/>
          <p:nvPr/>
        </p:nvSpPr>
        <p:spPr>
          <a:xfrm>
            <a:off x="4709160" y="3044952"/>
            <a:ext cx="1920240" cy="475488"/>
          </a:xfrm>
          <a:prstGeom prst="rect">
            <a:avLst/>
          </a:prstGeom>
          <a:noFill/>
          <a:ln/>
        </p:spPr>
        <p:txBody>
          <a:bodyPr wrap="square" lIns="0" tIns="0" rIns="0" bIns="0" rtlCol="0" anchor="ctr"/>
          <a:lstStyle/>
          <a:p>
            <a:pPr marL="0" indent="0" algn="ctr">
              <a:buNone/>
            </a:pPr>
            <a:r>
              <a:rPr lang="en-US" sz="2200" b="1" dirty="0">
                <a:solidFill>
                  <a:srgbClr val="F4C842"/>
                </a:solidFill>
              </a:rPr>
              <a:t>100%</a:t>
            </a:r>
            <a:endParaRPr lang="en-US" sz="2200" dirty="0"/>
          </a:p>
        </p:txBody>
      </p:sp>
      <p:sp>
        <p:nvSpPr>
          <p:cNvPr id="13" name="Text 11"/>
          <p:cNvSpPr/>
          <p:nvPr/>
        </p:nvSpPr>
        <p:spPr>
          <a:xfrm>
            <a:off x="4709160" y="3502152"/>
            <a:ext cx="1920240" cy="274320"/>
          </a:xfrm>
          <a:prstGeom prst="rect">
            <a:avLst/>
          </a:prstGeom>
          <a:noFill/>
          <a:ln/>
        </p:spPr>
        <p:txBody>
          <a:bodyPr wrap="square" lIns="0" tIns="0" rIns="0" bIns="0" rtlCol="0" anchor="ctr"/>
          <a:lstStyle/>
          <a:p>
            <a:pPr marL="0" indent="0" algn="ctr">
              <a:buNone/>
            </a:pPr>
            <a:r>
              <a:rPr lang="en-US" sz="1000" dirty="0">
                <a:solidFill>
                  <a:srgbClr val="7BA3C0"/>
                </a:solidFill>
              </a:rPr>
              <a:t>UiPath Cloud</a:t>
            </a:r>
            <a:endParaRPr lang="en-US" sz="1000" dirty="0"/>
          </a:p>
        </p:txBody>
      </p:sp>
      <p:sp>
        <p:nvSpPr>
          <p:cNvPr id="14" name="Shape 12"/>
          <p:cNvSpPr/>
          <p:nvPr/>
        </p:nvSpPr>
        <p:spPr>
          <a:xfrm>
            <a:off x="6812280" y="3017520"/>
            <a:ext cx="1920240" cy="914400"/>
          </a:xfrm>
          <a:prstGeom prst="roundRect">
            <a:avLst>
              <a:gd name="adj" fmla="val 10000"/>
            </a:avLst>
          </a:prstGeom>
          <a:solidFill>
            <a:srgbClr val="162D4A"/>
          </a:solidFill>
          <a:ln/>
          <a:effectLst>
            <a:outerShdw blurRad="127000" dist="38100" dir="2700000" algn="bl" rotWithShape="0">
              <a:srgbClr val="000000">
                <a:alpha val="18000"/>
              </a:srgbClr>
            </a:outerShdw>
          </a:effectLst>
        </p:spPr>
        <p:txBody>
          <a:bodyPr/>
          <a:lstStyle/>
          <a:p>
            <a:endParaRPr lang="en-US"/>
          </a:p>
        </p:txBody>
      </p:sp>
      <p:sp>
        <p:nvSpPr>
          <p:cNvPr id="15" name="Text 13"/>
          <p:cNvSpPr/>
          <p:nvPr/>
        </p:nvSpPr>
        <p:spPr>
          <a:xfrm>
            <a:off x="6812280" y="3044952"/>
            <a:ext cx="1920240" cy="475488"/>
          </a:xfrm>
          <a:prstGeom prst="rect">
            <a:avLst/>
          </a:prstGeom>
          <a:noFill/>
          <a:ln/>
        </p:spPr>
        <p:txBody>
          <a:bodyPr wrap="square" lIns="0" tIns="0" rIns="0" bIns="0" rtlCol="0" anchor="ctr"/>
          <a:lstStyle/>
          <a:p>
            <a:pPr marL="0" indent="0" algn="ctr">
              <a:buNone/>
            </a:pPr>
            <a:r>
              <a:rPr lang="en-US" sz="2200" b="1" dirty="0">
                <a:solidFill>
                  <a:srgbClr val="F4C842"/>
                </a:solidFill>
              </a:rPr>
              <a:t>SB1120</a:t>
            </a:r>
            <a:endParaRPr lang="en-US" sz="2200" dirty="0"/>
          </a:p>
        </p:txBody>
      </p:sp>
      <p:sp>
        <p:nvSpPr>
          <p:cNvPr id="16" name="Text 14"/>
          <p:cNvSpPr/>
          <p:nvPr/>
        </p:nvSpPr>
        <p:spPr>
          <a:xfrm>
            <a:off x="6812280" y="3502152"/>
            <a:ext cx="1920240" cy="274320"/>
          </a:xfrm>
          <a:prstGeom prst="rect">
            <a:avLst/>
          </a:prstGeom>
          <a:noFill/>
          <a:ln/>
        </p:spPr>
        <p:txBody>
          <a:bodyPr wrap="square" lIns="0" tIns="0" rIns="0" bIns="0" rtlCol="0" anchor="ctr"/>
          <a:lstStyle/>
          <a:p>
            <a:pPr marL="0" indent="0" algn="ctr">
              <a:buNone/>
            </a:pPr>
            <a:r>
              <a:rPr lang="en-US" sz="1000" dirty="0">
                <a:solidFill>
                  <a:srgbClr val="7BA3C0"/>
                </a:solidFill>
              </a:rPr>
              <a:t>Compliant</a:t>
            </a:r>
            <a:endParaRPr lang="en-US" sz="1000" dirty="0"/>
          </a:p>
        </p:txBody>
      </p:sp>
      <p:sp>
        <p:nvSpPr>
          <p:cNvPr id="17" name="Text 15"/>
          <p:cNvSpPr/>
          <p:nvPr/>
        </p:nvSpPr>
        <p:spPr>
          <a:xfrm>
            <a:off x="502920" y="4160520"/>
            <a:ext cx="8229600" cy="274320"/>
          </a:xfrm>
          <a:prstGeom prst="rect">
            <a:avLst/>
          </a:prstGeom>
          <a:noFill/>
          <a:ln/>
        </p:spPr>
        <p:txBody>
          <a:bodyPr wrap="square" rtlCol="0" anchor="ctr"/>
          <a:lstStyle/>
          <a:p>
            <a:pPr marL="0" indent="0" algn="ctr">
              <a:buNone/>
            </a:pPr>
            <a:r>
              <a:rPr lang="en-US" sz="1100" dirty="0">
                <a:solidFill>
                  <a:srgbClr val="7BA3C0"/>
                </a:solidFill>
              </a:rPr>
              <a:t>Built for UiPath AgentHack 2026  ·  Track 2: Maestro BPMN  ·  Healthcare Domain</a:t>
            </a:r>
            <a:endParaRPr lang="en-US" sz="1100" dirty="0"/>
          </a:p>
        </p:txBody>
      </p:sp>
      <p:sp>
        <p:nvSpPr>
          <p:cNvPr id="18" name="Text 16"/>
          <p:cNvSpPr/>
          <p:nvPr/>
        </p:nvSpPr>
        <p:spPr>
          <a:xfrm>
            <a:off x="502920" y="4572000"/>
            <a:ext cx="8229600" cy="320040"/>
          </a:xfrm>
          <a:prstGeom prst="rect">
            <a:avLst/>
          </a:prstGeom>
          <a:noFill/>
          <a:ln/>
        </p:spPr>
        <p:txBody>
          <a:bodyPr wrap="square" rtlCol="0" anchor="ctr"/>
          <a:lstStyle/>
          <a:p>
            <a:pPr marL="0" indent="0" algn="ctr">
              <a:buNone/>
            </a:pPr>
            <a:r>
              <a:rPr lang="en-US" sz="1300" b="1" dirty="0">
                <a:solidFill>
                  <a:srgbClr val="00BFA5"/>
                </a:solidFill>
              </a:rPr>
              <a:t>From 65% never appealed — to virtually none left behind.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1884</Words>
  <Application>Microsoft Office PowerPoint</Application>
  <PresentationFormat>On-screen Show (16:9)</PresentationFormat>
  <Paragraphs>289</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Denial Management &amp; Appeals Automation</dc:title>
  <dc:subject>PptxGenJS Presentation</dc:subject>
  <dc:creator>Bharath</dc:creator>
  <cp:lastModifiedBy>Shweta Chandra</cp:lastModifiedBy>
  <cp:revision>9</cp:revision>
  <dcterms:created xsi:type="dcterms:W3CDTF">2026-06-30T00:28:23Z</dcterms:created>
  <dcterms:modified xsi:type="dcterms:W3CDTF">2026-06-30T02:17:25Z</dcterms:modified>
</cp:coreProperties>
</file>